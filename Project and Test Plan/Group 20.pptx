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3" r:id="rId3"/>
  </p:sldMasterIdLst>
  <p:notesMasterIdLst>
    <p:notesMasterId r:id="rId5"/>
  </p:notesMasterIdLst>
  <p:sldIdLst>
    <p:sldId id="256" r:id="rId4"/>
    <p:sldId id="257" r:id="rId6"/>
    <p:sldId id="258" r:id="rId7"/>
    <p:sldId id="259" r:id="rId8"/>
    <p:sldId id="260" r:id="rId9"/>
    <p:sldId id="261" r:id="rId10"/>
    <p:sldId id="265" r:id="rId11"/>
    <p:sldId id="266" r:id="rId12"/>
    <p:sldId id="267" r:id="rId13"/>
    <p:sldId id="268" r:id="rId14"/>
    <p:sldId id="269" r:id="rId15"/>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 F:\BPM-EA-and-AISD\patient-enquiries-package\16-core-patient-enquiries-standalone.bpmn. The diagram is a simplified, editable operational view. The external black-box participant sends the Patient enquiry received (standalone) message to Q_Start. Tasklist manual start uses Q_Manual. Q_Init and Q_Notify are Java job worker tasks. The four category routes are administrative, appointment, financial, and clinical. Clinical triage separates urgent and routine responses. An unresolved answer returns to Q_Record; a resolved answer reaches audit and the end event.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Evidence: F:\BPM-EA-and-AISD\patient-enquiries-package\verification-last.json and F:\BPM-EA-and-AISD\patient-enquiries-package\deployment-last.json. The five completed scenarios cover administrative, financial, routine clinical, urgent clinical with a rework loop, and message-started appointment enquiries. All five ended COMPLETED. The integration runner checks for incidents on each path; querying Camunda variables confirmed auditRecorded=true for all five. hasStartForm=true comes from the deployed process definition. The standalone Tasklist manual form was not tested end to end in a browser; direct process start and message start were tested through the API.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model separates Clinical, Booking and Finance responsibilities. Clinical staff record consent and authorise the request. Booking checks capacity; unavailable capacity creates a pending task and a 30-minute retry. Finance assesses funding. If advance payment is needed, the Worker sends a demonstration payment request and publishes a payment-status message correlated by process instance. Missing confirmation is investigated, and declined or cancelled payment can be retried only after explicit Finance approval. The Patient, Treatment and Lab Services, and PSP are separate external participants. The Worker is a local JavaScript demo, not a real hospital or PSP integration.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These are measurable acceptance targets, not claims that every test has passed. We verified XML structure, Worker syntax, and deployment of the process with all seven forms on the local Camunda 8.10 alpha runtime. Branch behavior, browser form submission and live message correlation still need evidence. Final pass criteria count downstream jobs, require a PT30M timer, match the message name and process-instance key, and prevent any payment retry without Finance approval. The retry rule, PSP semantics, and Java handler expectation need confirmation.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I worked on the chemotherapy cycle review and treatment-modification part of our project. My contribution has three parts: an executable Camunda 8 BPMN process, nine forms for user tasks, and a Node.js worker that simulates the external service steps.</a:t>
            </a:r>
          </a:p>
          <a:p/>
          <a:p>
            <a:r>
              <a:t>The main route starts by classifying the request and checking whether the required results are available. Once the results are complete, a clinician reviews the patient and chooses whether to continue, delay, or change treatment. The authorised route then handles scheduling, finance review when a funding impact exists, and patient notification.</a:t>
            </a:r>
          </a:p>
          <a:p/>
          <a:p>
            <a:r>
              <a:t>I focused on making exception handling visible in the process. Missing results stay pending and go through a controlled retry, so the process cannot reach clinical review too early. A treatment change without a formal request is rejected and does not update the schedule. For urgent delay, the safety hold remains until follow-up authorisation is complete. Clinical decisions stay with human tasks. The worker only supplies deterministic demo responses; it does not connect to hospital systems or real patient data.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validation, I ran the model-level test suite. It reported 48 checks passed and zero failures, covering the main route as well as missing-results retry, treatment-change rejection and urgent-hold authorization branches. Camunda Modeler also showed zero errors and zero warnings for the BPMN.</a:t>
            </a:r>
          </a:p>
          <a:p/>
          <a:p>
            <a:r>
              <a:t>I then completed two local end-to-end scenarios in Tasklist. In the standard cycle review, the worker returned that the results were available, then confirmed a schedule update and a patient notification. The demo references were LAB-DEMO-001 for the results, CYCLE-DEMO-001 for the schedule and NOTICE-DEMO-001 for the notice. In the treatment-change scenario, the formal request was absent, so the process rejected the change and did not update the schedule.</a:t>
            </a:r>
          </a:p>
          <a:p/>
          <a:p>
            <a:r>
              <a:t>The urgent-delay branches passed model-level checks, but I have not yet completed that Tasklist walkthrough end to end. That is my next validation step. The current worker returns deterministic mock responses only. It uses no real patient data and does not integrate with hospital services, so these results demonstrate workflow behavior rather than clinical operation. Thank you.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(allow 45-55 seconds, including pauses):</a:t>
            </a:r>
          </a:p>
          <a:p>
            <a:r>
              <a:t>My part is the Clinic Letter process. I built an executable BPMN model, four forms and a Java demo worker. After consultation, the Consultant drafts and clinically approves the letter. The Secretary then checks the recipients and administrative details. Dispatch requires approval and both checks. The worker simulates sending and records the dates. Successful dispatch cancels the remaining monitoring. Clinical decisions always stay with the Consultant.</a:t>
            </a:r>
          </a:p>
          <a:p/>
          <a:p>
            <a:r>
              <a:t>Reference only — do not read aloud:</a:t>
            </a:r>
          </a:p>
          <a:p>
            <a:r>
              <a:t>Source: clinic-letter-sprint02-demo.bpmn; forms/; java/src/main/java/local/clinic/ClinicLetterWorker.java and LetterLogic.java.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(allow 45-55 seconds, including pauses):</a:t>
            </a:r>
          </a:p>
          <a:p>
            <a:r>
              <a:t>The model also handles exceptions. Clinical rejection returns the letter to the Consultant, while incomplete administrative checks return it to the Secretary. A dispatch rejection needs human resolution and authorisation before retry. In parallel, the model has weekly reminders and management notifications after one and three calendar months. For the demonstration, I shortened these waits to ten, twenty and thirty seconds. Camunda runs the timers, and successful dispatch cancels pending monitoring.</a:t>
            </a:r>
          </a:p>
          <a:p/>
          <a:p>
            <a:r>
              <a:t>Reference only — do not read aloud:</a:t>
            </a:r>
          </a:p>
          <a:p>
            <a:r>
              <a:t>Sources: clinic-letter-sprint02-demo.bpmn and formal-model.bpmn. Repeated demo reminder waits 10 seconds after the preceding reminder job completes. Approval suppresses the reminder action, while the timer loop remains until dispatch completes.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script (allow 45-55 seconds, including pauses):</a:t>
            </a:r>
          </a:p>
          <a:p>
            <a:r>
              <a:t>I verified the implementation with six Java test groups and eight isolated scenarios on the local Camunda engine. They covered normal flow, rework, retries and delay monitoring. I also completed a manual Tasklist walkthrough for DEMO-CL-002. Here, Operate shows the completed instance and the status SIMULATED_SENT. This is evidence that the local demo works. Sending is simulated, so real hospital integration remains future work.</a:t>
            </a:r>
          </a:p>
          <a:p/>
          <a:p>
            <a:r>
              <a:t>Reference only — do not read aloud:</a:t>
            </a:r>
          </a:p>
          <a:p>
            <a:r>
              <a:t>Evidence: java/evidence/verification-summary.json and java-engine-verification.json (2026-09-28). Automated scenarios use isolated process IDs and job types. Manual instance 2251799813709575, definition version 3, completed 2026-09-28 16:01:31 Asia/Shanghai. Screenshot supplied by user: codex-clipboard-b697ae1f-c868-43ee-be05-88ff25ad05e5.png. Dispatch details screenshot identifies worker clinic-letter-java-simulated. The eight isolated scenarios are NORMAL_FORMAL, NORMAL_DEMO, CLINICAL_REWORK, SECRETARY_CLINICAL_CONCERN, ADMIN_REWORK, BUSINESS_RETRY, TECHNICAL_RETRY, DELAY. These are local demo tests, not production acceptance.</a:t>
            </a:r>
          </a:p>
          <a:p>
            <a:r>
              <a:t>Design reference: Treatment_Booking_Funding_Operational_Acceptance_3min.pptx (light background, navy/teal, workflow and acceptance structure); Jin Wang.pptx (contribution and evidence structure).</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53A5B"/>
          </a:solidFill>
          <a:ln w="12700">
            <a:solidFill>
              <a:srgbClr val="153A5B"/>
            </a:solidFill>
            <a:prstDash val="solid"/>
          </a:ln>
        </p:spPr>
      </p:sp>
      <p:sp>
        <p:nvSpPr>
          <p:cNvPr id="3" name="Text 1"/>
          <p:cNvSpPr/>
          <p:nvPr/>
        </p:nvSpPr>
        <p:spPr>
          <a:xfrm>
            <a:off x="438912" y="6473952"/>
            <a:ext cx="8046720" cy="164592"/>
          </a:xfrm>
          <a:prstGeom prst="rect">
            <a:avLst/>
          </a:prstGeom>
          <a:noFill/>
        </p:spPr>
        <p:txBody>
          <a:bodyPr wrap="square" lIns="0" tIns="0" rIns="0" bIns="0" rtlCol="0" anchor="ctr"/>
          <a:lstStyle/>
          <a:p>
            <a:pPr marL="0" indent="0">
              <a:buNone/>
            </a:pPr>
            <a:r>
              <a:rPr lang="en-US" sz="750" dirty="0">
                <a:solidFill>
                  <a:srgbClr val="60758A"/>
                </a:solidFill>
                <a:latin typeface="Aptos" pitchFamily="34" charset="0"/>
                <a:ea typeface="Aptos" pitchFamily="34" charset="-122"/>
                <a:cs typeface="Aptos" pitchFamily="34" charset="-120"/>
              </a:rPr>
              <a:t>BPM-EA-and-AISD  |  Integrated hospital patient administration</a:t>
            </a:r>
            <a:endParaRPr lang="en-US" sz="750" dirty="0"/>
          </a:p>
        </p:txBody>
      </p:sp>
      <p:sp>
        <p:nvSpPr>
          <p:cNvPr id="4" name="Text 2"/>
          <p:cNvSpPr/>
          <p:nvPr/>
        </p:nvSpPr>
        <p:spPr>
          <a:xfrm>
            <a:off x="10012680" y="6473952"/>
            <a:ext cx="1737360" cy="164592"/>
          </a:xfrm>
          <a:prstGeom prst="rect">
            <a:avLst/>
          </a:prstGeom>
          <a:noFill/>
        </p:spPr>
        <p:txBody>
          <a:bodyPr wrap="square" lIns="0" tIns="0" rIns="0" bIns="0" rtlCol="0" anchor="ctr"/>
          <a:lstStyle/>
          <a:p>
            <a:pPr marL="0" indent="0" algn="r">
              <a:buNone/>
            </a:pPr>
            <a:r>
              <a:rPr lang="en-US" sz="750" dirty="0">
                <a:solidFill>
                  <a:srgbClr val="60758A"/>
                </a:solidFill>
                <a:latin typeface="Aptos" pitchFamily="34" charset="0"/>
                <a:ea typeface="Aptos" pitchFamily="34" charset="-122"/>
                <a:cs typeface="Aptos" pitchFamily="34" charset="-120"/>
              </a:rPr>
              <a:t>Portfolio presentation</a:t>
            </a:r>
            <a:endParaRPr lang="en-US" sz="750" dirty="0"/>
          </a:p>
        </p:txBody>
      </p:sp>
      <p:sp>
        <p:nvSpPr>
          <p:cNvPr id="25" name="Slide Number Placeholder 0"/>
          <p:cNvSpPr>
            <a:spLocks noGrp="1"/>
          </p:cNvSpPr>
          <p:nvPr>
            <p:ph type="sldNum" sz="quarter" idx="4294967295"/>
          </p:nvPr>
        </p:nvSpPr>
        <p:spPr>
          <a:xfrm>
            <a:off x="11795760" y="6455664"/>
            <a:ext cx="800000" cy="300000"/>
          </a:xfrm>
          <a:prstGeom prst="rect">
            <a:avLst/>
          </a:prstGeom>
        </p:spPr>
        <p:txBody>
          <a:bodyPr/>
          <a:lstStyle>
            <a:lvl1pPr>
              <a:defRPr sz="750">
                <a:solidFill>
                  <a:srgbClr val="60758A"/>
                </a:solidFill>
                <a:latin typeface="Aptos"/>
                <a:ea typeface="Aptos"/>
                <a:cs typeface="Aptos"/>
              </a:defRPr>
            </a:lvl1pPr>
          </a:lstStyle>
          <a:p>
            <a:pPr algn="l"/>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p:cNvSpPr>
            <a:spLocks noGrp="1"/>
          </p:cNvSpPr>
          <p:nvPr/>
        </p:nvSpPr>
        <p:spPr>
          <a:xfrm>
            <a:off x="5790898" y="2209800"/>
            <a:ext cx="609568" cy="38100"/>
          </a:xfrm>
          <a:prstGeom prst="rect">
            <a:avLst/>
          </a:prstGeom>
          <a:solidFill>
            <a:schemeClr val="accent1"/>
          </a:solidFill>
          <a:ln>
            <a:noFill/>
            <a:prstDash val="solid"/>
          </a:ln>
        </p:spPr>
      </p:sp>
      <p:sp>
        <p:nvSpPr>
          <p:cNvPr id="2" name="Title"/>
          <p:cNvSpPr>
            <a:spLocks noGrp="1"/>
          </p:cNvSpPr>
          <p:nvPr>
            <p:ph type="title"/>
          </p:nvPr>
        </p:nvSpPr>
        <p:spPr>
          <a:xfrm>
            <a:off x="1219137" y="2590800"/>
            <a:ext cx="9753092"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3" name="Subtitle"/>
          <p:cNvSpPr>
            <a:spLocks noGrp="1"/>
          </p:cNvSpPr>
          <p:nvPr>
            <p:ph type="subTitle" idx="1"/>
          </p:nvPr>
        </p:nvSpPr>
        <p:spPr>
          <a:xfrm>
            <a:off x="1828705" y="3771900"/>
            <a:ext cx="8533956"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p:cNvSpPr>
            <a:spLocks noGrp="1"/>
          </p:cNvSpPr>
          <p:nvPr/>
        </p:nvSpPr>
        <p:spPr>
          <a:xfrm>
            <a:off x="5790898" y="2476500"/>
            <a:ext cx="609568" cy="38100"/>
          </a:xfrm>
          <a:prstGeom prst="rect">
            <a:avLst/>
          </a:prstGeom>
          <a:solidFill>
            <a:schemeClr val="accent1"/>
          </a:solidFill>
          <a:ln>
            <a:noFill/>
            <a:prstDash val="solid"/>
          </a:ln>
        </p:spPr>
      </p:sp>
      <p:sp>
        <p:nvSpPr>
          <p:cNvPr id="2" name="Section title"/>
          <p:cNvSpPr>
            <a:spLocks noGrp="1"/>
          </p:cNvSpPr>
          <p:nvPr>
            <p:ph type="title"/>
          </p:nvPr>
        </p:nvSpPr>
        <p:spPr>
          <a:xfrm>
            <a:off x="1219137" y="2857500"/>
            <a:ext cx="9753092"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p:cNvSpPr>
            <a:spLocks noGrp="1"/>
          </p:cNvSpPr>
          <p:nvPr/>
        </p:nvSpPr>
        <p:spPr>
          <a:xfrm>
            <a:off x="685764" y="1524000"/>
            <a:ext cx="609568" cy="38100"/>
          </a:xfrm>
          <a:prstGeom prst="rect">
            <a:avLst/>
          </a:prstGeom>
          <a:solidFill>
            <a:schemeClr val="accent1"/>
          </a:solidFill>
          <a:ln>
            <a:noFill/>
            <a:prstDash val="solid"/>
          </a:ln>
        </p:spPr>
      </p:sp>
      <p:sp>
        <p:nvSpPr>
          <p:cNvPr id="2" name="Title"/>
          <p:cNvSpPr>
            <a:spLocks noGrp="1"/>
          </p:cNvSpPr>
          <p:nvPr>
            <p:ph type="title"/>
          </p:nvPr>
        </p:nvSpPr>
        <p:spPr>
          <a:xfrm>
            <a:off x="685764" y="533400"/>
            <a:ext cx="10819836"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3" name="Body"/>
          <p:cNvSpPr>
            <a:spLocks noGrp="1"/>
          </p:cNvSpPr>
          <p:nvPr>
            <p:ph type="body" idx="1"/>
          </p:nvPr>
        </p:nvSpPr>
        <p:spPr>
          <a:xfrm>
            <a:off x="685764" y="1905000"/>
            <a:ext cx="10819836"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p:cNvSpPr>
            <a:spLocks noGrp="1"/>
          </p:cNvSpPr>
          <p:nvPr/>
        </p:nvSpPr>
        <p:spPr>
          <a:xfrm>
            <a:off x="685764" y="1524000"/>
            <a:ext cx="609568" cy="38100"/>
          </a:xfrm>
          <a:prstGeom prst="rect">
            <a:avLst/>
          </a:prstGeom>
          <a:solidFill>
            <a:schemeClr val="accent1"/>
          </a:solidFill>
          <a:ln>
            <a:noFill/>
            <a:prstDash val="solid"/>
          </a:ln>
        </p:spPr>
      </p:sp>
      <p:sp>
        <p:nvSpPr>
          <p:cNvPr id="2" name="Title"/>
          <p:cNvSpPr>
            <a:spLocks noGrp="1"/>
          </p:cNvSpPr>
          <p:nvPr>
            <p:ph type="title"/>
          </p:nvPr>
        </p:nvSpPr>
        <p:spPr>
          <a:xfrm>
            <a:off x="685764" y="533400"/>
            <a:ext cx="10819836"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3" name="Left column"/>
          <p:cNvSpPr>
            <a:spLocks noGrp="1"/>
          </p:cNvSpPr>
          <p:nvPr>
            <p:ph type="body" idx="1"/>
          </p:nvPr>
        </p:nvSpPr>
        <p:spPr>
          <a:xfrm>
            <a:off x="685764" y="1905000"/>
            <a:ext cx="5028938"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4" name="Right column"/>
          <p:cNvSpPr>
            <a:spLocks noGrp="1"/>
          </p:cNvSpPr>
          <p:nvPr>
            <p:ph type="body" idx="2"/>
          </p:nvPr>
        </p:nvSpPr>
        <p:spPr>
          <a:xfrm>
            <a:off x="6476663" y="1905000"/>
            <a:ext cx="5028938"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p:cNvSpPr>
            <a:spLocks noGrp="1"/>
          </p:cNvSpPr>
          <p:nvPr/>
        </p:nvSpPr>
        <p:spPr>
          <a:xfrm>
            <a:off x="685764" y="1524000"/>
            <a:ext cx="609568" cy="38100"/>
          </a:xfrm>
          <a:prstGeom prst="rect">
            <a:avLst/>
          </a:prstGeom>
          <a:solidFill>
            <a:schemeClr val="accent1"/>
          </a:solidFill>
          <a:ln>
            <a:noFill/>
            <a:prstDash val="solid"/>
          </a:ln>
        </p:spPr>
      </p:sp>
      <p:sp>
        <p:nvSpPr>
          <p:cNvPr id="2" name="Title"/>
          <p:cNvSpPr>
            <a:spLocks noGrp="1"/>
          </p:cNvSpPr>
          <p:nvPr>
            <p:ph type="title"/>
          </p:nvPr>
        </p:nvSpPr>
        <p:spPr>
          <a:xfrm>
            <a:off x="685764" y="533400"/>
            <a:ext cx="10819836"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3" name="Left column"/>
          <p:cNvSpPr>
            <a:spLocks noGrp="1"/>
          </p:cNvSpPr>
          <p:nvPr>
            <p:ph type="body" idx="1"/>
          </p:nvPr>
        </p:nvSpPr>
        <p:spPr>
          <a:xfrm>
            <a:off x="685764" y="1905000"/>
            <a:ext cx="5028938"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455664"/>
            <a:ext cx="800000" cy="300000"/>
          </a:xfrm>
          <a:prstGeom prst="rect">
            <a:avLst/>
          </a:prstGeom>
        </p:spPr>
        <p:txBody>
          <a:bodyPr/>
          <a:lstStyle>
            <a:lvl1pPr>
              <a:defRPr sz="750">
                <a:solidFill>
                  <a:srgbClr val="60758A"/>
                </a:solidFill>
                <a:latin typeface="Aptos"/>
                <a:ea typeface="Aptos"/>
                <a:cs typeface="Aptos"/>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tags" Target="../tags/tag1.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notesSlide" Target="../notesSlides/notesSlide1.xml"/><Relationship Id="rId10"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7" Type="http://schemas.openxmlformats.org/officeDocument/2006/relationships/notesSlide" Target="../notesSlides/notesSlide2.xml"/><Relationship Id="rId36" Type="http://schemas.openxmlformats.org/officeDocument/2006/relationships/slideLayout" Target="../slideLayouts/slideLayout2.xml"/><Relationship Id="rId35" Type="http://schemas.openxmlformats.org/officeDocument/2006/relationships/image" Target="../media/image15.png"/><Relationship Id="rId34" Type="http://schemas.openxmlformats.org/officeDocument/2006/relationships/image" Target="../media/image14.png"/><Relationship Id="rId33" Type="http://schemas.openxmlformats.org/officeDocument/2006/relationships/image" Target="../media/image13.png"/><Relationship Id="rId32" Type="http://schemas.openxmlformats.org/officeDocument/2006/relationships/image" Target="../media/image12.png"/><Relationship Id="rId31" Type="http://schemas.openxmlformats.org/officeDocument/2006/relationships/image" Target="../media/image11.png"/><Relationship Id="rId30" Type="http://schemas.openxmlformats.org/officeDocument/2006/relationships/image" Target="../media/image10.png"/><Relationship Id="rId3" Type="http://schemas.openxmlformats.org/officeDocument/2006/relationships/tags" Target="../tags/tag5.xml"/><Relationship Id="rId29" Type="http://schemas.openxmlformats.org/officeDocument/2006/relationships/image" Target="../media/image9.png"/><Relationship Id="rId28" Type="http://schemas.openxmlformats.org/officeDocument/2006/relationships/tags" Target="../tags/tag29.xml"/><Relationship Id="rId27" Type="http://schemas.openxmlformats.org/officeDocument/2006/relationships/image" Target="../media/image8.png"/><Relationship Id="rId26" Type="http://schemas.openxmlformats.org/officeDocument/2006/relationships/tags" Target="../tags/tag28.xml"/><Relationship Id="rId25" Type="http://schemas.openxmlformats.org/officeDocument/2006/relationships/tags" Target="../tags/tag27.xml"/><Relationship Id="rId24" Type="http://schemas.openxmlformats.org/officeDocument/2006/relationships/tags" Target="../tags/tag26.xml"/><Relationship Id="rId23" Type="http://schemas.openxmlformats.org/officeDocument/2006/relationships/tags" Target="../tags/tag25.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5.xml"/><Relationship Id="rId2" Type="http://schemas.openxmlformats.org/officeDocument/2006/relationships/image" Target="../media/image17.png"/><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47472"/>
            <a:ext cx="4572000" cy="201168"/>
          </a:xfrm>
          <a:prstGeom prst="rect">
            <a:avLst/>
          </a:prstGeom>
          <a:noFill/>
        </p:spPr>
        <p:txBody>
          <a:bodyPr wrap="square" lIns="0" tIns="0" rIns="0" bIns="0" rtlCol="0" anchor="ctr">
            <a:normAutofit/>
          </a:bodyPr>
          <a:lstStyle/>
          <a:p>
            <a:pPr marL="0" indent="0">
              <a:buNone/>
            </a:pPr>
            <a:r>
              <a:rPr lang="en-US" sz="900" b="1" kern="0" spc="115" dirty="0">
                <a:solidFill>
                  <a:srgbClr val="087E8B"/>
                </a:solidFill>
                <a:latin typeface="Aptos" pitchFamily="34" charset="0"/>
                <a:ea typeface="Aptos" pitchFamily="34" charset="-122"/>
                <a:cs typeface="Aptos" pitchFamily="34" charset="-120"/>
              </a:rPr>
              <a:t>END-TO-END OPERATIONAL FLOW     Logren Li 23084430</a:t>
            </a:r>
            <a:endParaRPr lang="en-US" sz="900" dirty="0"/>
          </a:p>
        </p:txBody>
      </p:sp>
      <p:sp>
        <p:nvSpPr>
          <p:cNvPr id="3" name="Text 1"/>
          <p:cNvSpPr/>
          <p:nvPr/>
        </p:nvSpPr>
        <p:spPr>
          <a:xfrm>
            <a:off x="457200" y="585216"/>
            <a:ext cx="9875520" cy="411480"/>
          </a:xfrm>
          <a:prstGeom prst="rect">
            <a:avLst/>
          </a:prstGeom>
          <a:noFill/>
        </p:spPr>
        <p:txBody>
          <a:bodyPr wrap="square" lIns="0" tIns="0" rIns="0" bIns="0" rtlCol="0" anchor="ctr">
            <a:normAutofit/>
          </a:bodyPr>
          <a:lstStyle/>
          <a:p>
            <a:pPr marL="0" indent="0">
              <a:buNone/>
            </a:pPr>
            <a:r>
              <a:rPr lang="en-US" sz="2500" b="1" dirty="0">
                <a:solidFill>
                  <a:srgbClr val="153A5B"/>
                </a:solidFill>
                <a:latin typeface="Aptos" pitchFamily="34" charset="0"/>
                <a:ea typeface="Aptos" pitchFamily="34" charset="-122"/>
                <a:cs typeface="Aptos" pitchFamily="34" charset="-120"/>
              </a:rPr>
              <a:t>Operational Diagram</a:t>
            </a:r>
            <a:endParaRPr lang="en-US" sz="2500" dirty="0"/>
          </a:p>
        </p:txBody>
      </p:sp>
      <p:sp>
        <p:nvSpPr>
          <p:cNvPr id="4" name="Text 2"/>
          <p:cNvSpPr/>
          <p:nvPr/>
        </p:nvSpPr>
        <p:spPr>
          <a:xfrm>
            <a:off x="457200" y="1033272"/>
            <a:ext cx="11155680" cy="292608"/>
          </a:xfrm>
          <a:prstGeom prst="rect">
            <a:avLst/>
          </a:prstGeom>
          <a:noFill/>
        </p:spPr>
        <p:txBody>
          <a:bodyPr wrap="square" lIns="0" tIns="0" rIns="0" bIns="0" rtlCol="0" anchor="ctr">
            <a:normAutofit/>
          </a:bodyPr>
          <a:lstStyle/>
          <a:p>
            <a:pPr marL="0" indent="0">
              <a:buNone/>
            </a:pPr>
            <a:r>
              <a:rPr lang="en-US" sz="1050" dirty="0">
                <a:solidFill>
                  <a:srgbClr val="60758A"/>
                </a:solidFill>
                <a:latin typeface="Aptos" pitchFamily="34" charset="0"/>
                <a:ea typeface="Aptos" pitchFamily="34" charset="-122"/>
                <a:cs typeface="Aptos" pitchFamily="34" charset="-120"/>
              </a:rPr>
              <a:t>A single manual entry point in Tasklist creates the process instance; the workflow then combines human decisions, worker services and patient notifications.</a:t>
            </a:r>
            <a:endParaRPr lang="en-US" sz="1050" dirty="0"/>
          </a:p>
        </p:txBody>
      </p:sp>
      <p:sp>
        <p:nvSpPr>
          <p:cNvPr id="5" name="Shape 3"/>
          <p:cNvSpPr/>
          <p:nvPr/>
        </p:nvSpPr>
        <p:spPr>
          <a:xfrm>
            <a:off x="457200" y="1508760"/>
            <a:ext cx="11247120" cy="722376"/>
          </a:xfrm>
          <a:prstGeom prst="roundRect">
            <a:avLst>
              <a:gd name="adj" fmla="val 3797"/>
            </a:avLst>
          </a:prstGeom>
          <a:solidFill>
            <a:srgbClr val="E7F0F8"/>
          </a:solidFill>
          <a:ln w="12700">
            <a:solidFill>
              <a:srgbClr val="DCE6EF"/>
            </a:solidFill>
            <a:prstDash val="solid"/>
          </a:ln>
        </p:spPr>
      </p:sp>
      <p:sp>
        <p:nvSpPr>
          <p:cNvPr id="6" name="Shape 4"/>
          <p:cNvSpPr/>
          <p:nvPr/>
        </p:nvSpPr>
        <p:spPr>
          <a:xfrm>
            <a:off x="457200" y="1508760"/>
            <a:ext cx="109728" cy="722376"/>
          </a:xfrm>
          <a:prstGeom prst="rect">
            <a:avLst/>
          </a:prstGeom>
          <a:solidFill>
            <a:srgbClr val="2C6EAE"/>
          </a:solidFill>
          <a:ln w="12700">
            <a:solidFill>
              <a:srgbClr val="2C6EAE"/>
            </a:solidFill>
            <a:prstDash val="solid"/>
          </a:ln>
        </p:spPr>
      </p:sp>
      <p:sp>
        <p:nvSpPr>
          <p:cNvPr id="7" name="Text 5"/>
          <p:cNvSpPr/>
          <p:nvPr/>
        </p:nvSpPr>
        <p:spPr>
          <a:xfrm>
            <a:off x="658368" y="1755648"/>
            <a:ext cx="1554480" cy="201168"/>
          </a:xfrm>
          <a:prstGeom prst="rect">
            <a:avLst/>
          </a:prstGeom>
          <a:noFill/>
        </p:spPr>
        <p:txBody>
          <a:bodyPr wrap="square" lIns="0" tIns="0" rIns="0" bIns="0" rtlCol="0" anchor="ctr">
            <a:normAutofit/>
          </a:bodyPr>
          <a:lstStyle/>
          <a:p>
            <a:pPr marL="0" indent="0">
              <a:buNone/>
            </a:pPr>
            <a:r>
              <a:rPr lang="en-US" sz="920" b="1" dirty="0">
                <a:solidFill>
                  <a:srgbClr val="183044"/>
                </a:solidFill>
                <a:latin typeface="Aptos" pitchFamily="34" charset="0"/>
                <a:ea typeface="Aptos" pitchFamily="34" charset="-122"/>
                <a:cs typeface="Aptos" pitchFamily="34" charset="-120"/>
              </a:rPr>
              <a:t>Patient / Tasklist</a:t>
            </a:r>
            <a:endParaRPr lang="en-US" sz="920" dirty="0"/>
          </a:p>
        </p:txBody>
      </p:sp>
      <p:sp>
        <p:nvSpPr>
          <p:cNvPr id="8" name="Shape 6"/>
          <p:cNvSpPr/>
          <p:nvPr/>
        </p:nvSpPr>
        <p:spPr>
          <a:xfrm>
            <a:off x="457200" y="2395728"/>
            <a:ext cx="11247120" cy="722376"/>
          </a:xfrm>
          <a:prstGeom prst="roundRect">
            <a:avLst>
              <a:gd name="adj" fmla="val 3797"/>
            </a:avLst>
          </a:prstGeom>
          <a:solidFill>
            <a:srgbClr val="F3F7FB"/>
          </a:solidFill>
          <a:ln w="12700">
            <a:solidFill>
              <a:srgbClr val="DCE6EF"/>
            </a:solidFill>
            <a:prstDash val="solid"/>
          </a:ln>
        </p:spPr>
      </p:sp>
      <p:sp>
        <p:nvSpPr>
          <p:cNvPr id="9" name="Shape 7"/>
          <p:cNvSpPr/>
          <p:nvPr/>
        </p:nvSpPr>
        <p:spPr>
          <a:xfrm>
            <a:off x="457200" y="2395728"/>
            <a:ext cx="109728" cy="722376"/>
          </a:xfrm>
          <a:prstGeom prst="rect">
            <a:avLst/>
          </a:prstGeom>
          <a:solidFill>
            <a:srgbClr val="153A5B"/>
          </a:solidFill>
          <a:ln w="12700">
            <a:solidFill>
              <a:srgbClr val="153A5B"/>
            </a:solidFill>
            <a:prstDash val="solid"/>
          </a:ln>
        </p:spPr>
      </p:sp>
      <p:sp>
        <p:nvSpPr>
          <p:cNvPr id="10" name="Text 8"/>
          <p:cNvSpPr/>
          <p:nvPr/>
        </p:nvSpPr>
        <p:spPr>
          <a:xfrm>
            <a:off x="658368" y="2642616"/>
            <a:ext cx="1554480" cy="201168"/>
          </a:xfrm>
          <a:prstGeom prst="rect">
            <a:avLst/>
          </a:prstGeom>
          <a:noFill/>
        </p:spPr>
        <p:txBody>
          <a:bodyPr wrap="square" lIns="0" tIns="0" rIns="0" bIns="0" rtlCol="0" anchor="ctr">
            <a:normAutofit fontScale="80000"/>
          </a:bodyPr>
          <a:lstStyle/>
          <a:p>
            <a:pPr marL="0" indent="0">
              <a:buNone/>
            </a:pPr>
            <a:r>
              <a:rPr lang="en-US" sz="920" b="1" dirty="0">
                <a:solidFill>
                  <a:srgbClr val="183044"/>
                </a:solidFill>
                <a:latin typeface="Aptos" pitchFamily="34" charset="0"/>
                <a:ea typeface="Aptos" pitchFamily="34" charset="-122"/>
                <a:cs typeface="Aptos" pitchFamily="34" charset="-120"/>
              </a:rPr>
              <a:t>Medical secretaries &amp; call handling</a:t>
            </a:r>
            <a:endParaRPr lang="en-US" sz="920" dirty="0"/>
          </a:p>
        </p:txBody>
      </p:sp>
      <p:sp>
        <p:nvSpPr>
          <p:cNvPr id="11" name="Shape 9"/>
          <p:cNvSpPr/>
          <p:nvPr/>
        </p:nvSpPr>
        <p:spPr>
          <a:xfrm>
            <a:off x="457200" y="3282696"/>
            <a:ext cx="11247120" cy="722376"/>
          </a:xfrm>
          <a:prstGeom prst="roundRect">
            <a:avLst>
              <a:gd name="adj" fmla="val 3797"/>
            </a:avLst>
          </a:prstGeom>
          <a:solidFill>
            <a:srgbClr val="F4FAF9"/>
          </a:solidFill>
          <a:ln w="12700">
            <a:solidFill>
              <a:srgbClr val="DCE6EF"/>
            </a:solidFill>
            <a:prstDash val="solid"/>
          </a:ln>
        </p:spPr>
      </p:sp>
      <p:sp>
        <p:nvSpPr>
          <p:cNvPr id="12" name="Shape 10"/>
          <p:cNvSpPr/>
          <p:nvPr/>
        </p:nvSpPr>
        <p:spPr>
          <a:xfrm>
            <a:off x="457200" y="3282696"/>
            <a:ext cx="109728" cy="722376"/>
          </a:xfrm>
          <a:prstGeom prst="rect">
            <a:avLst/>
          </a:prstGeom>
          <a:solidFill>
            <a:srgbClr val="087E8B"/>
          </a:solidFill>
          <a:ln w="12700">
            <a:solidFill>
              <a:srgbClr val="087E8B"/>
            </a:solidFill>
            <a:prstDash val="solid"/>
          </a:ln>
        </p:spPr>
      </p:sp>
      <p:sp>
        <p:nvSpPr>
          <p:cNvPr id="13" name="Text 11"/>
          <p:cNvSpPr/>
          <p:nvPr/>
        </p:nvSpPr>
        <p:spPr>
          <a:xfrm>
            <a:off x="658368" y="3529584"/>
            <a:ext cx="1554480" cy="201168"/>
          </a:xfrm>
          <a:prstGeom prst="rect">
            <a:avLst/>
          </a:prstGeom>
          <a:noFill/>
        </p:spPr>
        <p:txBody>
          <a:bodyPr wrap="square" lIns="0" tIns="0" rIns="0" bIns="0" rtlCol="0" anchor="ctr">
            <a:normAutofit fontScale="80000"/>
          </a:bodyPr>
          <a:lstStyle/>
          <a:p>
            <a:pPr marL="0" indent="0">
              <a:buNone/>
            </a:pPr>
            <a:r>
              <a:rPr lang="en-US" sz="920" b="1" dirty="0">
                <a:solidFill>
                  <a:srgbClr val="183044"/>
                </a:solidFill>
                <a:latin typeface="Aptos" pitchFamily="34" charset="0"/>
                <a:ea typeface="Aptos" pitchFamily="34" charset="-122"/>
                <a:cs typeface="Aptos" pitchFamily="34" charset="-120"/>
              </a:rPr>
              <a:t>Clinical, treatment &amp; funding teams</a:t>
            </a:r>
            <a:endParaRPr lang="en-US" sz="920" dirty="0"/>
          </a:p>
        </p:txBody>
      </p:sp>
      <p:sp>
        <p:nvSpPr>
          <p:cNvPr id="14" name="Shape 12"/>
          <p:cNvSpPr/>
          <p:nvPr/>
        </p:nvSpPr>
        <p:spPr>
          <a:xfrm>
            <a:off x="457200" y="4169664"/>
            <a:ext cx="11247120" cy="722376"/>
          </a:xfrm>
          <a:prstGeom prst="roundRect">
            <a:avLst>
              <a:gd name="adj" fmla="val 3797"/>
            </a:avLst>
          </a:prstGeom>
          <a:solidFill>
            <a:srgbClr val="FFFAF1"/>
          </a:solidFill>
          <a:ln w="12700">
            <a:solidFill>
              <a:srgbClr val="DCE6EF"/>
            </a:solidFill>
            <a:prstDash val="solid"/>
          </a:ln>
        </p:spPr>
        <p:txBody>
          <a:bodyPr/>
          <a:p>
            <a:endParaRPr lang="zh-CN" altLang="en-US"/>
          </a:p>
        </p:txBody>
      </p:sp>
      <p:sp>
        <p:nvSpPr>
          <p:cNvPr id="15" name="Shape 13"/>
          <p:cNvSpPr/>
          <p:nvPr/>
        </p:nvSpPr>
        <p:spPr>
          <a:xfrm>
            <a:off x="457200" y="4169664"/>
            <a:ext cx="109728" cy="722376"/>
          </a:xfrm>
          <a:prstGeom prst="rect">
            <a:avLst/>
          </a:prstGeom>
          <a:solidFill>
            <a:srgbClr val="D59A32"/>
          </a:solidFill>
          <a:ln w="12700">
            <a:solidFill>
              <a:srgbClr val="D59A32"/>
            </a:solidFill>
            <a:prstDash val="solid"/>
          </a:ln>
        </p:spPr>
      </p:sp>
      <p:sp>
        <p:nvSpPr>
          <p:cNvPr id="16" name="Text 14"/>
          <p:cNvSpPr/>
          <p:nvPr/>
        </p:nvSpPr>
        <p:spPr>
          <a:xfrm>
            <a:off x="658368" y="4416552"/>
            <a:ext cx="1554480" cy="201168"/>
          </a:xfrm>
          <a:prstGeom prst="rect">
            <a:avLst/>
          </a:prstGeom>
          <a:noFill/>
        </p:spPr>
        <p:txBody>
          <a:bodyPr wrap="square" lIns="0" tIns="0" rIns="0" bIns="0" rtlCol="0" anchor="ctr">
            <a:normAutofit fontScale="70000"/>
          </a:bodyPr>
          <a:lstStyle/>
          <a:p>
            <a:pPr marL="0" indent="0">
              <a:buNone/>
            </a:pPr>
            <a:r>
              <a:rPr lang="en-US" sz="920" b="1" dirty="0">
                <a:solidFill>
                  <a:srgbClr val="183044"/>
                </a:solidFill>
                <a:latin typeface="Aptos" pitchFamily="34" charset="0"/>
                <a:ea typeface="Aptos" pitchFamily="34" charset="-122"/>
                <a:cs typeface="Aptos" pitchFamily="34" charset="-120"/>
              </a:rPr>
              <a:t>Enquiry response &amp; patient communication</a:t>
            </a:r>
            <a:endParaRPr lang="en-US" sz="920" dirty="0"/>
          </a:p>
        </p:txBody>
      </p:sp>
      <p:sp>
        <p:nvSpPr>
          <p:cNvPr id="17" name="Shape 15"/>
          <p:cNvSpPr/>
          <p:nvPr/>
        </p:nvSpPr>
        <p:spPr>
          <a:xfrm>
            <a:off x="2331720" y="1673352"/>
            <a:ext cx="1225296" cy="393192"/>
          </a:xfrm>
          <a:prstGeom prst="roundRect">
            <a:avLst>
              <a:gd name="adj" fmla="val 18605"/>
            </a:avLst>
          </a:prstGeom>
          <a:solidFill>
            <a:srgbClr val="FFFFFF"/>
          </a:solidFill>
          <a:ln w="12700">
            <a:solidFill>
              <a:srgbClr val="2C6EAE"/>
            </a:solidFill>
            <a:prstDash val="solid"/>
          </a:ln>
        </p:spPr>
      </p:sp>
      <p:sp>
        <p:nvSpPr>
          <p:cNvPr id="18" name="Text 16"/>
          <p:cNvSpPr/>
          <p:nvPr/>
        </p:nvSpPr>
        <p:spPr>
          <a:xfrm>
            <a:off x="2441448" y="1764792"/>
            <a:ext cx="1005840" cy="146304"/>
          </a:xfrm>
          <a:prstGeom prst="rect">
            <a:avLst/>
          </a:prstGeom>
          <a:noFill/>
        </p:spPr>
        <p:txBody>
          <a:bodyPr wrap="square" lIns="0" tIns="0" rIns="0" bIns="0" rtlCol="0" anchor="ctr">
            <a:normAutofit fontScale="90000"/>
          </a:bodyPr>
          <a:lstStyle/>
          <a:p>
            <a:pPr marL="0" indent="0" algn="ctr">
              <a:buNone/>
            </a:pPr>
            <a:r>
              <a:rPr lang="en-US" sz="1000" b="1" dirty="0">
                <a:solidFill>
                  <a:srgbClr val="2C6EAE"/>
                </a:solidFill>
                <a:latin typeface="Aptos" pitchFamily="34" charset="0"/>
                <a:ea typeface="Aptos" pitchFamily="34" charset="-122"/>
                <a:cs typeface="Aptos" pitchFamily="34" charset="-120"/>
              </a:rPr>
              <a:t>Start process</a:t>
            </a:r>
            <a:endParaRPr lang="en-US" sz="1000" dirty="0"/>
          </a:p>
        </p:txBody>
      </p:sp>
      <p:sp>
        <p:nvSpPr>
          <p:cNvPr id="19" name="Shape 17"/>
          <p:cNvSpPr/>
          <p:nvPr/>
        </p:nvSpPr>
        <p:spPr>
          <a:xfrm>
            <a:off x="3566160" y="1869948"/>
            <a:ext cx="411480" cy="0"/>
          </a:xfrm>
          <a:prstGeom prst="line">
            <a:avLst/>
          </a:prstGeom>
          <a:noFill/>
          <a:ln w="20320">
            <a:solidFill>
              <a:srgbClr val="2C6EAE"/>
            </a:solidFill>
            <a:prstDash val="solid"/>
            <a:headEnd type="none"/>
            <a:tailEnd type="triangle"/>
          </a:ln>
        </p:spPr>
      </p:sp>
      <p:sp>
        <p:nvSpPr>
          <p:cNvPr id="20" name="Shape 18"/>
          <p:cNvSpPr/>
          <p:nvPr/>
        </p:nvSpPr>
        <p:spPr>
          <a:xfrm>
            <a:off x="4005072" y="1673352"/>
            <a:ext cx="1591056" cy="393192"/>
          </a:xfrm>
          <a:prstGeom prst="roundRect">
            <a:avLst>
              <a:gd name="adj" fmla="val 18605"/>
            </a:avLst>
          </a:prstGeom>
          <a:solidFill>
            <a:srgbClr val="E7F0F8"/>
          </a:solidFill>
          <a:ln w="12700">
            <a:solidFill>
              <a:srgbClr val="2C6EAE"/>
            </a:solidFill>
            <a:prstDash val="solid"/>
          </a:ln>
        </p:spPr>
      </p:sp>
      <p:sp>
        <p:nvSpPr>
          <p:cNvPr id="21" name="Text 19"/>
          <p:cNvSpPr/>
          <p:nvPr/>
        </p:nvSpPr>
        <p:spPr>
          <a:xfrm>
            <a:off x="4096512" y="1746504"/>
            <a:ext cx="1408176" cy="164592"/>
          </a:xfrm>
          <a:prstGeom prst="rect">
            <a:avLst/>
          </a:prstGeom>
          <a:noFill/>
        </p:spPr>
        <p:txBody>
          <a:bodyPr wrap="square" lIns="0" tIns="0" rIns="0" bIns="0" rtlCol="0" anchor="ctr">
            <a:normAutofit/>
          </a:bodyPr>
          <a:lstStyle/>
          <a:p>
            <a:pPr marL="0" indent="0" algn="ctr">
              <a:buNone/>
            </a:pPr>
            <a:r>
              <a:rPr lang="en-US" sz="840" b="1" dirty="0">
                <a:solidFill>
                  <a:srgbClr val="153A5B"/>
                </a:solidFill>
                <a:latin typeface="Aptos" pitchFamily="34" charset="0"/>
                <a:ea typeface="Aptos" pitchFamily="34" charset="-122"/>
                <a:cs typeface="Aptos" pitchFamily="34" charset="-120"/>
              </a:rPr>
              <a:t>Process instance created</a:t>
            </a:r>
            <a:endParaRPr lang="en-US" sz="840" dirty="0"/>
          </a:p>
        </p:txBody>
      </p:sp>
      <p:sp>
        <p:nvSpPr>
          <p:cNvPr id="22" name="Text 20"/>
          <p:cNvSpPr/>
          <p:nvPr/>
        </p:nvSpPr>
        <p:spPr>
          <a:xfrm>
            <a:off x="2633472" y="2103120"/>
            <a:ext cx="621792" cy="128016"/>
          </a:xfrm>
          <a:prstGeom prst="rect">
            <a:avLst/>
          </a:prstGeom>
          <a:noFill/>
        </p:spPr>
        <p:txBody>
          <a:bodyPr wrap="square" lIns="0" tIns="0" rIns="0" bIns="0" rtlCol="0" anchor="ctr">
            <a:normAutofit/>
          </a:bodyPr>
          <a:lstStyle/>
          <a:p>
            <a:pPr marL="0" indent="0" algn="ctr">
              <a:buNone/>
            </a:pPr>
            <a:r>
              <a:rPr lang="en-US" sz="750" i="1" dirty="0">
                <a:solidFill>
                  <a:srgbClr val="60758A"/>
                </a:solidFill>
                <a:latin typeface="Aptos" pitchFamily="34" charset="0"/>
                <a:ea typeface="Aptos" pitchFamily="34" charset="-122"/>
                <a:cs typeface="Aptos" pitchFamily="34" charset="-120"/>
              </a:rPr>
              <a:t>Tasklist</a:t>
            </a:r>
            <a:endParaRPr lang="en-US" sz="750" dirty="0"/>
          </a:p>
        </p:txBody>
      </p:sp>
      <p:sp>
        <p:nvSpPr>
          <p:cNvPr id="23" name="Shape 21"/>
          <p:cNvSpPr/>
          <p:nvPr/>
        </p:nvSpPr>
        <p:spPr>
          <a:xfrm>
            <a:off x="2331720" y="2551176"/>
            <a:ext cx="1316736" cy="384048"/>
          </a:xfrm>
          <a:prstGeom prst="roundRect">
            <a:avLst>
              <a:gd name="adj" fmla="val 19048"/>
            </a:avLst>
          </a:prstGeom>
          <a:solidFill>
            <a:srgbClr val="FFFFFF"/>
          </a:solidFill>
          <a:ln w="12700">
            <a:solidFill>
              <a:srgbClr val="153A5B"/>
            </a:solidFill>
            <a:prstDash val="solid"/>
          </a:ln>
        </p:spPr>
      </p:sp>
      <p:sp>
        <p:nvSpPr>
          <p:cNvPr id="24" name="Text 22"/>
          <p:cNvSpPr/>
          <p:nvPr/>
        </p:nvSpPr>
        <p:spPr>
          <a:xfrm>
            <a:off x="2450592" y="2651760"/>
            <a:ext cx="1078992" cy="146304"/>
          </a:xfrm>
          <a:prstGeom prst="rect">
            <a:avLst/>
          </a:prstGeom>
          <a:noFill/>
        </p:spPr>
        <p:txBody>
          <a:bodyPr wrap="square" lIns="0" tIns="0" rIns="0" bIns="0" rtlCol="0" anchor="ctr">
            <a:normAutofit/>
          </a:bodyPr>
          <a:lstStyle/>
          <a:p>
            <a:pPr marL="0" indent="0" algn="ctr">
              <a:buNone/>
            </a:pPr>
            <a:r>
              <a:rPr lang="en-US" sz="880" b="1" dirty="0">
                <a:solidFill>
                  <a:srgbClr val="183044"/>
                </a:solidFill>
                <a:latin typeface="Aptos" pitchFamily="34" charset="0"/>
                <a:ea typeface="Aptos" pitchFamily="34" charset="-122"/>
                <a:cs typeface="Aptos" pitchFamily="34" charset="-120"/>
              </a:rPr>
              <a:t>Check information</a:t>
            </a:r>
            <a:endParaRPr lang="en-US" sz="880" dirty="0"/>
          </a:p>
        </p:txBody>
      </p:sp>
      <p:sp>
        <p:nvSpPr>
          <p:cNvPr id="25" name="Shape 23"/>
          <p:cNvSpPr/>
          <p:nvPr/>
        </p:nvSpPr>
        <p:spPr>
          <a:xfrm>
            <a:off x="3657600" y="2743200"/>
            <a:ext cx="393192" cy="0"/>
          </a:xfrm>
          <a:prstGeom prst="line">
            <a:avLst/>
          </a:prstGeom>
          <a:noFill/>
          <a:ln w="20320">
            <a:solidFill>
              <a:srgbClr val="153A5B"/>
            </a:solidFill>
            <a:prstDash val="solid"/>
            <a:headEnd type="none"/>
            <a:tailEnd type="triangle"/>
          </a:ln>
        </p:spPr>
      </p:sp>
      <p:sp>
        <p:nvSpPr>
          <p:cNvPr id="26" name="Shape 24"/>
          <p:cNvSpPr/>
          <p:nvPr/>
        </p:nvSpPr>
        <p:spPr>
          <a:xfrm>
            <a:off x="4078224" y="2551176"/>
            <a:ext cx="1234440" cy="384048"/>
          </a:xfrm>
          <a:prstGeom prst="roundRect">
            <a:avLst>
              <a:gd name="adj" fmla="val 19048"/>
            </a:avLst>
          </a:prstGeom>
          <a:solidFill>
            <a:srgbClr val="FFFFFF"/>
          </a:solidFill>
          <a:ln w="12700">
            <a:solidFill>
              <a:srgbClr val="153A5B"/>
            </a:solidFill>
            <a:prstDash val="solid"/>
          </a:ln>
        </p:spPr>
      </p:sp>
      <p:sp>
        <p:nvSpPr>
          <p:cNvPr id="27" name="Text 25"/>
          <p:cNvSpPr/>
          <p:nvPr/>
        </p:nvSpPr>
        <p:spPr>
          <a:xfrm>
            <a:off x="4197096" y="2651760"/>
            <a:ext cx="1005840" cy="146304"/>
          </a:xfrm>
          <a:prstGeom prst="rect">
            <a:avLst/>
          </a:prstGeom>
          <a:noFill/>
        </p:spPr>
        <p:txBody>
          <a:bodyPr wrap="square" lIns="0" tIns="0" rIns="0" bIns="0" rtlCol="0" anchor="ctr">
            <a:normAutofit/>
          </a:bodyPr>
          <a:lstStyle/>
          <a:p>
            <a:pPr marL="0" indent="0" algn="ctr">
              <a:buNone/>
            </a:pPr>
            <a:r>
              <a:rPr lang="en-US" sz="880" b="1" dirty="0">
                <a:solidFill>
                  <a:srgbClr val="183044"/>
                </a:solidFill>
                <a:latin typeface="Aptos" pitchFamily="34" charset="0"/>
                <a:ea typeface="Aptos" pitchFamily="34" charset="-122"/>
                <a:cs typeface="Aptos" pitchFamily="34" charset="-120"/>
              </a:rPr>
              <a:t>Review referral</a:t>
            </a:r>
            <a:endParaRPr lang="en-US" sz="880" dirty="0"/>
          </a:p>
        </p:txBody>
      </p:sp>
      <p:sp>
        <p:nvSpPr>
          <p:cNvPr id="28" name="Shape 26"/>
          <p:cNvSpPr/>
          <p:nvPr/>
        </p:nvSpPr>
        <p:spPr>
          <a:xfrm>
            <a:off x="5321808" y="2743200"/>
            <a:ext cx="402336" cy="0"/>
          </a:xfrm>
          <a:prstGeom prst="line">
            <a:avLst/>
          </a:prstGeom>
          <a:noFill/>
          <a:ln w="20320">
            <a:solidFill>
              <a:srgbClr val="153A5B"/>
            </a:solidFill>
            <a:prstDash val="solid"/>
            <a:headEnd type="none"/>
            <a:tailEnd type="triangle"/>
          </a:ln>
        </p:spPr>
      </p:sp>
      <p:sp>
        <p:nvSpPr>
          <p:cNvPr id="29" name="Shape 27"/>
          <p:cNvSpPr/>
          <p:nvPr/>
        </p:nvSpPr>
        <p:spPr>
          <a:xfrm>
            <a:off x="5742432" y="2532888"/>
            <a:ext cx="438912" cy="438912"/>
          </a:xfrm>
          <a:prstGeom prst="diamond">
            <a:avLst/>
          </a:prstGeom>
          <a:solidFill>
            <a:srgbClr val="FFF3DB"/>
          </a:solidFill>
          <a:ln w="13970">
            <a:solidFill>
              <a:srgbClr val="D59A32"/>
            </a:solidFill>
            <a:prstDash val="solid"/>
          </a:ln>
        </p:spPr>
      </p:sp>
      <p:sp>
        <p:nvSpPr>
          <p:cNvPr id="30" name="Text 28"/>
          <p:cNvSpPr/>
          <p:nvPr/>
        </p:nvSpPr>
        <p:spPr>
          <a:xfrm>
            <a:off x="5532120" y="2999232"/>
            <a:ext cx="868680" cy="128016"/>
          </a:xfrm>
          <a:prstGeom prst="rect">
            <a:avLst/>
          </a:prstGeom>
          <a:noFill/>
        </p:spPr>
        <p:txBody>
          <a:bodyPr wrap="square" lIns="0" tIns="0" rIns="0" bIns="0" rtlCol="0" anchor="ctr">
            <a:normAutofit/>
          </a:bodyPr>
          <a:lstStyle/>
          <a:p>
            <a:pPr marL="0" indent="0" algn="ctr">
              <a:buNone/>
            </a:pPr>
            <a:r>
              <a:rPr lang="en-US" sz="750" b="1" dirty="0">
                <a:solidFill>
                  <a:srgbClr val="60758A"/>
                </a:solidFill>
                <a:latin typeface="Aptos" pitchFamily="34" charset="0"/>
                <a:ea typeface="Aptos" pitchFamily="34" charset="-122"/>
                <a:cs typeface="Aptos" pitchFamily="34" charset="-120"/>
              </a:rPr>
              <a:t>Decision</a:t>
            </a:r>
            <a:endParaRPr lang="en-US" sz="750" dirty="0"/>
          </a:p>
        </p:txBody>
      </p:sp>
      <p:sp>
        <p:nvSpPr>
          <p:cNvPr id="31" name="Shape 29"/>
          <p:cNvSpPr/>
          <p:nvPr/>
        </p:nvSpPr>
        <p:spPr>
          <a:xfrm>
            <a:off x="6190488" y="2743200"/>
            <a:ext cx="365760" cy="0"/>
          </a:xfrm>
          <a:prstGeom prst="line">
            <a:avLst/>
          </a:prstGeom>
          <a:noFill/>
          <a:ln w="20320">
            <a:solidFill>
              <a:srgbClr val="153A5B"/>
            </a:solidFill>
            <a:prstDash val="solid"/>
            <a:headEnd type="none"/>
            <a:tailEnd type="triangle"/>
          </a:ln>
        </p:spPr>
      </p:sp>
      <p:sp>
        <p:nvSpPr>
          <p:cNvPr id="32" name="Shape 30"/>
          <p:cNvSpPr/>
          <p:nvPr/>
        </p:nvSpPr>
        <p:spPr>
          <a:xfrm>
            <a:off x="6583680" y="2551176"/>
            <a:ext cx="1490472" cy="384048"/>
          </a:xfrm>
          <a:prstGeom prst="roundRect">
            <a:avLst>
              <a:gd name="adj" fmla="val 19048"/>
            </a:avLst>
          </a:prstGeom>
          <a:solidFill>
            <a:srgbClr val="FFFFFF"/>
          </a:solidFill>
          <a:ln w="12700">
            <a:solidFill>
              <a:srgbClr val="087E8B"/>
            </a:solidFill>
            <a:prstDash val="solid"/>
          </a:ln>
        </p:spPr>
      </p:sp>
      <p:sp>
        <p:nvSpPr>
          <p:cNvPr id="33" name="Text 31"/>
          <p:cNvSpPr/>
          <p:nvPr/>
        </p:nvSpPr>
        <p:spPr>
          <a:xfrm>
            <a:off x="6684264" y="2606040"/>
            <a:ext cx="1280160" cy="237744"/>
          </a:xfrm>
          <a:prstGeom prst="rect">
            <a:avLst/>
          </a:prstGeom>
          <a:noFill/>
        </p:spPr>
        <p:txBody>
          <a:bodyPr wrap="square" lIns="0" tIns="0" rIns="0" bIns="0" rtlCol="0" anchor="ctr">
            <a:normAutofit lnSpcReduction="20000"/>
          </a:bodyPr>
          <a:lstStyle/>
          <a:p>
            <a:pPr marL="0" indent="0" algn="ctr">
              <a:buNone/>
            </a:pPr>
            <a:r>
              <a:rPr lang="en-US" sz="810" b="1" dirty="0">
                <a:solidFill>
                  <a:srgbClr val="183044"/>
                </a:solidFill>
                <a:latin typeface="Aptos" pitchFamily="34" charset="0"/>
                <a:ea typeface="Aptos" pitchFamily="34" charset="-122"/>
                <a:cs typeface="Aptos" pitchFamily="34" charset="-120"/>
              </a:rPr>
              <a:t>Find / confirm appointment</a:t>
            </a:r>
            <a:endParaRPr lang="en-US" sz="810" dirty="0"/>
          </a:p>
        </p:txBody>
      </p:sp>
      <p:sp>
        <p:nvSpPr>
          <p:cNvPr id="55" name="Shape 53"/>
          <p:cNvSpPr/>
          <p:nvPr/>
        </p:nvSpPr>
        <p:spPr>
          <a:xfrm>
            <a:off x="457200" y="5239512"/>
            <a:ext cx="11247120" cy="667512"/>
          </a:xfrm>
          <a:prstGeom prst="roundRect">
            <a:avLst>
              <a:gd name="adj" fmla="val 8219"/>
            </a:avLst>
          </a:prstGeom>
          <a:solidFill>
            <a:srgbClr val="153A5B"/>
          </a:solidFill>
          <a:ln w="12700">
            <a:solidFill>
              <a:srgbClr val="153A5B"/>
            </a:solidFill>
            <a:prstDash val="solid"/>
          </a:ln>
        </p:spPr>
        <p:txBody>
          <a:bodyPr/>
          <a:p>
            <a:endParaRPr lang="zh-CN" altLang="en-US"/>
          </a:p>
        </p:txBody>
      </p:sp>
      <p:sp>
        <p:nvSpPr>
          <p:cNvPr id="56" name="Text 54"/>
          <p:cNvSpPr/>
          <p:nvPr/>
        </p:nvSpPr>
        <p:spPr>
          <a:xfrm>
            <a:off x="713232" y="5404104"/>
            <a:ext cx="1243584" cy="164592"/>
          </a:xfrm>
          <a:prstGeom prst="rect">
            <a:avLst/>
          </a:prstGeom>
          <a:noFill/>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Execution scope</a:t>
            </a:r>
            <a:endParaRPr lang="en-US" sz="1000" dirty="0"/>
          </a:p>
        </p:txBody>
      </p:sp>
      <p:sp>
        <p:nvSpPr>
          <p:cNvPr id="57" name="Text 55"/>
          <p:cNvSpPr/>
          <p:nvPr/>
        </p:nvSpPr>
        <p:spPr>
          <a:xfrm>
            <a:off x="1993392" y="5404104"/>
            <a:ext cx="9189720" cy="164592"/>
          </a:xfrm>
          <a:prstGeom prst="rect">
            <a:avLst/>
          </a:prstGeom>
          <a:noFill/>
        </p:spPr>
        <p:txBody>
          <a:bodyPr wrap="square" lIns="0" tIns="0" rIns="0" bIns="0" rtlCol="0" anchor="ctr">
            <a:normAutofit/>
          </a:bodyPr>
          <a:lstStyle/>
          <a:p>
            <a:pPr marL="0" indent="0" algn="ctr">
              <a:buNone/>
            </a:pPr>
            <a:r>
              <a:rPr lang="en-US" sz="920" dirty="0">
                <a:solidFill>
                  <a:srgbClr val="E8F0F7"/>
                </a:solidFill>
                <a:latin typeface="Aptos" pitchFamily="34" charset="0"/>
                <a:ea typeface="Aptos" pitchFamily="34" charset="-122"/>
                <a:cs typeface="Aptos" pitchFamily="34" charset="-120"/>
              </a:rPr>
              <a:t>22 User Tasks  ·  9 Service Tasks  ·  10 Gateways  ·  17 Camunda Forms  ·  7 worker job types  ·  2 patient-notification flows</a:t>
            </a:r>
            <a:endParaRPr lang="en-US" sz="920" dirty="0"/>
          </a:p>
        </p:txBody>
      </p:sp>
      <p:sp>
        <p:nvSpPr>
          <p:cNvPr id="58" name="Slide Number Placeholder 0"/>
          <p:cNvSpPr>
            <a:spLocks noGrp="1"/>
          </p:cNvSpPr>
          <p:nvPr>
            <p:ph type="sldNum" sz="quarter" idx="4294967295"/>
          </p:nvPr>
        </p:nvSpPr>
        <p:spPr>
          <a:xfrm>
            <a:off x="11795760" y="6455664"/>
            <a:ext cx="800000" cy="300000"/>
          </a:xfrm>
          <a:prstGeom prst="rect">
            <a:avLst/>
          </a:prstGeom>
        </p:spPr>
        <p:txBody>
          <a:bodyPr/>
          <a:lstStyle>
            <a:lvl1pPr>
              <a:defRPr sz="750">
                <a:solidFill>
                  <a:srgbClr val="60758A"/>
                </a:solidFill>
                <a:latin typeface="Aptos"/>
                <a:ea typeface="Aptos"/>
                <a:cs typeface="Aptos"/>
              </a:defRPr>
            </a:lvl1pPr>
          </a:lstStyle>
          <a:p>
            <a:pPr algn="l"/>
            <a:fld id="{F7021451-1387-4CA6-816F-3879F97B5CBC}" type="slidenum">
              <a:rPr lang="en-US" b="0"/>
            </a:fld>
            <a:endParaRPr lang="en-US"/>
          </a:p>
        </p:txBody>
      </p:sp>
      <p:pic>
        <p:nvPicPr>
          <p:cNvPr id="59" name="图片 58"/>
          <p:cNvPicPr>
            <a:picLocks noChangeAspect="1"/>
          </p:cNvPicPr>
          <p:nvPr/>
        </p:nvPicPr>
        <p:blipFill>
          <a:blip r:embed="rId1"/>
          <a:stretch>
            <a:fillRect/>
          </a:stretch>
        </p:blipFill>
        <p:spPr>
          <a:xfrm>
            <a:off x="2633345" y="3500120"/>
            <a:ext cx="4554855" cy="880110"/>
          </a:xfrm>
          <a:prstGeom prst="rect">
            <a:avLst/>
          </a:prstGeom>
        </p:spPr>
      </p:pic>
      <p:pic>
        <p:nvPicPr>
          <p:cNvPr id="60" name="图片 59"/>
          <p:cNvPicPr>
            <a:picLocks noChangeAspect="1"/>
          </p:cNvPicPr>
          <p:nvPr/>
        </p:nvPicPr>
        <p:blipFill>
          <a:blip r:embed="rId2"/>
          <a:stretch>
            <a:fillRect/>
          </a:stretch>
        </p:blipFill>
        <p:spPr>
          <a:xfrm>
            <a:off x="6675120" y="5640070"/>
            <a:ext cx="2368550" cy="266700"/>
          </a:xfrm>
          <a:prstGeom prst="rect">
            <a:avLst/>
          </a:prstGeom>
        </p:spPr>
      </p:pic>
      <p:pic>
        <p:nvPicPr>
          <p:cNvPr id="62" name="图片 61"/>
          <p:cNvPicPr>
            <a:picLocks noChangeAspect="1"/>
          </p:cNvPicPr>
          <p:nvPr/>
        </p:nvPicPr>
        <p:blipFill>
          <a:blip r:embed="rId3"/>
          <a:stretch>
            <a:fillRect/>
          </a:stretch>
        </p:blipFill>
        <p:spPr>
          <a:xfrm>
            <a:off x="10200640" y="100330"/>
            <a:ext cx="1930400" cy="2743200"/>
          </a:xfrm>
          <a:prstGeom prst="rect">
            <a:avLst/>
          </a:prstGeom>
        </p:spPr>
      </p:pic>
      <p:pic>
        <p:nvPicPr>
          <p:cNvPr id="63" name="图片 62"/>
          <p:cNvPicPr>
            <a:picLocks noChangeAspect="1"/>
          </p:cNvPicPr>
          <p:nvPr/>
        </p:nvPicPr>
        <p:blipFill>
          <a:blip r:embed="rId4"/>
          <a:stretch>
            <a:fillRect/>
          </a:stretch>
        </p:blipFill>
        <p:spPr>
          <a:xfrm>
            <a:off x="8480425" y="347345"/>
            <a:ext cx="1276350" cy="762000"/>
          </a:xfrm>
          <a:prstGeom prst="rect">
            <a:avLst/>
          </a:prstGeom>
        </p:spPr>
      </p:pic>
      <p:pic>
        <p:nvPicPr>
          <p:cNvPr id="64" name="图片 63"/>
          <p:cNvPicPr>
            <a:picLocks noChangeAspect="1"/>
          </p:cNvPicPr>
          <p:nvPr/>
        </p:nvPicPr>
        <p:blipFill>
          <a:blip r:embed="rId5"/>
          <a:stretch>
            <a:fillRect/>
          </a:stretch>
        </p:blipFill>
        <p:spPr>
          <a:xfrm>
            <a:off x="7152005" y="347345"/>
            <a:ext cx="1212850" cy="723900"/>
          </a:xfrm>
          <a:prstGeom prst="rect">
            <a:avLst/>
          </a:prstGeom>
        </p:spPr>
      </p:pic>
      <p:pic>
        <p:nvPicPr>
          <p:cNvPr id="65" name="图片 64"/>
          <p:cNvPicPr>
            <a:picLocks noChangeAspect="1"/>
          </p:cNvPicPr>
          <p:nvPr/>
        </p:nvPicPr>
        <p:blipFill>
          <a:blip r:embed="rId6"/>
          <a:stretch>
            <a:fillRect/>
          </a:stretch>
        </p:blipFill>
        <p:spPr>
          <a:xfrm>
            <a:off x="8364855" y="1325880"/>
            <a:ext cx="1236980" cy="739775"/>
          </a:xfrm>
          <a:prstGeom prst="rect">
            <a:avLst/>
          </a:prstGeom>
        </p:spPr>
      </p:pic>
      <p:pic>
        <p:nvPicPr>
          <p:cNvPr id="66" name="图片 65"/>
          <p:cNvPicPr>
            <a:picLocks noChangeAspect="1"/>
          </p:cNvPicPr>
          <p:nvPr/>
        </p:nvPicPr>
        <p:blipFill>
          <a:blip r:embed="rId7"/>
          <a:stretch>
            <a:fillRect/>
          </a:stretch>
        </p:blipFill>
        <p:spPr>
          <a:xfrm>
            <a:off x="6948805" y="1390650"/>
            <a:ext cx="1323340" cy="675005"/>
          </a:xfrm>
          <a:prstGeom prst="rect">
            <a:avLst/>
          </a:prstGeom>
        </p:spPr>
      </p:pic>
      <p:sp>
        <p:nvSpPr>
          <p:cNvPr id="68" name="矩形 67"/>
          <p:cNvSpPr/>
          <p:nvPr/>
        </p:nvSpPr>
        <p:spPr>
          <a:xfrm>
            <a:off x="10332720" y="548640"/>
            <a:ext cx="1153160" cy="20129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9" name="直接箭头连接符 68"/>
          <p:cNvCxnSpPr>
            <a:stCxn id="65" idx="3"/>
            <a:endCxn id="67" idx="1"/>
          </p:cNvCxnSpPr>
          <p:nvPr/>
        </p:nvCxnSpPr>
        <p:spPr>
          <a:xfrm>
            <a:off x="9601835" y="1696085"/>
            <a:ext cx="648335" cy="969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0" name="直接箭头连接符 69"/>
          <p:cNvCxnSpPr>
            <a:stCxn id="63" idx="3"/>
            <a:endCxn id="68" idx="1"/>
          </p:cNvCxnSpPr>
          <p:nvPr/>
        </p:nvCxnSpPr>
        <p:spPr>
          <a:xfrm flipV="1">
            <a:off x="9756775" y="649605"/>
            <a:ext cx="575945" cy="787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8" name="Shape 32"/>
          <p:cNvSpPr/>
          <p:nvPr/>
        </p:nvSpPr>
        <p:spPr>
          <a:xfrm>
            <a:off x="8092440" y="2743200"/>
            <a:ext cx="393192" cy="0"/>
          </a:xfrm>
          <a:prstGeom prst="line">
            <a:avLst/>
          </a:prstGeom>
          <a:noFill/>
          <a:ln w="20320">
            <a:solidFill>
              <a:srgbClr val="087E8B"/>
            </a:solidFill>
            <a:prstDash val="solid"/>
            <a:headEnd type="none"/>
            <a:tailEnd type="triangle"/>
          </a:ln>
        </p:spPr>
      </p:sp>
      <p:sp>
        <p:nvSpPr>
          <p:cNvPr id="99" name="Shape 33"/>
          <p:cNvSpPr/>
          <p:nvPr/>
        </p:nvSpPr>
        <p:spPr>
          <a:xfrm>
            <a:off x="8513064" y="2551176"/>
            <a:ext cx="1298448" cy="384048"/>
          </a:xfrm>
          <a:prstGeom prst="roundRect">
            <a:avLst>
              <a:gd name="adj" fmla="val 19048"/>
            </a:avLst>
          </a:prstGeom>
          <a:solidFill>
            <a:srgbClr val="E4F4F3"/>
          </a:solidFill>
          <a:ln w="12700">
            <a:solidFill>
              <a:srgbClr val="087E8B"/>
            </a:solidFill>
            <a:prstDash val="solid"/>
          </a:ln>
        </p:spPr>
      </p:sp>
      <p:sp>
        <p:nvSpPr>
          <p:cNvPr id="100" name="Text 34"/>
          <p:cNvSpPr/>
          <p:nvPr/>
        </p:nvSpPr>
        <p:spPr>
          <a:xfrm>
            <a:off x="8641080" y="2651760"/>
            <a:ext cx="1051560" cy="146304"/>
          </a:xfrm>
          <a:prstGeom prst="rect">
            <a:avLst/>
          </a:prstGeom>
          <a:noFill/>
        </p:spPr>
        <p:txBody>
          <a:bodyPr wrap="square" lIns="0" tIns="0" rIns="0" bIns="0" rtlCol="0" anchor="ctr">
            <a:normAutofit/>
          </a:bodyPr>
          <a:lstStyle/>
          <a:p>
            <a:pPr marL="0" indent="0" algn="ctr">
              <a:buNone/>
            </a:pPr>
            <a:r>
              <a:rPr lang="en-US" sz="880" b="1" dirty="0">
                <a:solidFill>
                  <a:srgbClr val="087E8B"/>
                </a:solidFill>
                <a:latin typeface="Aptos" pitchFamily="34" charset="0"/>
                <a:ea typeface="Aptos" pitchFamily="34" charset="-122"/>
                <a:cs typeface="Aptos" pitchFamily="34" charset="-120"/>
              </a:rPr>
              <a:t>Notify patient</a:t>
            </a:r>
            <a:endParaRPr lang="en-US" sz="880" dirty="0"/>
          </a:p>
        </p:txBody>
      </p:sp>
      <p:sp>
        <p:nvSpPr>
          <p:cNvPr id="101" name="Shape 35"/>
          <p:cNvSpPr/>
          <p:nvPr/>
        </p:nvSpPr>
        <p:spPr>
          <a:xfrm>
            <a:off x="9162288" y="2935224"/>
            <a:ext cx="0" cy="246888"/>
          </a:xfrm>
          <a:prstGeom prst="line">
            <a:avLst/>
          </a:prstGeom>
          <a:noFill/>
          <a:ln w="20320">
            <a:solidFill>
              <a:srgbClr val="087E8B"/>
            </a:solidFill>
            <a:prstDash val="solid"/>
            <a:headEnd type="none"/>
            <a:tailEnd type="none"/>
          </a:ln>
        </p:spPr>
      </p:sp>
      <p:sp>
        <p:nvSpPr>
          <p:cNvPr id="102" name="Shape 36"/>
          <p:cNvSpPr/>
          <p:nvPr/>
        </p:nvSpPr>
        <p:spPr>
          <a:xfrm>
            <a:off x="8430768" y="3182112"/>
            <a:ext cx="731520" cy="0"/>
          </a:xfrm>
          <a:prstGeom prst="line">
            <a:avLst/>
          </a:prstGeom>
          <a:noFill/>
          <a:ln w="20320">
            <a:solidFill>
              <a:srgbClr val="087E8B"/>
            </a:solidFill>
            <a:prstDash val="solid"/>
            <a:headEnd type="none"/>
            <a:tailEnd type="none"/>
          </a:ln>
        </p:spPr>
      </p:sp>
      <p:sp>
        <p:nvSpPr>
          <p:cNvPr id="103" name="Shape 37"/>
          <p:cNvSpPr/>
          <p:nvPr/>
        </p:nvSpPr>
        <p:spPr>
          <a:xfrm>
            <a:off x="8430768" y="3182112"/>
            <a:ext cx="0" cy="256032"/>
          </a:xfrm>
          <a:prstGeom prst="line">
            <a:avLst/>
          </a:prstGeom>
          <a:noFill/>
          <a:ln w="20320">
            <a:solidFill>
              <a:srgbClr val="087E8B"/>
            </a:solidFill>
            <a:prstDash val="solid"/>
            <a:headEnd type="none"/>
            <a:tailEnd type="triangle"/>
          </a:ln>
        </p:spPr>
      </p:sp>
      <p:sp>
        <p:nvSpPr>
          <p:cNvPr id="104" name="Text 38"/>
          <p:cNvSpPr/>
          <p:nvPr/>
        </p:nvSpPr>
        <p:spPr>
          <a:xfrm>
            <a:off x="8558784" y="3054096"/>
            <a:ext cx="1097280" cy="118872"/>
          </a:xfrm>
          <a:prstGeom prst="rect">
            <a:avLst/>
          </a:prstGeom>
          <a:noFill/>
        </p:spPr>
        <p:txBody>
          <a:bodyPr wrap="square" lIns="0" tIns="0" rIns="0" bIns="0" rtlCol="0" anchor="ctr">
            <a:normAutofit/>
          </a:bodyPr>
          <a:lstStyle/>
          <a:p>
            <a:pPr marL="0" indent="0" algn="ctr">
              <a:buNone/>
            </a:pPr>
            <a:r>
              <a:rPr lang="en-US" sz="690" i="1" dirty="0">
                <a:solidFill>
                  <a:srgbClr val="60758A"/>
                </a:solidFill>
                <a:latin typeface="Aptos" pitchFamily="34" charset="0"/>
                <a:ea typeface="Aptos" pitchFamily="34" charset="-122"/>
                <a:cs typeface="Aptos" pitchFamily="34" charset="-120"/>
              </a:rPr>
              <a:t>Appointment confirmed</a:t>
            </a:r>
            <a:endParaRPr lang="en-US" sz="690" dirty="0"/>
          </a:p>
        </p:txBody>
      </p:sp>
      <p:sp>
        <p:nvSpPr>
          <p:cNvPr id="105" name="Shape 39"/>
          <p:cNvSpPr/>
          <p:nvPr/>
        </p:nvSpPr>
        <p:spPr>
          <a:xfrm>
            <a:off x="7818120" y="3438144"/>
            <a:ext cx="1225296" cy="384048"/>
          </a:xfrm>
          <a:prstGeom prst="roundRect">
            <a:avLst>
              <a:gd name="adj" fmla="val 19048"/>
            </a:avLst>
          </a:prstGeom>
          <a:solidFill>
            <a:srgbClr val="FFFFFF"/>
          </a:solidFill>
          <a:ln w="12700">
            <a:solidFill>
              <a:srgbClr val="087E8B"/>
            </a:solidFill>
            <a:prstDash val="solid"/>
          </a:ln>
        </p:spPr>
      </p:sp>
      <p:sp>
        <p:nvSpPr>
          <p:cNvPr id="106" name="Text 40"/>
          <p:cNvSpPr/>
          <p:nvPr/>
        </p:nvSpPr>
        <p:spPr>
          <a:xfrm>
            <a:off x="7936992" y="3538728"/>
            <a:ext cx="987552" cy="146304"/>
          </a:xfrm>
          <a:prstGeom prst="rect">
            <a:avLst/>
          </a:prstGeom>
          <a:noFill/>
        </p:spPr>
        <p:txBody>
          <a:bodyPr wrap="square" lIns="0" tIns="0" rIns="0" bIns="0" rtlCol="0" anchor="ctr">
            <a:normAutofit/>
          </a:bodyPr>
          <a:lstStyle/>
          <a:p>
            <a:pPr marL="0" indent="0" algn="ctr">
              <a:buNone/>
            </a:pPr>
            <a:r>
              <a:rPr lang="en-US" sz="880" b="1" dirty="0">
                <a:solidFill>
                  <a:srgbClr val="183044"/>
                </a:solidFill>
                <a:latin typeface="Aptos" pitchFamily="34" charset="0"/>
                <a:ea typeface="Aptos" pitchFamily="34" charset="-122"/>
                <a:cs typeface="Aptos" pitchFamily="34" charset="-120"/>
              </a:rPr>
              <a:t>Authorise request</a:t>
            </a:r>
            <a:endParaRPr lang="en-US" sz="880" dirty="0"/>
          </a:p>
        </p:txBody>
      </p:sp>
      <p:sp>
        <p:nvSpPr>
          <p:cNvPr id="107" name="Shape 41"/>
          <p:cNvSpPr/>
          <p:nvPr/>
        </p:nvSpPr>
        <p:spPr>
          <a:xfrm>
            <a:off x="9052560" y="3630168"/>
            <a:ext cx="365760" cy="0"/>
          </a:xfrm>
          <a:prstGeom prst="line">
            <a:avLst/>
          </a:prstGeom>
          <a:noFill/>
          <a:ln w="20320">
            <a:solidFill>
              <a:srgbClr val="087E8B"/>
            </a:solidFill>
            <a:prstDash val="solid"/>
            <a:headEnd type="none"/>
            <a:tailEnd type="triangle"/>
          </a:ln>
        </p:spPr>
      </p:sp>
      <p:sp>
        <p:nvSpPr>
          <p:cNvPr id="108" name="Shape 42"/>
          <p:cNvSpPr/>
          <p:nvPr/>
        </p:nvSpPr>
        <p:spPr>
          <a:xfrm>
            <a:off x="9445752" y="3438144"/>
            <a:ext cx="1188720" cy="384048"/>
          </a:xfrm>
          <a:prstGeom prst="roundRect">
            <a:avLst>
              <a:gd name="adj" fmla="val 19048"/>
            </a:avLst>
          </a:prstGeom>
          <a:solidFill>
            <a:srgbClr val="FFFFFF"/>
          </a:solidFill>
          <a:ln w="12700">
            <a:solidFill>
              <a:srgbClr val="087E8B"/>
            </a:solidFill>
            <a:prstDash val="solid"/>
          </a:ln>
        </p:spPr>
      </p:sp>
      <p:sp>
        <p:nvSpPr>
          <p:cNvPr id="110" name="Shape 44"/>
          <p:cNvSpPr/>
          <p:nvPr/>
        </p:nvSpPr>
        <p:spPr>
          <a:xfrm>
            <a:off x="10643616" y="3630168"/>
            <a:ext cx="356616" cy="0"/>
          </a:xfrm>
          <a:prstGeom prst="line">
            <a:avLst/>
          </a:prstGeom>
          <a:noFill/>
          <a:ln w="20320">
            <a:solidFill>
              <a:srgbClr val="087E8B"/>
            </a:solidFill>
            <a:prstDash val="solid"/>
            <a:headEnd type="none"/>
            <a:tailEnd type="triangle"/>
          </a:ln>
        </p:spPr>
      </p:sp>
      <p:sp>
        <p:nvSpPr>
          <p:cNvPr id="111" name="Shape 45"/>
          <p:cNvSpPr/>
          <p:nvPr/>
        </p:nvSpPr>
        <p:spPr>
          <a:xfrm>
            <a:off x="11018520" y="3438144"/>
            <a:ext cx="512064" cy="384048"/>
          </a:xfrm>
          <a:prstGeom prst="roundRect">
            <a:avLst>
              <a:gd name="adj" fmla="val 19048"/>
            </a:avLst>
          </a:prstGeom>
          <a:solidFill>
            <a:srgbClr val="E4F4F3"/>
          </a:solidFill>
          <a:ln w="12700">
            <a:solidFill>
              <a:srgbClr val="087E8B"/>
            </a:solidFill>
            <a:prstDash val="solid"/>
          </a:ln>
        </p:spPr>
      </p:sp>
      <p:sp>
        <p:nvSpPr>
          <p:cNvPr id="112" name="Text 46"/>
          <p:cNvSpPr/>
          <p:nvPr/>
        </p:nvSpPr>
        <p:spPr>
          <a:xfrm>
            <a:off x="11109960" y="3538728"/>
            <a:ext cx="329184" cy="146304"/>
          </a:xfrm>
          <a:prstGeom prst="rect">
            <a:avLst/>
          </a:prstGeom>
          <a:noFill/>
        </p:spPr>
        <p:txBody>
          <a:bodyPr wrap="square" lIns="0" tIns="0" rIns="0" bIns="0" rtlCol="0" anchor="ctr">
            <a:normAutofit/>
          </a:bodyPr>
          <a:lstStyle/>
          <a:p>
            <a:pPr marL="0" indent="0" algn="ctr">
              <a:buNone/>
            </a:pPr>
            <a:r>
              <a:rPr lang="en-US" sz="880" b="1" dirty="0">
                <a:solidFill>
                  <a:srgbClr val="087E8B"/>
                </a:solidFill>
                <a:latin typeface="Aptos" pitchFamily="34" charset="0"/>
                <a:ea typeface="Aptos" pitchFamily="34" charset="-122"/>
                <a:cs typeface="Aptos" pitchFamily="34" charset="-120"/>
              </a:rPr>
              <a:t>Pay</a:t>
            </a:r>
            <a:endParaRPr lang="en-US" sz="880" dirty="0"/>
          </a:p>
        </p:txBody>
      </p:sp>
      <p:sp>
        <p:nvSpPr>
          <p:cNvPr id="113" name="Shape 47"/>
          <p:cNvSpPr/>
          <p:nvPr/>
        </p:nvSpPr>
        <p:spPr>
          <a:xfrm>
            <a:off x="7333488" y="4325112"/>
            <a:ext cx="1207008" cy="384048"/>
          </a:xfrm>
          <a:prstGeom prst="roundRect">
            <a:avLst>
              <a:gd name="adj" fmla="val 19048"/>
            </a:avLst>
          </a:prstGeom>
          <a:solidFill>
            <a:srgbClr val="FFFFFF"/>
          </a:solidFill>
          <a:ln w="12700">
            <a:solidFill>
              <a:srgbClr val="D59A32"/>
            </a:solidFill>
            <a:prstDash val="solid"/>
          </a:ln>
        </p:spPr>
      </p:sp>
      <p:sp>
        <p:nvSpPr>
          <p:cNvPr id="114" name="Text 48"/>
          <p:cNvSpPr/>
          <p:nvPr/>
        </p:nvSpPr>
        <p:spPr>
          <a:xfrm>
            <a:off x="7452360" y="4425696"/>
            <a:ext cx="969264" cy="146304"/>
          </a:xfrm>
          <a:prstGeom prst="rect">
            <a:avLst/>
          </a:prstGeom>
          <a:noFill/>
        </p:spPr>
        <p:txBody>
          <a:bodyPr wrap="square" lIns="0" tIns="0" rIns="0" bIns="0" rtlCol="0" anchor="ctr">
            <a:normAutofit/>
          </a:bodyPr>
          <a:lstStyle/>
          <a:p>
            <a:pPr marL="0" indent="0" algn="ctr">
              <a:buNone/>
            </a:pPr>
            <a:r>
              <a:rPr lang="en-US" sz="880" b="1" dirty="0">
                <a:solidFill>
                  <a:srgbClr val="183044"/>
                </a:solidFill>
                <a:latin typeface="Aptos" pitchFamily="34" charset="0"/>
                <a:ea typeface="Aptos" pitchFamily="34" charset="-122"/>
                <a:cs typeface="Aptos" pitchFamily="34" charset="-120"/>
              </a:rPr>
              <a:t>Record enquiry</a:t>
            </a:r>
            <a:endParaRPr lang="en-US" sz="880" dirty="0"/>
          </a:p>
        </p:txBody>
      </p:sp>
      <p:sp>
        <p:nvSpPr>
          <p:cNvPr id="115" name="Shape 49"/>
          <p:cNvSpPr/>
          <p:nvPr/>
        </p:nvSpPr>
        <p:spPr>
          <a:xfrm>
            <a:off x="8549640" y="4517136"/>
            <a:ext cx="365760" cy="0"/>
          </a:xfrm>
          <a:prstGeom prst="line">
            <a:avLst/>
          </a:prstGeom>
          <a:noFill/>
          <a:ln w="20320">
            <a:solidFill>
              <a:srgbClr val="D59A32"/>
            </a:solidFill>
            <a:prstDash val="solid"/>
            <a:headEnd type="none"/>
            <a:tailEnd type="triangle"/>
          </a:ln>
        </p:spPr>
      </p:sp>
      <p:sp>
        <p:nvSpPr>
          <p:cNvPr id="116" name="Shape 50"/>
          <p:cNvSpPr/>
          <p:nvPr/>
        </p:nvSpPr>
        <p:spPr>
          <a:xfrm>
            <a:off x="8942832" y="4297680"/>
            <a:ext cx="438912" cy="438912"/>
          </a:xfrm>
          <a:prstGeom prst="diamond">
            <a:avLst/>
          </a:prstGeom>
          <a:solidFill>
            <a:srgbClr val="FFF3DB"/>
          </a:solidFill>
          <a:ln w="13970">
            <a:solidFill>
              <a:srgbClr val="D59A32"/>
            </a:solidFill>
            <a:prstDash val="solid"/>
          </a:ln>
        </p:spPr>
      </p:sp>
      <p:sp>
        <p:nvSpPr>
          <p:cNvPr id="117" name="Text 51"/>
          <p:cNvSpPr/>
          <p:nvPr/>
        </p:nvSpPr>
        <p:spPr>
          <a:xfrm>
            <a:off x="8887968" y="4773168"/>
            <a:ext cx="566928" cy="128016"/>
          </a:xfrm>
          <a:prstGeom prst="rect">
            <a:avLst/>
          </a:prstGeom>
          <a:noFill/>
        </p:spPr>
        <p:txBody>
          <a:bodyPr wrap="square" lIns="0" tIns="0" rIns="0" bIns="0" rtlCol="0" anchor="ctr">
            <a:normAutofit/>
          </a:bodyPr>
          <a:lstStyle/>
          <a:p>
            <a:pPr marL="0" indent="0" algn="ctr">
              <a:buNone/>
            </a:pPr>
            <a:r>
              <a:rPr lang="en-US" sz="750" b="1" dirty="0">
                <a:solidFill>
                  <a:srgbClr val="60758A"/>
                </a:solidFill>
                <a:latin typeface="Aptos" pitchFamily="34" charset="0"/>
                <a:ea typeface="Aptos" pitchFamily="34" charset="-122"/>
                <a:cs typeface="Aptos" pitchFamily="34" charset="-120"/>
              </a:rPr>
              <a:t>Route</a:t>
            </a:r>
            <a:endParaRPr lang="en-US" sz="750" dirty="0"/>
          </a:p>
        </p:txBody>
      </p:sp>
      <p:sp>
        <p:nvSpPr>
          <p:cNvPr id="118" name="Shape 52"/>
          <p:cNvSpPr/>
          <p:nvPr/>
        </p:nvSpPr>
        <p:spPr>
          <a:xfrm>
            <a:off x="9390888" y="4517136"/>
            <a:ext cx="365760" cy="0"/>
          </a:xfrm>
          <a:prstGeom prst="line">
            <a:avLst/>
          </a:prstGeom>
          <a:noFill/>
          <a:ln w="20320">
            <a:solidFill>
              <a:srgbClr val="D59A32"/>
            </a:solidFill>
            <a:prstDash val="solid"/>
            <a:headEnd type="none"/>
            <a:tailEnd type="triangle"/>
          </a:ln>
        </p:spPr>
      </p:sp>
      <p:sp>
        <p:nvSpPr>
          <p:cNvPr id="119" name="Shape 53"/>
          <p:cNvSpPr/>
          <p:nvPr/>
        </p:nvSpPr>
        <p:spPr>
          <a:xfrm>
            <a:off x="9784080" y="4325112"/>
            <a:ext cx="1399032" cy="384048"/>
          </a:xfrm>
          <a:prstGeom prst="roundRect">
            <a:avLst>
              <a:gd name="adj" fmla="val 19048"/>
            </a:avLst>
          </a:prstGeom>
          <a:solidFill>
            <a:srgbClr val="E4F4F3"/>
          </a:solidFill>
          <a:ln w="12700">
            <a:solidFill>
              <a:srgbClr val="087E8B"/>
            </a:solidFill>
            <a:prstDash val="solid"/>
          </a:ln>
        </p:spPr>
      </p:sp>
      <p:sp>
        <p:nvSpPr>
          <p:cNvPr id="120" name="Text 54"/>
          <p:cNvSpPr/>
          <p:nvPr/>
        </p:nvSpPr>
        <p:spPr>
          <a:xfrm>
            <a:off x="9875520" y="4379976"/>
            <a:ext cx="1216152" cy="237744"/>
          </a:xfrm>
          <a:prstGeom prst="rect">
            <a:avLst/>
          </a:prstGeom>
          <a:noFill/>
        </p:spPr>
        <p:txBody>
          <a:bodyPr wrap="square" lIns="0" tIns="0" rIns="0" bIns="0" rtlCol="0" anchor="ctr">
            <a:normAutofit/>
          </a:bodyPr>
          <a:lstStyle/>
          <a:p>
            <a:pPr marL="0" indent="0" algn="ctr">
              <a:buNone/>
            </a:pPr>
            <a:r>
              <a:rPr lang="en-US" sz="810" b="1" dirty="0">
                <a:solidFill>
                  <a:srgbClr val="087E8B"/>
                </a:solidFill>
                <a:latin typeface="Aptos" pitchFamily="34" charset="0"/>
                <a:ea typeface="Aptos" pitchFamily="34" charset="-122"/>
                <a:cs typeface="Aptos" pitchFamily="34" charset="-120"/>
              </a:rPr>
              <a:t>Send resolution notice</a:t>
            </a:r>
            <a:endParaRPr lang="en-US" sz="810" dirty="0"/>
          </a:p>
        </p:txBody>
      </p:sp>
      <p:sp>
        <p:nvSpPr>
          <p:cNvPr id="121" name="Shape 55"/>
          <p:cNvSpPr/>
          <p:nvPr/>
        </p:nvSpPr>
        <p:spPr>
          <a:xfrm>
            <a:off x="11274552" y="3822192"/>
            <a:ext cx="0" cy="219456"/>
          </a:xfrm>
          <a:prstGeom prst="line">
            <a:avLst/>
          </a:prstGeom>
          <a:noFill/>
          <a:ln w="20320">
            <a:solidFill>
              <a:srgbClr val="D59A32"/>
            </a:solidFill>
            <a:prstDash val="solid"/>
            <a:headEnd type="none"/>
            <a:tailEnd type="none"/>
          </a:ln>
        </p:spPr>
      </p:sp>
      <p:sp>
        <p:nvSpPr>
          <p:cNvPr id="122" name="Shape 56"/>
          <p:cNvSpPr/>
          <p:nvPr/>
        </p:nvSpPr>
        <p:spPr>
          <a:xfrm>
            <a:off x="7936992" y="4041648"/>
            <a:ext cx="3337560" cy="0"/>
          </a:xfrm>
          <a:prstGeom prst="line">
            <a:avLst/>
          </a:prstGeom>
          <a:noFill/>
          <a:ln w="20320">
            <a:solidFill>
              <a:srgbClr val="D59A32"/>
            </a:solidFill>
            <a:prstDash val="solid"/>
            <a:headEnd type="none"/>
            <a:tailEnd type="none"/>
          </a:ln>
        </p:spPr>
      </p:sp>
      <p:sp>
        <p:nvSpPr>
          <p:cNvPr id="123" name="Shape 57"/>
          <p:cNvSpPr/>
          <p:nvPr/>
        </p:nvSpPr>
        <p:spPr>
          <a:xfrm>
            <a:off x="7936992" y="4041648"/>
            <a:ext cx="0" cy="283464"/>
          </a:xfrm>
          <a:prstGeom prst="line">
            <a:avLst/>
          </a:prstGeom>
          <a:noFill/>
          <a:ln w="20320">
            <a:solidFill>
              <a:srgbClr val="D59A32"/>
            </a:solidFill>
            <a:prstDash val="solid"/>
            <a:headEnd type="none"/>
            <a:tailEnd type="triangle"/>
          </a:ln>
        </p:spPr>
      </p:sp>
      <p:sp>
        <p:nvSpPr>
          <p:cNvPr id="124" name="Text 58"/>
          <p:cNvSpPr/>
          <p:nvPr/>
        </p:nvSpPr>
        <p:spPr>
          <a:xfrm>
            <a:off x="8933688" y="3895344"/>
            <a:ext cx="1005840" cy="118872"/>
          </a:xfrm>
          <a:prstGeom prst="rect">
            <a:avLst/>
          </a:prstGeom>
          <a:noFill/>
        </p:spPr>
        <p:txBody>
          <a:bodyPr wrap="square" lIns="0" tIns="0" rIns="0" bIns="0" rtlCol="0" anchor="ctr">
            <a:normAutofit/>
          </a:bodyPr>
          <a:lstStyle/>
          <a:p>
            <a:pPr marL="0" indent="0" algn="ctr">
              <a:buNone/>
            </a:pPr>
            <a:r>
              <a:rPr lang="en-US" sz="690" i="1" dirty="0">
                <a:solidFill>
                  <a:srgbClr val="60758A"/>
                </a:solidFill>
                <a:latin typeface="Aptos" pitchFamily="34" charset="0"/>
                <a:ea typeface="Aptos" pitchFamily="34" charset="-122"/>
                <a:cs typeface="Aptos" pitchFamily="34" charset="-120"/>
              </a:rPr>
              <a:t>Treatment confirmed</a:t>
            </a:r>
            <a:endParaRPr lang="en-US" sz="690" dirty="0"/>
          </a:p>
        </p:txBody>
      </p:sp>
      <p:sp>
        <p:nvSpPr>
          <p:cNvPr id="125" name="Text 43"/>
          <p:cNvSpPr/>
          <p:nvPr/>
        </p:nvSpPr>
        <p:spPr>
          <a:xfrm>
            <a:off x="9550400" y="3500120"/>
            <a:ext cx="983615" cy="286385"/>
          </a:xfrm>
          <a:prstGeom prst="rect">
            <a:avLst/>
          </a:prstGeom>
          <a:noFill/>
        </p:spPr>
        <p:txBody>
          <a:bodyPr wrap="square" lIns="0" tIns="0" rIns="0" bIns="0" rtlCol="0" anchor="ctr">
            <a:normAutofit/>
          </a:bodyPr>
          <a:lstStyle/>
          <a:p>
            <a:pPr marL="0" indent="0" algn="ctr">
              <a:buNone/>
            </a:pPr>
            <a:r>
              <a:rPr lang="en-US" sz="850" b="1" dirty="0">
                <a:solidFill>
                  <a:srgbClr val="183044"/>
                </a:solidFill>
                <a:latin typeface="Aptos" pitchFamily="34" charset="0"/>
                <a:ea typeface="Aptos" pitchFamily="34" charset="-122"/>
                <a:cs typeface="Aptos" pitchFamily="34" charset="-120"/>
              </a:rPr>
              <a:t>Capacity &amp;</a:t>
            </a:r>
            <a:endParaRPr lang="en-US" sz="850" dirty="0"/>
          </a:p>
          <a:p>
            <a:pPr marL="0" indent="0" algn="ctr">
              <a:buNone/>
            </a:pPr>
            <a:r>
              <a:rPr lang="en-US" sz="850" b="1" dirty="0">
                <a:solidFill>
                  <a:srgbClr val="183044"/>
                </a:solidFill>
                <a:latin typeface="Aptos" pitchFamily="34" charset="0"/>
                <a:ea typeface="Aptos" pitchFamily="34" charset="-122"/>
                <a:cs typeface="Aptos" pitchFamily="34" charset="-120"/>
              </a:rPr>
              <a:t>funding</a:t>
            </a:r>
            <a:endParaRPr lang="en-US" sz="850" dirty="0"/>
          </a:p>
        </p:txBody>
      </p:sp>
      <p:sp>
        <p:nvSpPr>
          <p:cNvPr id="126" name="矩形 125"/>
          <p:cNvSpPr/>
          <p:nvPr/>
        </p:nvSpPr>
        <p:spPr>
          <a:xfrm>
            <a:off x="10285730" y="2551430"/>
            <a:ext cx="1417955" cy="2197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9" name="Text 12"/>
          <p:cNvSpPr/>
          <p:nvPr>
            <p:custDataLst>
              <p:tags r:id="rId8"/>
            </p:custDataLst>
          </p:nvPr>
        </p:nvSpPr>
        <p:spPr>
          <a:xfrm>
            <a:off x="7140575" y="4973955"/>
            <a:ext cx="4472305" cy="200025"/>
          </a:xfrm>
          <a:prstGeom prst="rect">
            <a:avLst/>
          </a:prstGeom>
          <a:noFill/>
        </p:spPr>
        <p:txBody>
          <a:bodyPr wrap="square" lIns="0" tIns="0" rIns="0" bIns="0" rtlCol="0" anchor="ctr">
            <a:normAutofit/>
          </a:bodyPr>
          <a:lstStyle/>
          <a:p>
            <a:pPr marL="0" indent="0">
              <a:buNone/>
            </a:pPr>
            <a:r>
              <a:rPr lang="en-US" altLang="zh-CN" sz="920" dirty="0"/>
              <a:t>Allocate the consultation to administrative, appointment, financial, or clinical</a:t>
            </a:r>
            <a:endParaRPr lang="en-US" altLang="zh-CN" sz="920" dirty="0"/>
          </a:p>
        </p:txBody>
      </p:sp>
      <p:sp>
        <p:nvSpPr>
          <p:cNvPr id="131" name="Text 12"/>
          <p:cNvSpPr/>
          <p:nvPr>
            <p:custDataLst>
              <p:tags r:id="rId9"/>
            </p:custDataLst>
          </p:nvPr>
        </p:nvSpPr>
        <p:spPr>
          <a:xfrm>
            <a:off x="9784080" y="4773295"/>
            <a:ext cx="4472305" cy="200025"/>
          </a:xfrm>
          <a:prstGeom prst="rect">
            <a:avLst/>
          </a:prstGeom>
          <a:noFill/>
        </p:spPr>
        <p:txBody>
          <a:bodyPr wrap="square" lIns="0" tIns="0" rIns="0" bIns="0" rtlCol="0" anchor="ctr">
            <a:normAutofit/>
          </a:bodyPr>
          <a:lstStyle/>
          <a:p>
            <a:pPr marL="0" indent="0">
              <a:buNone/>
            </a:pPr>
            <a:r>
              <a:rPr lang="en-US" altLang="zh-CN" sz="920" dirty="0"/>
              <a:t>use Java Message Handler</a:t>
            </a:r>
            <a:endParaRPr lang="en-US" altLang="zh-CN" sz="9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47472"/>
            <a:ext cx="4572000" cy="201168"/>
          </a:xfrm>
          <a:prstGeom prst="rect">
            <a:avLst/>
          </a:prstGeom>
          <a:noFill/>
        </p:spPr>
        <p:txBody>
          <a:bodyPr wrap="square" lIns="0" tIns="0" rIns="0" bIns="0" rtlCol="0" anchor="ctr">
            <a:normAutofit/>
          </a:bodyPr>
          <a:lstStyle/>
          <a:p>
            <a:pPr marL="0" indent="0">
              <a:buNone/>
            </a:pPr>
            <a:r>
              <a:rPr lang="en-US" sz="900" b="1" kern="0" spc="115" dirty="0">
                <a:solidFill>
                  <a:srgbClr val="087E8B"/>
                </a:solidFill>
                <a:latin typeface="Aptos" pitchFamily="34" charset="0"/>
                <a:ea typeface="Aptos" pitchFamily="34" charset="-122"/>
                <a:cs typeface="Aptos" pitchFamily="34" charset="-120"/>
              </a:rPr>
              <a:t>EVIDENCE FOR A DEPLOYABLE WORKFLOW     Logren Li 23084430</a:t>
            </a:r>
            <a:endParaRPr lang="en-US" sz="900" dirty="0"/>
          </a:p>
        </p:txBody>
      </p:sp>
      <p:sp>
        <p:nvSpPr>
          <p:cNvPr id="3" name="Text 1"/>
          <p:cNvSpPr/>
          <p:nvPr/>
        </p:nvSpPr>
        <p:spPr>
          <a:xfrm>
            <a:off x="457200" y="585216"/>
            <a:ext cx="9875520" cy="411480"/>
          </a:xfrm>
          <a:prstGeom prst="rect">
            <a:avLst/>
          </a:prstGeom>
          <a:noFill/>
        </p:spPr>
        <p:txBody>
          <a:bodyPr wrap="square" lIns="0" tIns="0" rIns="0" bIns="0" rtlCol="0" anchor="ctr">
            <a:normAutofit/>
          </a:bodyPr>
          <a:lstStyle/>
          <a:p>
            <a:pPr marL="0" indent="0">
              <a:buNone/>
            </a:pPr>
            <a:r>
              <a:rPr lang="en-US" sz="2500" b="1" dirty="0">
                <a:solidFill>
                  <a:srgbClr val="153A5B"/>
                </a:solidFill>
                <a:latin typeface="Aptos" pitchFamily="34" charset="0"/>
                <a:ea typeface="Aptos" pitchFamily="34" charset="-122"/>
                <a:cs typeface="Aptos" pitchFamily="34" charset="-120"/>
              </a:rPr>
              <a:t>Measurable Acceptance Criteria</a:t>
            </a:r>
            <a:endParaRPr lang="en-US" sz="2500" dirty="0"/>
          </a:p>
        </p:txBody>
      </p:sp>
      <p:sp>
        <p:nvSpPr>
          <p:cNvPr id="4" name="Text 2"/>
          <p:cNvSpPr/>
          <p:nvPr/>
        </p:nvSpPr>
        <p:spPr>
          <a:xfrm>
            <a:off x="457200" y="1033272"/>
            <a:ext cx="11155680" cy="256032"/>
          </a:xfrm>
          <a:prstGeom prst="rect">
            <a:avLst/>
          </a:prstGeom>
          <a:noFill/>
        </p:spPr>
        <p:txBody>
          <a:bodyPr wrap="square" lIns="0" tIns="0" rIns="0" bIns="0" rtlCol="0" anchor="ctr">
            <a:normAutofit/>
          </a:bodyPr>
          <a:lstStyle/>
          <a:p>
            <a:pPr marL="0" indent="0">
              <a:buNone/>
            </a:pPr>
            <a:r>
              <a:rPr lang="en-US" sz="1050" dirty="0">
                <a:solidFill>
                  <a:srgbClr val="60758A"/>
                </a:solidFill>
                <a:latin typeface="Aptos" pitchFamily="34" charset="0"/>
                <a:ea typeface="Aptos" pitchFamily="34" charset="-122"/>
                <a:cs typeface="Aptos" pitchFamily="34" charset="-120"/>
              </a:rPr>
              <a:t>Each criterion is phrased as an observable result that can be demonstrated in Camunda Tasklist and the worker log.</a:t>
            </a:r>
            <a:endParaRPr lang="en-US" sz="1050" dirty="0"/>
          </a:p>
        </p:txBody>
      </p:sp>
      <p:sp>
        <p:nvSpPr>
          <p:cNvPr id="5" name="Shape 3"/>
          <p:cNvSpPr/>
          <p:nvPr>
            <p:custDataLst>
              <p:tags r:id="rId1"/>
            </p:custDataLst>
          </p:nvPr>
        </p:nvSpPr>
        <p:spPr>
          <a:xfrm>
            <a:off x="548640" y="1527048"/>
            <a:ext cx="11064240" cy="749808"/>
          </a:xfrm>
          <a:prstGeom prst="roundRect">
            <a:avLst>
              <a:gd name="adj" fmla="val 7317"/>
            </a:avLst>
          </a:prstGeom>
          <a:solidFill>
            <a:srgbClr val="FFFFFF"/>
          </a:solidFill>
          <a:ln w="12700">
            <a:solidFill>
              <a:srgbClr val="C7D6E4"/>
            </a:solidFill>
            <a:prstDash val="solid"/>
          </a:ln>
        </p:spPr>
      </p:sp>
      <p:sp>
        <p:nvSpPr>
          <p:cNvPr id="6" name="Shape 4"/>
          <p:cNvSpPr/>
          <p:nvPr>
            <p:custDataLst>
              <p:tags r:id="rId2"/>
            </p:custDataLst>
          </p:nvPr>
        </p:nvSpPr>
        <p:spPr>
          <a:xfrm>
            <a:off x="713232" y="1673352"/>
            <a:ext cx="530352" cy="457200"/>
          </a:xfrm>
          <a:prstGeom prst="roundRect">
            <a:avLst>
              <a:gd name="adj" fmla="val 10000"/>
            </a:avLst>
          </a:prstGeom>
          <a:solidFill>
            <a:srgbClr val="2C6EAE"/>
          </a:solidFill>
          <a:ln w="12700">
            <a:solidFill>
              <a:srgbClr val="2C6EAE"/>
            </a:solidFill>
            <a:prstDash val="solid"/>
          </a:ln>
        </p:spPr>
      </p:sp>
      <p:sp>
        <p:nvSpPr>
          <p:cNvPr id="7" name="Text 5"/>
          <p:cNvSpPr/>
          <p:nvPr>
            <p:custDataLst>
              <p:tags r:id="rId3"/>
            </p:custDataLst>
          </p:nvPr>
        </p:nvSpPr>
        <p:spPr>
          <a:xfrm>
            <a:off x="804672" y="1801368"/>
            <a:ext cx="347472" cy="146304"/>
          </a:xfrm>
          <a:prstGeom prst="rect">
            <a:avLst/>
          </a:prstGeom>
          <a:noFill/>
        </p:spPr>
        <p:txBody>
          <a:bodyPr wrap="square" lIns="0" tIns="0" rIns="0" bIns="0" rtlCol="0" anchor="ctr">
            <a:normAutofit fontScale="90000"/>
          </a:bodyPr>
          <a:lstStyle/>
          <a:p>
            <a:pPr marL="0" indent="0" algn="ctr">
              <a:buNone/>
            </a:pPr>
            <a:r>
              <a:rPr lang="en-US" sz="1050" b="1" dirty="0">
                <a:solidFill>
                  <a:srgbClr val="FFFFFF"/>
                </a:solidFill>
                <a:latin typeface="Aptos" pitchFamily="34" charset="0"/>
                <a:ea typeface="Aptos" pitchFamily="34" charset="-122"/>
                <a:cs typeface="Aptos" pitchFamily="34" charset="-120"/>
              </a:rPr>
              <a:t>01</a:t>
            </a:r>
            <a:endParaRPr lang="en-US" sz="1050" dirty="0"/>
          </a:p>
        </p:txBody>
      </p:sp>
      <p:sp>
        <p:nvSpPr>
          <p:cNvPr id="8" name="Text 6"/>
          <p:cNvSpPr/>
          <p:nvPr>
            <p:custDataLst>
              <p:tags r:id="rId4"/>
            </p:custDataLst>
          </p:nvPr>
        </p:nvSpPr>
        <p:spPr>
          <a:xfrm>
            <a:off x="1481328" y="1664208"/>
            <a:ext cx="3200400" cy="182880"/>
          </a:xfrm>
          <a:prstGeom prst="rect">
            <a:avLst/>
          </a:prstGeom>
          <a:noFill/>
        </p:spPr>
        <p:txBody>
          <a:bodyPr wrap="square" lIns="0" tIns="0" rIns="0" bIns="0" rtlCol="0" anchor="ctr">
            <a:normAutofit/>
          </a:bodyPr>
          <a:lstStyle/>
          <a:p>
            <a:pPr marL="0" indent="0">
              <a:buNone/>
            </a:pPr>
            <a:r>
              <a:rPr lang="en-US" sz="1120" b="1" dirty="0">
                <a:solidFill>
                  <a:srgbClr val="153A5B"/>
                </a:solidFill>
                <a:latin typeface="Aptos" pitchFamily="34" charset="0"/>
                <a:ea typeface="Aptos" pitchFamily="34" charset="-122"/>
                <a:cs typeface="Aptos" pitchFamily="34" charset="-120"/>
              </a:rPr>
              <a:t>Manual process start</a:t>
            </a:r>
            <a:endParaRPr lang="en-US" sz="1120" dirty="0"/>
          </a:p>
        </p:txBody>
      </p:sp>
      <p:sp>
        <p:nvSpPr>
          <p:cNvPr id="9" name="Text 7"/>
          <p:cNvSpPr/>
          <p:nvPr>
            <p:custDataLst>
              <p:tags r:id="rId5"/>
            </p:custDataLst>
          </p:nvPr>
        </p:nvSpPr>
        <p:spPr>
          <a:xfrm>
            <a:off x="1481328" y="1892808"/>
            <a:ext cx="9646920" cy="201168"/>
          </a:xfrm>
          <a:prstGeom prst="rect">
            <a:avLst/>
          </a:prstGeom>
          <a:noFill/>
        </p:spPr>
        <p:txBody>
          <a:bodyPr wrap="square" lIns="0" tIns="0" rIns="0" bIns="0" rtlCol="0" anchor="ctr">
            <a:normAutofit/>
          </a:bodyPr>
          <a:lstStyle/>
          <a:p>
            <a:pPr marL="0" indent="0">
              <a:buNone/>
            </a:pPr>
            <a:r>
              <a:rPr lang="en-US" sz="920" dirty="0">
                <a:solidFill>
                  <a:srgbClr val="183044"/>
                </a:solidFill>
                <a:latin typeface="Aptos" pitchFamily="34" charset="0"/>
                <a:ea typeface="Aptos" pitchFamily="34" charset="-122"/>
                <a:cs typeface="Aptos" pitchFamily="34" charset="-120"/>
              </a:rPr>
              <a:t>Clicking Start process in Tasklist creates one process instance and presents Check supporting information as the first User Task.</a:t>
            </a:r>
            <a:endParaRPr lang="en-US" sz="920" dirty="0"/>
          </a:p>
        </p:txBody>
      </p:sp>
      <p:sp>
        <p:nvSpPr>
          <p:cNvPr id="10" name="Shape 8"/>
          <p:cNvSpPr/>
          <p:nvPr>
            <p:custDataLst>
              <p:tags r:id="rId6"/>
            </p:custDataLst>
          </p:nvPr>
        </p:nvSpPr>
        <p:spPr>
          <a:xfrm>
            <a:off x="548640" y="2386584"/>
            <a:ext cx="11064240" cy="749808"/>
          </a:xfrm>
          <a:prstGeom prst="roundRect">
            <a:avLst>
              <a:gd name="adj" fmla="val 7317"/>
            </a:avLst>
          </a:prstGeom>
          <a:solidFill>
            <a:srgbClr val="FFFFFF"/>
          </a:solidFill>
          <a:ln w="12700">
            <a:solidFill>
              <a:srgbClr val="C7D6E4"/>
            </a:solidFill>
            <a:prstDash val="solid"/>
          </a:ln>
        </p:spPr>
      </p:sp>
      <p:sp>
        <p:nvSpPr>
          <p:cNvPr id="11" name="Shape 9"/>
          <p:cNvSpPr/>
          <p:nvPr>
            <p:custDataLst>
              <p:tags r:id="rId7"/>
            </p:custDataLst>
          </p:nvPr>
        </p:nvSpPr>
        <p:spPr>
          <a:xfrm>
            <a:off x="713232" y="2532888"/>
            <a:ext cx="530352" cy="457200"/>
          </a:xfrm>
          <a:prstGeom prst="roundRect">
            <a:avLst>
              <a:gd name="adj" fmla="val 10000"/>
            </a:avLst>
          </a:prstGeom>
          <a:solidFill>
            <a:srgbClr val="087E8B"/>
          </a:solidFill>
          <a:ln w="12700">
            <a:solidFill>
              <a:srgbClr val="087E8B"/>
            </a:solidFill>
            <a:prstDash val="solid"/>
          </a:ln>
        </p:spPr>
      </p:sp>
      <p:sp>
        <p:nvSpPr>
          <p:cNvPr id="12" name="Text 10"/>
          <p:cNvSpPr/>
          <p:nvPr>
            <p:custDataLst>
              <p:tags r:id="rId8"/>
            </p:custDataLst>
          </p:nvPr>
        </p:nvSpPr>
        <p:spPr>
          <a:xfrm>
            <a:off x="804672" y="2660904"/>
            <a:ext cx="347472" cy="146304"/>
          </a:xfrm>
          <a:prstGeom prst="rect">
            <a:avLst/>
          </a:prstGeom>
          <a:noFill/>
        </p:spPr>
        <p:txBody>
          <a:bodyPr wrap="square" lIns="0" tIns="0" rIns="0" bIns="0" rtlCol="0" anchor="ctr">
            <a:normAutofit fontScale="90000"/>
          </a:bodyPr>
          <a:lstStyle/>
          <a:p>
            <a:pPr marL="0" indent="0" algn="ctr">
              <a:buNone/>
            </a:pPr>
            <a:r>
              <a:rPr lang="en-US" sz="1050" b="1" dirty="0">
                <a:solidFill>
                  <a:srgbClr val="FFFFFF"/>
                </a:solidFill>
                <a:latin typeface="Aptos" pitchFamily="34" charset="0"/>
                <a:ea typeface="Aptos" pitchFamily="34" charset="-122"/>
                <a:cs typeface="Aptos" pitchFamily="34" charset="-120"/>
              </a:rPr>
              <a:t>02</a:t>
            </a:r>
            <a:endParaRPr lang="en-US" sz="1050" dirty="0"/>
          </a:p>
        </p:txBody>
      </p:sp>
      <p:sp>
        <p:nvSpPr>
          <p:cNvPr id="13" name="Text 11"/>
          <p:cNvSpPr/>
          <p:nvPr>
            <p:custDataLst>
              <p:tags r:id="rId9"/>
            </p:custDataLst>
          </p:nvPr>
        </p:nvSpPr>
        <p:spPr>
          <a:xfrm>
            <a:off x="1481328" y="2523744"/>
            <a:ext cx="3200400" cy="182880"/>
          </a:xfrm>
          <a:prstGeom prst="rect">
            <a:avLst/>
          </a:prstGeom>
          <a:noFill/>
        </p:spPr>
        <p:txBody>
          <a:bodyPr wrap="square" lIns="0" tIns="0" rIns="0" bIns="0" rtlCol="0" anchor="ctr">
            <a:normAutofit/>
          </a:bodyPr>
          <a:lstStyle/>
          <a:p>
            <a:pPr marL="0" indent="0">
              <a:buNone/>
            </a:pPr>
            <a:r>
              <a:rPr lang="en-US" sz="1120" b="1" dirty="0">
                <a:solidFill>
                  <a:srgbClr val="153A5B"/>
                </a:solidFill>
                <a:latin typeface="Aptos" pitchFamily="34" charset="0"/>
                <a:ea typeface="Aptos" pitchFamily="34" charset="-122"/>
                <a:cs typeface="Aptos" pitchFamily="34" charset="-120"/>
              </a:rPr>
              <a:t>Mandatory gateway decisions</a:t>
            </a:r>
            <a:endParaRPr lang="en-US" sz="1120" dirty="0"/>
          </a:p>
        </p:txBody>
      </p:sp>
      <p:sp>
        <p:nvSpPr>
          <p:cNvPr id="14" name="Text 12"/>
          <p:cNvSpPr/>
          <p:nvPr>
            <p:custDataLst>
              <p:tags r:id="rId10"/>
            </p:custDataLst>
          </p:nvPr>
        </p:nvSpPr>
        <p:spPr>
          <a:xfrm>
            <a:off x="1481328" y="2752344"/>
            <a:ext cx="9646920" cy="201168"/>
          </a:xfrm>
          <a:prstGeom prst="rect">
            <a:avLst/>
          </a:prstGeom>
          <a:noFill/>
        </p:spPr>
        <p:txBody>
          <a:bodyPr wrap="square" lIns="0" tIns="0" rIns="0" bIns="0" rtlCol="0" anchor="ctr">
            <a:normAutofit/>
          </a:bodyPr>
          <a:lstStyle/>
          <a:p>
            <a:pPr marL="0" indent="0">
              <a:buNone/>
            </a:pPr>
            <a:r>
              <a:rPr lang="en-US" sz="920" dirty="0">
                <a:solidFill>
                  <a:srgbClr val="183044"/>
                </a:solidFill>
                <a:latin typeface="Aptos" pitchFamily="34" charset="0"/>
                <a:ea typeface="Aptos" pitchFamily="34" charset="-122"/>
                <a:cs typeface="Aptos" pitchFamily="34" charset="-120"/>
              </a:rPr>
              <a:t>Required form selections produce the matching yes/no or named gateway route; incomplete information follows the request-information route.</a:t>
            </a:r>
            <a:endParaRPr lang="en-US" sz="920" dirty="0"/>
          </a:p>
        </p:txBody>
      </p:sp>
      <p:sp>
        <p:nvSpPr>
          <p:cNvPr id="15" name="Shape 13"/>
          <p:cNvSpPr/>
          <p:nvPr>
            <p:custDataLst>
              <p:tags r:id="rId11"/>
            </p:custDataLst>
          </p:nvPr>
        </p:nvSpPr>
        <p:spPr>
          <a:xfrm>
            <a:off x="548640" y="3246120"/>
            <a:ext cx="11064240" cy="749808"/>
          </a:xfrm>
          <a:prstGeom prst="roundRect">
            <a:avLst>
              <a:gd name="adj" fmla="val 7317"/>
            </a:avLst>
          </a:prstGeom>
          <a:solidFill>
            <a:srgbClr val="FFFFFF"/>
          </a:solidFill>
          <a:ln w="12700">
            <a:solidFill>
              <a:srgbClr val="C7D6E4"/>
            </a:solidFill>
            <a:prstDash val="solid"/>
          </a:ln>
        </p:spPr>
      </p:sp>
      <p:sp>
        <p:nvSpPr>
          <p:cNvPr id="16" name="Shape 14"/>
          <p:cNvSpPr/>
          <p:nvPr>
            <p:custDataLst>
              <p:tags r:id="rId12"/>
            </p:custDataLst>
          </p:nvPr>
        </p:nvSpPr>
        <p:spPr>
          <a:xfrm>
            <a:off x="713232" y="3392424"/>
            <a:ext cx="530352" cy="457200"/>
          </a:xfrm>
          <a:prstGeom prst="roundRect">
            <a:avLst>
              <a:gd name="adj" fmla="val 10000"/>
            </a:avLst>
          </a:prstGeom>
          <a:solidFill>
            <a:srgbClr val="D59A32"/>
          </a:solidFill>
          <a:ln w="12700">
            <a:solidFill>
              <a:srgbClr val="D59A32"/>
            </a:solidFill>
            <a:prstDash val="solid"/>
          </a:ln>
        </p:spPr>
      </p:sp>
      <p:sp>
        <p:nvSpPr>
          <p:cNvPr id="17" name="Text 15"/>
          <p:cNvSpPr/>
          <p:nvPr>
            <p:custDataLst>
              <p:tags r:id="rId13"/>
            </p:custDataLst>
          </p:nvPr>
        </p:nvSpPr>
        <p:spPr>
          <a:xfrm>
            <a:off x="804672" y="3520440"/>
            <a:ext cx="347472" cy="146304"/>
          </a:xfrm>
          <a:prstGeom prst="rect">
            <a:avLst/>
          </a:prstGeom>
          <a:noFill/>
        </p:spPr>
        <p:txBody>
          <a:bodyPr wrap="square" lIns="0" tIns="0" rIns="0" bIns="0" rtlCol="0" anchor="ctr">
            <a:normAutofit fontScale="90000"/>
          </a:bodyPr>
          <a:lstStyle/>
          <a:p>
            <a:pPr marL="0" indent="0" algn="ctr">
              <a:buNone/>
            </a:pPr>
            <a:r>
              <a:rPr lang="en-US" sz="1050" b="1" dirty="0">
                <a:solidFill>
                  <a:srgbClr val="FFFFFF"/>
                </a:solidFill>
                <a:latin typeface="Aptos" pitchFamily="34" charset="0"/>
                <a:ea typeface="Aptos" pitchFamily="34" charset="-122"/>
                <a:cs typeface="Aptos" pitchFamily="34" charset="-120"/>
              </a:rPr>
              <a:t>03</a:t>
            </a:r>
            <a:endParaRPr lang="en-US" sz="1050" dirty="0"/>
          </a:p>
        </p:txBody>
      </p:sp>
      <p:sp>
        <p:nvSpPr>
          <p:cNvPr id="18" name="Text 16"/>
          <p:cNvSpPr/>
          <p:nvPr>
            <p:custDataLst>
              <p:tags r:id="rId14"/>
            </p:custDataLst>
          </p:nvPr>
        </p:nvSpPr>
        <p:spPr>
          <a:xfrm>
            <a:off x="1481328" y="3383280"/>
            <a:ext cx="3200400" cy="182880"/>
          </a:xfrm>
          <a:prstGeom prst="rect">
            <a:avLst/>
          </a:prstGeom>
          <a:noFill/>
        </p:spPr>
        <p:txBody>
          <a:bodyPr wrap="square" lIns="0" tIns="0" rIns="0" bIns="0" rtlCol="0" anchor="ctr">
            <a:normAutofit/>
          </a:bodyPr>
          <a:lstStyle/>
          <a:p>
            <a:pPr marL="0" indent="0">
              <a:buNone/>
            </a:pPr>
            <a:r>
              <a:rPr lang="en-US" sz="1120" b="1" dirty="0">
                <a:solidFill>
                  <a:srgbClr val="153A5B"/>
                </a:solidFill>
                <a:latin typeface="Aptos" pitchFamily="34" charset="0"/>
                <a:ea typeface="Aptos" pitchFamily="34" charset="-122"/>
                <a:cs typeface="Aptos" pitchFamily="34" charset="-120"/>
              </a:rPr>
              <a:t>Resolved alternative routes</a:t>
            </a:r>
            <a:endParaRPr lang="en-US" sz="1120" dirty="0"/>
          </a:p>
        </p:txBody>
      </p:sp>
      <p:sp>
        <p:nvSpPr>
          <p:cNvPr id="19" name="Text 17"/>
          <p:cNvSpPr/>
          <p:nvPr>
            <p:custDataLst>
              <p:tags r:id="rId15"/>
            </p:custDataLst>
          </p:nvPr>
        </p:nvSpPr>
        <p:spPr>
          <a:xfrm>
            <a:off x="1481328" y="3611880"/>
            <a:ext cx="9646920" cy="201168"/>
          </a:xfrm>
          <a:prstGeom prst="rect">
            <a:avLst/>
          </a:prstGeom>
          <a:noFill/>
        </p:spPr>
        <p:txBody>
          <a:bodyPr wrap="square" lIns="0" tIns="0" rIns="0" bIns="0" rtlCol="0" anchor="ctr">
            <a:noAutofit/>
          </a:bodyPr>
          <a:lstStyle/>
          <a:p>
            <a:pPr marL="0" indent="0">
              <a:buNone/>
            </a:pPr>
            <a:r>
              <a:rPr lang="en-US" sz="900" dirty="0">
                <a:solidFill>
                  <a:srgbClr val="183044"/>
                </a:solidFill>
                <a:latin typeface="Aptos" pitchFamily="34" charset="0"/>
                <a:ea typeface="Aptos" pitchFamily="34" charset="-122"/>
                <a:cs typeface="Aptos" pitchFamily="34" charset="-120"/>
              </a:rPr>
              <a:t>No-capacity(</a:t>
            </a:r>
            <a:r>
              <a:rPr lang="en-US" altLang="zh-CN" sz="900" dirty="0">
                <a:solidFill>
                  <a:srgbClr val="183044"/>
                </a:solidFill>
                <a:latin typeface="Aptos" pitchFamily="34" charset="0"/>
                <a:ea typeface="Aptos" pitchFamily="34" charset="-122"/>
                <a:cs typeface="Aptos" pitchFamily="34" charset="-120"/>
              </a:rPr>
              <a:t>referral-capacity-</a:t>
            </a:r>
            <a:r>
              <a:rPr lang="en-US" sz="900" dirty="0">
                <a:solidFill>
                  <a:srgbClr val="183044"/>
                </a:solidFill>
                <a:latin typeface="Aptos" pitchFamily="34" charset="0"/>
                <a:ea typeface="Aptos" pitchFamily="34" charset="-122"/>
                <a:cs typeface="Aptos" pitchFamily="34" charset="-120"/>
              </a:rPr>
              <a:t>resolution) and payment-exception routes(</a:t>
            </a:r>
            <a:r>
              <a:rPr lang="en-US" altLang="zh-CN" sz="900" dirty="0">
                <a:solidFill>
                  <a:srgbClr val="183044"/>
                </a:solidFill>
                <a:latin typeface="Aptos" pitchFamily="34" charset="0"/>
                <a:ea typeface="Aptos" pitchFamily="34" charset="-122"/>
                <a:cs typeface="Aptos" pitchFamily="34" charset="-120"/>
              </a:rPr>
              <a:t>treatment-payment-investigation</a:t>
            </a:r>
            <a:r>
              <a:rPr lang="en-US" sz="900" dirty="0">
                <a:solidFill>
                  <a:srgbClr val="183044"/>
                </a:solidFill>
                <a:latin typeface="Aptos" pitchFamily="34" charset="0"/>
                <a:ea typeface="Aptos" pitchFamily="34" charset="-122"/>
                <a:cs typeface="Aptos" pitchFamily="34" charset="-120"/>
              </a:rPr>
              <a:t>) require a human resolution: retry, manual/urgent handling, or a closed end state—without an uncontrolled loop.</a:t>
            </a:r>
            <a:endParaRPr lang="en-US" sz="900" dirty="0">
              <a:solidFill>
                <a:srgbClr val="183044"/>
              </a:solidFill>
              <a:latin typeface="Aptos" pitchFamily="34" charset="0"/>
              <a:ea typeface="Aptos" pitchFamily="34" charset="-122"/>
              <a:cs typeface="Aptos" pitchFamily="34" charset="-120"/>
            </a:endParaRPr>
          </a:p>
        </p:txBody>
      </p:sp>
      <p:sp>
        <p:nvSpPr>
          <p:cNvPr id="20" name="Shape 18"/>
          <p:cNvSpPr/>
          <p:nvPr>
            <p:custDataLst>
              <p:tags r:id="rId16"/>
            </p:custDataLst>
          </p:nvPr>
        </p:nvSpPr>
        <p:spPr>
          <a:xfrm>
            <a:off x="548640" y="4105656"/>
            <a:ext cx="11064240" cy="749808"/>
          </a:xfrm>
          <a:prstGeom prst="roundRect">
            <a:avLst>
              <a:gd name="adj" fmla="val 7317"/>
            </a:avLst>
          </a:prstGeom>
          <a:solidFill>
            <a:srgbClr val="FFFFFF"/>
          </a:solidFill>
          <a:ln w="12700">
            <a:solidFill>
              <a:srgbClr val="C7D6E4"/>
            </a:solidFill>
            <a:prstDash val="solid"/>
          </a:ln>
        </p:spPr>
      </p:sp>
      <p:sp>
        <p:nvSpPr>
          <p:cNvPr id="21" name="Shape 19"/>
          <p:cNvSpPr/>
          <p:nvPr>
            <p:custDataLst>
              <p:tags r:id="rId17"/>
            </p:custDataLst>
          </p:nvPr>
        </p:nvSpPr>
        <p:spPr>
          <a:xfrm>
            <a:off x="713232" y="4251960"/>
            <a:ext cx="530352" cy="457200"/>
          </a:xfrm>
          <a:prstGeom prst="roundRect">
            <a:avLst>
              <a:gd name="adj" fmla="val 10000"/>
            </a:avLst>
          </a:prstGeom>
          <a:solidFill>
            <a:srgbClr val="2C6EAE"/>
          </a:solidFill>
          <a:ln w="12700">
            <a:solidFill>
              <a:srgbClr val="2C6EAE"/>
            </a:solidFill>
            <a:prstDash val="solid"/>
          </a:ln>
        </p:spPr>
      </p:sp>
      <p:sp>
        <p:nvSpPr>
          <p:cNvPr id="22" name="Text 20"/>
          <p:cNvSpPr/>
          <p:nvPr>
            <p:custDataLst>
              <p:tags r:id="rId18"/>
            </p:custDataLst>
          </p:nvPr>
        </p:nvSpPr>
        <p:spPr>
          <a:xfrm>
            <a:off x="804672" y="4379976"/>
            <a:ext cx="347472" cy="146304"/>
          </a:xfrm>
          <a:prstGeom prst="rect">
            <a:avLst/>
          </a:prstGeom>
          <a:noFill/>
        </p:spPr>
        <p:txBody>
          <a:bodyPr wrap="square" lIns="0" tIns="0" rIns="0" bIns="0" rtlCol="0" anchor="ctr">
            <a:normAutofit fontScale="90000"/>
          </a:bodyPr>
          <a:lstStyle/>
          <a:p>
            <a:pPr marL="0" indent="0" algn="ctr">
              <a:buNone/>
            </a:pPr>
            <a:r>
              <a:rPr lang="en-US" sz="1050" b="1" dirty="0">
                <a:solidFill>
                  <a:srgbClr val="FFFFFF"/>
                </a:solidFill>
                <a:latin typeface="Aptos" pitchFamily="34" charset="0"/>
                <a:ea typeface="Aptos" pitchFamily="34" charset="-122"/>
                <a:cs typeface="Aptos" pitchFamily="34" charset="-120"/>
              </a:rPr>
              <a:t>04</a:t>
            </a:r>
            <a:endParaRPr lang="en-US" sz="1050" dirty="0"/>
          </a:p>
        </p:txBody>
      </p:sp>
      <p:sp>
        <p:nvSpPr>
          <p:cNvPr id="23" name="Text 21"/>
          <p:cNvSpPr/>
          <p:nvPr>
            <p:custDataLst>
              <p:tags r:id="rId19"/>
            </p:custDataLst>
          </p:nvPr>
        </p:nvSpPr>
        <p:spPr>
          <a:xfrm>
            <a:off x="1481328" y="4242816"/>
            <a:ext cx="3200400" cy="182880"/>
          </a:xfrm>
          <a:prstGeom prst="rect">
            <a:avLst/>
          </a:prstGeom>
          <a:noFill/>
        </p:spPr>
        <p:txBody>
          <a:bodyPr wrap="square" lIns="0" tIns="0" rIns="0" bIns="0" rtlCol="0" anchor="ctr">
            <a:normAutofit/>
          </a:bodyPr>
          <a:lstStyle/>
          <a:p>
            <a:pPr marL="0" indent="0">
              <a:buNone/>
            </a:pPr>
            <a:r>
              <a:rPr lang="en-US" sz="1120" b="1" dirty="0">
                <a:solidFill>
                  <a:srgbClr val="153A5B"/>
                </a:solidFill>
                <a:latin typeface="Aptos" pitchFamily="34" charset="0"/>
                <a:ea typeface="Aptos" pitchFamily="34" charset="-122"/>
                <a:cs typeface="Aptos" pitchFamily="34" charset="-120"/>
              </a:rPr>
              <a:t>Worker coverage</a:t>
            </a:r>
            <a:endParaRPr lang="en-US" sz="1120" dirty="0"/>
          </a:p>
        </p:txBody>
      </p:sp>
      <p:sp>
        <p:nvSpPr>
          <p:cNvPr id="24" name="Text 22"/>
          <p:cNvSpPr/>
          <p:nvPr>
            <p:custDataLst>
              <p:tags r:id="rId20"/>
            </p:custDataLst>
          </p:nvPr>
        </p:nvSpPr>
        <p:spPr>
          <a:xfrm>
            <a:off x="1481328" y="4471416"/>
            <a:ext cx="9646920" cy="201168"/>
          </a:xfrm>
          <a:prstGeom prst="rect">
            <a:avLst/>
          </a:prstGeom>
          <a:noFill/>
        </p:spPr>
        <p:txBody>
          <a:bodyPr wrap="square" lIns="0" tIns="0" rIns="0" bIns="0" rtlCol="0" anchor="ctr">
            <a:noAutofit/>
          </a:bodyPr>
          <a:lstStyle/>
          <a:p>
            <a:pPr marL="0" indent="0">
              <a:buNone/>
            </a:pPr>
            <a:r>
              <a:rPr lang="en-US" altLang="zh-CN" sz="900" dirty="0"/>
              <a:t>Every configured service-task type has a matching worker handler. Where an automated decision is required, the handler returns the variable used by the downstream gateway; other handlers record their execution outcome.</a:t>
            </a:r>
            <a:endParaRPr lang="en-US" altLang="zh-CN" sz="900" dirty="0"/>
          </a:p>
        </p:txBody>
      </p:sp>
      <p:sp>
        <p:nvSpPr>
          <p:cNvPr id="25" name="Shape 23"/>
          <p:cNvSpPr/>
          <p:nvPr>
            <p:custDataLst>
              <p:tags r:id="rId21"/>
            </p:custDataLst>
          </p:nvPr>
        </p:nvSpPr>
        <p:spPr>
          <a:xfrm>
            <a:off x="548640" y="4965192"/>
            <a:ext cx="11064240" cy="749808"/>
          </a:xfrm>
          <a:prstGeom prst="roundRect">
            <a:avLst>
              <a:gd name="adj" fmla="val 7317"/>
            </a:avLst>
          </a:prstGeom>
          <a:solidFill>
            <a:srgbClr val="FFFFFF"/>
          </a:solidFill>
          <a:ln w="12700">
            <a:solidFill>
              <a:srgbClr val="C7D6E4"/>
            </a:solidFill>
            <a:prstDash val="solid"/>
          </a:ln>
        </p:spPr>
      </p:sp>
      <p:sp>
        <p:nvSpPr>
          <p:cNvPr id="26" name="Shape 24"/>
          <p:cNvSpPr/>
          <p:nvPr>
            <p:custDataLst>
              <p:tags r:id="rId22"/>
            </p:custDataLst>
          </p:nvPr>
        </p:nvSpPr>
        <p:spPr>
          <a:xfrm>
            <a:off x="713232" y="5111496"/>
            <a:ext cx="530352" cy="457200"/>
          </a:xfrm>
          <a:prstGeom prst="roundRect">
            <a:avLst>
              <a:gd name="adj" fmla="val 10000"/>
            </a:avLst>
          </a:prstGeom>
          <a:solidFill>
            <a:srgbClr val="087E8B"/>
          </a:solidFill>
          <a:ln w="12700">
            <a:solidFill>
              <a:srgbClr val="087E8B"/>
            </a:solidFill>
            <a:prstDash val="solid"/>
          </a:ln>
        </p:spPr>
      </p:sp>
      <p:sp>
        <p:nvSpPr>
          <p:cNvPr id="27" name="Text 25"/>
          <p:cNvSpPr/>
          <p:nvPr>
            <p:custDataLst>
              <p:tags r:id="rId23"/>
            </p:custDataLst>
          </p:nvPr>
        </p:nvSpPr>
        <p:spPr>
          <a:xfrm>
            <a:off x="804672" y="5239512"/>
            <a:ext cx="347472" cy="146304"/>
          </a:xfrm>
          <a:prstGeom prst="rect">
            <a:avLst/>
          </a:prstGeom>
          <a:noFill/>
        </p:spPr>
        <p:txBody>
          <a:bodyPr wrap="square" lIns="0" tIns="0" rIns="0" bIns="0" rtlCol="0" anchor="ctr">
            <a:normAutofit fontScale="90000"/>
          </a:bodyPr>
          <a:lstStyle/>
          <a:p>
            <a:pPr marL="0" indent="0" algn="ctr">
              <a:buNone/>
            </a:pPr>
            <a:r>
              <a:rPr lang="en-US" sz="1050" b="1" dirty="0">
                <a:solidFill>
                  <a:srgbClr val="FFFFFF"/>
                </a:solidFill>
                <a:latin typeface="Aptos" pitchFamily="34" charset="0"/>
                <a:ea typeface="Aptos" pitchFamily="34" charset="-122"/>
                <a:cs typeface="Aptos" pitchFamily="34" charset="-120"/>
              </a:rPr>
              <a:t>05</a:t>
            </a:r>
            <a:endParaRPr lang="en-US" sz="1050" dirty="0"/>
          </a:p>
        </p:txBody>
      </p:sp>
      <p:sp>
        <p:nvSpPr>
          <p:cNvPr id="28" name="Text 26"/>
          <p:cNvSpPr/>
          <p:nvPr>
            <p:custDataLst>
              <p:tags r:id="rId24"/>
            </p:custDataLst>
          </p:nvPr>
        </p:nvSpPr>
        <p:spPr>
          <a:xfrm>
            <a:off x="1481328" y="5102352"/>
            <a:ext cx="3200400" cy="182880"/>
          </a:xfrm>
          <a:prstGeom prst="rect">
            <a:avLst/>
          </a:prstGeom>
          <a:noFill/>
        </p:spPr>
        <p:txBody>
          <a:bodyPr wrap="square" lIns="0" tIns="0" rIns="0" bIns="0" rtlCol="0" anchor="ctr">
            <a:normAutofit/>
          </a:bodyPr>
          <a:lstStyle/>
          <a:p>
            <a:pPr marL="0" indent="0">
              <a:buNone/>
            </a:pPr>
            <a:r>
              <a:rPr lang="en-US" sz="1120" b="1" dirty="0">
                <a:solidFill>
                  <a:srgbClr val="153A5B"/>
                </a:solidFill>
                <a:latin typeface="Aptos" pitchFamily="34" charset="0"/>
                <a:ea typeface="Aptos" pitchFamily="34" charset="-122"/>
                <a:cs typeface="Aptos" pitchFamily="34" charset="-120"/>
              </a:rPr>
              <a:t>Notification evidence</a:t>
            </a:r>
            <a:endParaRPr lang="en-US" sz="1120" dirty="0"/>
          </a:p>
        </p:txBody>
      </p:sp>
      <p:sp>
        <p:nvSpPr>
          <p:cNvPr id="29" name="Text 27"/>
          <p:cNvSpPr/>
          <p:nvPr>
            <p:custDataLst>
              <p:tags r:id="rId25"/>
            </p:custDataLst>
          </p:nvPr>
        </p:nvSpPr>
        <p:spPr>
          <a:xfrm>
            <a:off x="1481328" y="5330952"/>
            <a:ext cx="9646920" cy="201168"/>
          </a:xfrm>
          <a:prstGeom prst="rect">
            <a:avLst/>
          </a:prstGeom>
          <a:noFill/>
        </p:spPr>
        <p:txBody>
          <a:bodyPr wrap="square" lIns="0" tIns="0" rIns="0" bIns="0" rtlCol="0" anchor="ctr">
            <a:normAutofit/>
          </a:bodyPr>
          <a:lstStyle/>
          <a:p>
            <a:pPr marL="0" indent="0">
              <a:buNone/>
            </a:pPr>
            <a:r>
              <a:rPr lang="en-US" sz="920" dirty="0">
                <a:solidFill>
                  <a:srgbClr val="183044"/>
                </a:solidFill>
                <a:latin typeface="Aptos" pitchFamily="34" charset="0"/>
                <a:ea typeface="Aptos" pitchFamily="34" charset="-122"/>
                <a:cs typeface="Aptos" pitchFamily="34" charset="-120"/>
              </a:rPr>
              <a:t>Appointment and enquiry-resolution notifications record notificationSent, recipient, channel, content and send result in the worker output.</a:t>
            </a:r>
            <a:endParaRPr lang="en-US" sz="920" dirty="0"/>
          </a:p>
        </p:txBody>
      </p:sp>
      <p:sp>
        <p:nvSpPr>
          <p:cNvPr id="30" name="Shape 28"/>
          <p:cNvSpPr/>
          <p:nvPr/>
        </p:nvSpPr>
        <p:spPr>
          <a:xfrm>
            <a:off x="548640" y="5916168"/>
            <a:ext cx="11064240" cy="301752"/>
          </a:xfrm>
          <a:prstGeom prst="roundRect">
            <a:avLst>
              <a:gd name="adj" fmla="val 12121"/>
            </a:avLst>
          </a:prstGeom>
          <a:solidFill>
            <a:srgbClr val="E7F0F8"/>
          </a:solidFill>
          <a:ln w="12700">
            <a:solidFill>
              <a:srgbClr val="E7F0F8"/>
            </a:solidFill>
            <a:prstDash val="solid"/>
          </a:ln>
        </p:spPr>
      </p:sp>
      <p:sp>
        <p:nvSpPr>
          <p:cNvPr id="31" name="Text 29"/>
          <p:cNvSpPr/>
          <p:nvPr/>
        </p:nvSpPr>
        <p:spPr>
          <a:xfrm>
            <a:off x="-1617218" y="5971794"/>
            <a:ext cx="10652760" cy="146304"/>
          </a:xfrm>
          <a:prstGeom prst="rect">
            <a:avLst/>
          </a:prstGeom>
          <a:noFill/>
        </p:spPr>
        <p:txBody>
          <a:bodyPr wrap="square" lIns="0" tIns="0" rIns="0" bIns="0" rtlCol="0" anchor="ctr">
            <a:normAutofit/>
          </a:bodyPr>
          <a:lstStyle/>
          <a:p>
            <a:pPr marL="0" indent="0" algn="ctr">
              <a:buNone/>
            </a:pPr>
            <a:r>
              <a:rPr lang="en-US" sz="870" b="1" dirty="0">
                <a:solidFill>
                  <a:srgbClr val="153A5B"/>
                </a:solidFill>
                <a:latin typeface="Aptos" pitchFamily="34" charset="0"/>
                <a:ea typeface="Aptos" pitchFamily="34" charset="-122"/>
                <a:cs typeface="Aptos" pitchFamily="34" charset="-120"/>
              </a:rPr>
              <a:t>Demonstration evidence: Tasklist screenshots, completed form values, worker console logs and process-instance history.</a:t>
            </a:r>
            <a:endParaRPr lang="en-US" sz="870" dirty="0"/>
          </a:p>
        </p:txBody>
      </p:sp>
      <p:sp>
        <p:nvSpPr>
          <p:cNvPr id="32" name="Slide Number Placeholder 0"/>
          <p:cNvSpPr>
            <a:spLocks noGrp="1"/>
          </p:cNvSpPr>
          <p:nvPr>
            <p:ph type="sldNum" sz="quarter" idx="4294967295"/>
          </p:nvPr>
        </p:nvSpPr>
        <p:spPr>
          <a:xfrm>
            <a:off x="11795760" y="6455664"/>
            <a:ext cx="800000" cy="300000"/>
          </a:xfrm>
          <a:prstGeom prst="rect">
            <a:avLst/>
          </a:prstGeom>
        </p:spPr>
        <p:txBody>
          <a:bodyPr/>
          <a:lstStyle>
            <a:lvl1pPr>
              <a:defRPr sz="750">
                <a:solidFill>
                  <a:srgbClr val="60758A"/>
                </a:solidFill>
                <a:latin typeface="Aptos"/>
                <a:ea typeface="Aptos"/>
                <a:cs typeface="Aptos"/>
              </a:defRPr>
            </a:lvl1pPr>
          </a:lstStyle>
          <a:p>
            <a:pPr algn="l"/>
            <a:fld id="{F7021451-1387-4CA6-816F-3879F97B5CBC}" type="slidenum">
              <a:rPr lang="en-US" b="0"/>
            </a:fld>
            <a:endParaRPr lang="en-US"/>
          </a:p>
        </p:txBody>
      </p:sp>
      <p:pic>
        <p:nvPicPr>
          <p:cNvPr id="33" name="图片 32"/>
          <p:cNvPicPr>
            <a:picLocks noChangeAspect="1"/>
          </p:cNvPicPr>
          <p:nvPr>
            <p:custDataLst>
              <p:tags r:id="rId26"/>
            </p:custDataLst>
          </p:nvPr>
        </p:nvPicPr>
        <p:blipFill>
          <a:blip r:embed="rId27"/>
          <a:stretch>
            <a:fillRect/>
          </a:stretch>
        </p:blipFill>
        <p:spPr>
          <a:xfrm>
            <a:off x="8879840" y="3742690"/>
            <a:ext cx="933450" cy="615950"/>
          </a:xfrm>
          <a:prstGeom prst="rect">
            <a:avLst/>
          </a:prstGeom>
        </p:spPr>
      </p:pic>
      <p:pic>
        <p:nvPicPr>
          <p:cNvPr id="34" name="图片 33"/>
          <p:cNvPicPr>
            <a:picLocks noChangeAspect="1"/>
          </p:cNvPicPr>
          <p:nvPr>
            <p:custDataLst>
              <p:tags r:id="rId28"/>
            </p:custDataLst>
          </p:nvPr>
        </p:nvPicPr>
        <p:blipFill>
          <a:blip r:embed="rId29"/>
          <a:stretch>
            <a:fillRect/>
          </a:stretch>
        </p:blipFill>
        <p:spPr>
          <a:xfrm>
            <a:off x="9951085" y="3747770"/>
            <a:ext cx="1022350" cy="596900"/>
          </a:xfrm>
          <a:prstGeom prst="rect">
            <a:avLst/>
          </a:prstGeom>
        </p:spPr>
      </p:pic>
      <p:pic>
        <p:nvPicPr>
          <p:cNvPr id="36" name="图片 35"/>
          <p:cNvPicPr>
            <a:picLocks noChangeAspect="1"/>
          </p:cNvPicPr>
          <p:nvPr/>
        </p:nvPicPr>
        <p:blipFill>
          <a:blip r:embed="rId30"/>
          <a:stretch>
            <a:fillRect/>
          </a:stretch>
        </p:blipFill>
        <p:spPr>
          <a:xfrm>
            <a:off x="8150225" y="1310640"/>
            <a:ext cx="1092200" cy="1054100"/>
          </a:xfrm>
          <a:prstGeom prst="rect">
            <a:avLst/>
          </a:prstGeom>
        </p:spPr>
      </p:pic>
      <p:pic>
        <p:nvPicPr>
          <p:cNvPr id="37" name="图片 36"/>
          <p:cNvPicPr>
            <a:picLocks noChangeAspect="1"/>
          </p:cNvPicPr>
          <p:nvPr/>
        </p:nvPicPr>
        <p:blipFill>
          <a:blip r:embed="rId31"/>
          <a:stretch>
            <a:fillRect/>
          </a:stretch>
        </p:blipFill>
        <p:spPr>
          <a:xfrm>
            <a:off x="9137650" y="2292985"/>
            <a:ext cx="1990725" cy="1120140"/>
          </a:xfrm>
          <a:prstGeom prst="rect">
            <a:avLst/>
          </a:prstGeom>
        </p:spPr>
      </p:pic>
      <p:pic>
        <p:nvPicPr>
          <p:cNvPr id="38" name="图片 37"/>
          <p:cNvPicPr>
            <a:picLocks noChangeAspect="1"/>
          </p:cNvPicPr>
          <p:nvPr/>
        </p:nvPicPr>
        <p:blipFill>
          <a:blip r:embed="rId32"/>
          <a:stretch>
            <a:fillRect/>
          </a:stretch>
        </p:blipFill>
        <p:spPr>
          <a:xfrm>
            <a:off x="9705975" y="1814830"/>
            <a:ext cx="1422400" cy="279400"/>
          </a:xfrm>
          <a:prstGeom prst="rect">
            <a:avLst/>
          </a:prstGeom>
        </p:spPr>
      </p:pic>
      <p:pic>
        <p:nvPicPr>
          <p:cNvPr id="39" name="图片 38"/>
          <p:cNvPicPr>
            <a:picLocks noChangeAspect="1"/>
          </p:cNvPicPr>
          <p:nvPr/>
        </p:nvPicPr>
        <p:blipFill>
          <a:blip r:embed="rId33"/>
          <a:stretch>
            <a:fillRect/>
          </a:stretch>
        </p:blipFill>
        <p:spPr>
          <a:xfrm>
            <a:off x="7829550" y="5893435"/>
            <a:ext cx="2857500" cy="406400"/>
          </a:xfrm>
          <a:prstGeom prst="rect">
            <a:avLst/>
          </a:prstGeom>
        </p:spPr>
      </p:pic>
      <p:pic>
        <p:nvPicPr>
          <p:cNvPr id="35" name="图片 34"/>
          <p:cNvPicPr>
            <a:picLocks noChangeAspect="1"/>
          </p:cNvPicPr>
          <p:nvPr/>
        </p:nvPicPr>
        <p:blipFill>
          <a:blip r:embed="rId34"/>
          <a:stretch>
            <a:fillRect/>
          </a:stretch>
        </p:blipFill>
        <p:spPr>
          <a:xfrm>
            <a:off x="7354570" y="4629150"/>
            <a:ext cx="1227455" cy="631190"/>
          </a:xfrm>
          <a:prstGeom prst="rect">
            <a:avLst/>
          </a:prstGeom>
        </p:spPr>
      </p:pic>
      <p:pic>
        <p:nvPicPr>
          <p:cNvPr id="127" name="图片 126"/>
          <p:cNvPicPr>
            <a:picLocks noChangeAspect="1"/>
          </p:cNvPicPr>
          <p:nvPr/>
        </p:nvPicPr>
        <p:blipFill>
          <a:blip r:embed="rId35"/>
          <a:stretch>
            <a:fillRect/>
          </a:stretch>
        </p:blipFill>
        <p:spPr>
          <a:xfrm>
            <a:off x="8773160" y="4797425"/>
            <a:ext cx="3562350" cy="9709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矩形 30"/>
          <p:cNvSpPr>
            <a:spLocks noGrp="1"/>
          </p:cNvSpPr>
          <p:nvPr/>
        </p:nvSpPr>
        <p:spPr>
          <a:xfrm>
            <a:off x="685800" y="419100"/>
            <a:ext cx="10820400" cy="552450"/>
          </a:xfrm>
          <a:prstGeom prst="rect">
            <a:avLst/>
          </a:prstGeom>
          <a:noFill/>
          <a:ln w="0">
            <a:noFill/>
          </a:ln>
        </p:spPr>
        <p:txBody>
          <a:bodyPr wrap="square" lIns="0" tIns="0" rIns="0" bIns="0" anchor="ctr">
            <a:noAutofit/>
          </a:bodyPr>
          <a:lstStyle/>
          <a:p>
            <a:pPr algn="l">
              <a:defRPr sz="2850" b="1">
                <a:solidFill>
                  <a:srgbClr val="163247"/>
                </a:solidFill>
                <a:latin typeface="Segoe UI" panose="020B0502040204020203"/>
                <a:ea typeface="Segoe UI" panose="020B0502040204020203"/>
                <a:cs typeface="Segoe UI" panose="020B0502040204020203"/>
              </a:defRPr>
            </a:pPr>
            <a:r>
              <a:rPr sz="2850" b="1">
                <a:solidFill>
                  <a:srgbClr val="163247"/>
                </a:solidFill>
                <a:latin typeface="Segoe UI" panose="020B0502040204020203"/>
                <a:ea typeface="Segoe UI" panose="020B0502040204020203"/>
                <a:cs typeface="Segoe UI" panose="020B0502040204020203"/>
              </a:rPr>
              <a:t>Patient enquiry operational diagram</a:t>
            </a:r>
            <a:endParaRPr sz="2850" b="1">
              <a:solidFill>
                <a:srgbClr val="163247"/>
              </a:solidFill>
              <a:latin typeface="Segoe UI" panose="020B0502040204020203"/>
              <a:ea typeface="Segoe UI" panose="020B0502040204020203"/>
              <a:cs typeface="Segoe UI" panose="020B0502040204020203"/>
            </a:endParaRPr>
          </a:p>
        </p:txBody>
      </p:sp>
      <p:sp>
        <p:nvSpPr>
          <p:cNvPr id="2" name="矩形 1"/>
          <p:cNvSpPr>
            <a:spLocks noGrp="1"/>
          </p:cNvSpPr>
          <p:nvPr/>
        </p:nvSpPr>
        <p:spPr>
          <a:xfrm>
            <a:off x="685800" y="1009650"/>
            <a:ext cx="10820400" cy="276225"/>
          </a:xfrm>
          <a:prstGeom prst="rect">
            <a:avLst/>
          </a:prstGeom>
          <a:noFill/>
          <a:ln w="0">
            <a:noFill/>
          </a:ln>
        </p:spPr>
        <p:txBody>
          <a:bodyPr wrap="square" lIns="0" tIns="0" rIns="0" bIns="0" anchor="ctr">
            <a:noAutofit/>
          </a:bodyPr>
          <a:lstStyle/>
          <a:p>
            <a:pPr algn="l">
              <a:defRPr sz="1425" b="0">
                <a:solidFill>
                  <a:srgbClr val="586B78"/>
                </a:solidFill>
                <a:latin typeface="Segoe UI" panose="020B0502040204020203"/>
                <a:ea typeface="Segoe UI" panose="020B0502040204020203"/>
                <a:cs typeface="Segoe UI" panose="020B0502040204020203"/>
              </a:defRPr>
            </a:pPr>
            <a:r>
              <a:rPr sz="1425" b="0">
                <a:solidFill>
                  <a:srgbClr val="586B78"/>
                </a:solidFill>
                <a:latin typeface="Segoe UI" panose="020B0502040204020203"/>
                <a:ea typeface="Segoe UI" panose="020B0502040204020203"/>
                <a:cs typeface="Segoe UI" panose="020B0502040204020203"/>
              </a:rPr>
              <a:t>Standalone Camunda 8 process</a:t>
            </a:r>
            <a:endParaRPr sz="1425" b="0">
              <a:solidFill>
                <a:srgbClr val="586B78"/>
              </a:solidFill>
              <a:latin typeface="Segoe UI" panose="020B0502040204020203"/>
              <a:ea typeface="Segoe UI" panose="020B0502040204020203"/>
              <a:cs typeface="Segoe UI" panose="020B0502040204020203"/>
            </a:endParaRPr>
          </a:p>
        </p:txBody>
      </p:sp>
      <p:sp>
        <p:nvSpPr>
          <p:cNvPr id="3" name="矩形 2"/>
          <p:cNvSpPr>
            <a:spLocks noGrp="1"/>
          </p:cNvSpPr>
          <p:nvPr/>
        </p:nvSpPr>
        <p:spPr>
          <a:xfrm>
            <a:off x="762000" y="1609725"/>
            <a:ext cx="2381250" cy="723900"/>
          </a:xfrm>
          <a:prstGeom prst="rect">
            <a:avLst/>
          </a:prstGeom>
          <a:solidFill>
            <a:srgbClr val="E9F5F1"/>
          </a:solidFill>
          <a:ln w="19050">
            <a:solidFill>
              <a:srgbClr val="138477"/>
            </a:solidFill>
            <a:prstDash val="solid"/>
          </a:ln>
        </p:spPr>
        <p:txBody>
          <a:bodyPr wrap="square" lIns="95250" tIns="47625" rIns="95250" bIns="47625" anchor="ctr">
            <a:noAutofit/>
          </a:bodyPr>
          <a:lstStyle/>
          <a:p>
            <a:pPr algn="ctr">
              <a:defRPr sz="1575" b="0">
                <a:solidFill>
                  <a:srgbClr val="163247"/>
                </a:solidFill>
                <a:latin typeface="Segoe UI" panose="020B0502040204020203"/>
                <a:ea typeface="Segoe UI" panose="020B0502040204020203"/>
                <a:cs typeface="Segoe UI" panose="020B0502040204020203"/>
              </a:defRPr>
            </a:pPr>
            <a:r>
              <a:rPr sz="1575" b="0">
                <a:solidFill>
                  <a:srgbClr val="163247"/>
                </a:solidFill>
                <a:latin typeface="Segoe UI" panose="020B0502040204020203"/>
                <a:ea typeface="Segoe UI" panose="020B0502040204020203"/>
                <a:cs typeface="Segoe UI" panose="020B0502040204020203"/>
              </a:rPr>
              <a:t>External enquiry source</a:t>
            </a:r>
            <a:endParaRPr sz="1575" b="0">
              <a:solidFill>
                <a:srgbClr val="163247"/>
              </a:solidFill>
              <a:latin typeface="Segoe UI" panose="020B0502040204020203"/>
              <a:ea typeface="Segoe UI" panose="020B0502040204020203"/>
              <a:cs typeface="Segoe UI" panose="020B0502040204020203"/>
            </a:endParaRPr>
          </a:p>
        </p:txBody>
      </p:sp>
      <p:sp>
        <p:nvSpPr>
          <p:cNvPr id="4" name="矩形 3"/>
          <p:cNvSpPr>
            <a:spLocks noGrp="1"/>
          </p:cNvSpPr>
          <p:nvPr/>
        </p:nvSpPr>
        <p:spPr>
          <a:xfrm>
            <a:off x="762000" y="2876550"/>
            <a:ext cx="2381250" cy="723900"/>
          </a:xfrm>
          <a:prstGeom prst="rect">
            <a:avLst/>
          </a:prstGeom>
          <a:solidFill>
            <a:srgbClr val="EEF4F8"/>
          </a:solidFill>
          <a:ln w="19050">
            <a:solidFill>
              <a:srgbClr val="54738B"/>
            </a:solidFill>
            <a:prstDash val="solid"/>
          </a:ln>
        </p:spPr>
        <p:txBody>
          <a:bodyPr wrap="square" lIns="95250" tIns="47625" rIns="95250" bIns="47625" anchor="ctr">
            <a:noAutofit/>
          </a:bodyPr>
          <a:lstStyle/>
          <a:p>
            <a:pPr algn="ctr">
              <a:defRPr sz="1575" b="0">
                <a:solidFill>
                  <a:srgbClr val="163247"/>
                </a:solidFill>
                <a:latin typeface="Segoe UI" panose="020B0502040204020203"/>
                <a:ea typeface="Segoe UI" panose="020B0502040204020203"/>
                <a:cs typeface="Segoe UI" panose="020B0502040204020203"/>
              </a:defRPr>
            </a:pPr>
            <a:r>
              <a:rPr sz="1575" b="0">
                <a:solidFill>
                  <a:srgbClr val="163247"/>
                </a:solidFill>
                <a:latin typeface="Segoe UI" panose="020B0502040204020203"/>
                <a:ea typeface="Segoe UI" panose="020B0502040204020203"/>
                <a:cs typeface="Segoe UI" panose="020B0502040204020203"/>
              </a:rPr>
              <a:t>Tasklist manual start</a:t>
            </a:r>
            <a:endParaRPr sz="1575" b="0">
              <a:solidFill>
                <a:srgbClr val="163247"/>
              </a:solidFill>
              <a:latin typeface="Segoe UI" panose="020B0502040204020203"/>
              <a:ea typeface="Segoe UI" panose="020B0502040204020203"/>
              <a:cs typeface="Segoe UI" panose="020B0502040204020203"/>
            </a:endParaRPr>
          </a:p>
        </p:txBody>
      </p:sp>
      <p:sp>
        <p:nvSpPr>
          <p:cNvPr id="5" name="矩形 4"/>
          <p:cNvSpPr>
            <a:spLocks noGrp="1"/>
          </p:cNvSpPr>
          <p:nvPr/>
        </p:nvSpPr>
        <p:spPr>
          <a:xfrm>
            <a:off x="3638550" y="1609725"/>
            <a:ext cx="1809750" cy="723900"/>
          </a:xfrm>
          <a:prstGeom prst="rect">
            <a:avLst/>
          </a:prstGeom>
          <a:solidFill>
            <a:srgbClr val="FFFFFF"/>
          </a:solidFill>
          <a:ln w="19050">
            <a:solidFill>
              <a:srgbClr val="138477"/>
            </a:solidFill>
            <a:prstDash val="solid"/>
          </a:ln>
        </p:spPr>
        <p:txBody>
          <a:bodyPr wrap="square" lIns="95250" tIns="47625" rIns="95250" bIns="47625" anchor="ctr">
            <a:noAutofit/>
          </a:bodyPr>
          <a:lstStyle/>
          <a:p>
            <a:pPr algn="ctr">
              <a:defRPr sz="1575" b="0">
                <a:solidFill>
                  <a:srgbClr val="163247"/>
                </a:solidFill>
                <a:latin typeface="Segoe UI" panose="020B0502040204020203"/>
                <a:ea typeface="Segoe UI" panose="020B0502040204020203"/>
                <a:cs typeface="Segoe UI" panose="020B0502040204020203"/>
              </a:defRPr>
            </a:pPr>
            <a:r>
              <a:rPr sz="1575" b="0">
                <a:solidFill>
                  <a:srgbClr val="163247"/>
                </a:solidFill>
                <a:latin typeface="Segoe UI" panose="020B0502040204020203"/>
                <a:ea typeface="Segoe UI" panose="020B0502040204020203"/>
                <a:cs typeface="Segoe UI" panose="020B0502040204020203"/>
              </a:rPr>
              <a:t>Message start</a:t>
            </a:r>
            <a:endParaRPr sz="1575" b="0">
              <a:solidFill>
                <a:srgbClr val="163247"/>
              </a:solidFill>
              <a:latin typeface="Segoe UI" panose="020B0502040204020203"/>
              <a:ea typeface="Segoe UI" panose="020B0502040204020203"/>
              <a:cs typeface="Segoe UI" panose="020B0502040204020203"/>
            </a:endParaRPr>
          </a:p>
        </p:txBody>
      </p:sp>
      <p:sp>
        <p:nvSpPr>
          <p:cNvPr id="6" name="矩形 5"/>
          <p:cNvSpPr>
            <a:spLocks noGrp="1"/>
          </p:cNvSpPr>
          <p:nvPr/>
        </p:nvSpPr>
        <p:spPr>
          <a:xfrm>
            <a:off x="3638550" y="2876550"/>
            <a:ext cx="1809750" cy="723900"/>
          </a:xfrm>
          <a:prstGeom prst="rect">
            <a:avLst/>
          </a:prstGeom>
          <a:solidFill>
            <a:srgbClr val="FFFFFF"/>
          </a:solidFill>
          <a:ln w="19050">
            <a:solidFill>
              <a:srgbClr val="54738B"/>
            </a:solidFill>
            <a:prstDash val="solid"/>
          </a:ln>
        </p:spPr>
        <p:txBody>
          <a:bodyPr wrap="square" lIns="95250" tIns="47625" rIns="95250" bIns="47625" anchor="ctr">
            <a:noAutofit/>
          </a:bodyPr>
          <a:lstStyle/>
          <a:p>
            <a:pPr algn="ctr">
              <a:defRPr sz="1575" b="0">
                <a:solidFill>
                  <a:srgbClr val="163247"/>
                </a:solidFill>
                <a:latin typeface="Segoe UI" panose="020B0502040204020203"/>
                <a:ea typeface="Segoe UI" panose="020B0502040204020203"/>
                <a:cs typeface="Segoe UI" panose="020B0502040204020203"/>
              </a:defRPr>
            </a:pPr>
            <a:r>
              <a:rPr sz="1575" b="0">
                <a:solidFill>
                  <a:srgbClr val="163247"/>
                </a:solidFill>
                <a:latin typeface="Segoe UI" panose="020B0502040204020203"/>
                <a:ea typeface="Segoe UI" panose="020B0502040204020203"/>
                <a:cs typeface="Segoe UI" panose="020B0502040204020203"/>
              </a:rPr>
              <a:t>Start form</a:t>
            </a:r>
            <a:endParaRPr sz="1575" b="0">
              <a:solidFill>
                <a:srgbClr val="163247"/>
              </a:solidFill>
              <a:latin typeface="Segoe UI" panose="020B0502040204020203"/>
              <a:ea typeface="Segoe UI" panose="020B0502040204020203"/>
              <a:cs typeface="Segoe UI" panose="020B0502040204020203"/>
            </a:endParaRPr>
          </a:p>
        </p:txBody>
      </p:sp>
      <p:sp>
        <p:nvSpPr>
          <p:cNvPr id="7" name="矩形 6"/>
          <p:cNvSpPr>
            <a:spLocks noGrp="1"/>
          </p:cNvSpPr>
          <p:nvPr/>
        </p:nvSpPr>
        <p:spPr>
          <a:xfrm>
            <a:off x="5991225" y="2238375"/>
            <a:ext cx="1905000" cy="781050"/>
          </a:xfrm>
          <a:prstGeom prst="rect">
            <a:avLst/>
          </a:prstGeom>
          <a:solidFill>
            <a:srgbClr val="EEF4F8"/>
          </a:solidFill>
          <a:ln w="19050">
            <a:solidFill>
              <a:srgbClr val="54738B"/>
            </a:solidFill>
            <a:prstDash val="solid"/>
          </a:ln>
        </p:spPr>
        <p:txBody>
          <a:bodyPr wrap="square" lIns="95250" tIns="47625" rIns="95250" bIns="47625" anchor="ctr">
            <a:noAutofit/>
          </a:bodyPr>
          <a:lstStyle/>
          <a:p>
            <a:pPr algn="ctr">
              <a:defRPr sz="1500" b="0">
                <a:solidFill>
                  <a:srgbClr val="163247"/>
                </a:solidFill>
                <a:latin typeface="Segoe UI" panose="020B0502040204020203"/>
                <a:ea typeface="Segoe UI" panose="020B0502040204020203"/>
                <a:cs typeface="Segoe UI" panose="020B0502040204020203"/>
              </a:defRPr>
            </a:pPr>
            <a:r>
              <a:rPr sz="1500" b="0">
                <a:solidFill>
                  <a:srgbClr val="163247"/>
                </a:solidFill>
                <a:latin typeface="Segoe UI" panose="020B0502040204020203"/>
                <a:ea typeface="Segoe UI" panose="020B0502040204020203"/>
                <a:cs typeface="Segoe UI" panose="020B0502040204020203"/>
              </a:rPr>
              <a:t>Identify patient</a:t>
            </a:r>
            <a:endParaRPr sz="1500" b="0">
              <a:solidFill>
                <a:srgbClr val="163247"/>
              </a:solidFill>
              <a:latin typeface="Segoe UI" panose="020B0502040204020203"/>
              <a:ea typeface="Segoe UI" panose="020B0502040204020203"/>
              <a:cs typeface="Segoe UI" panose="020B0502040204020203"/>
            </a:endParaRPr>
          </a:p>
          <a:p>
            <a:pPr algn="ctr">
              <a:defRPr sz="1500" b="0">
                <a:solidFill>
                  <a:srgbClr val="163247"/>
                </a:solidFill>
                <a:latin typeface="Segoe UI" panose="020B0502040204020203"/>
                <a:ea typeface="Segoe UI" panose="020B0502040204020203"/>
                <a:cs typeface="Segoe UI" panose="020B0502040204020203"/>
              </a:defRPr>
            </a:pPr>
            <a:r>
              <a:rPr sz="1500" b="0">
                <a:solidFill>
                  <a:srgbClr val="163247"/>
                </a:solidFill>
                <a:latin typeface="Segoe UI" panose="020B0502040204020203"/>
                <a:ea typeface="Segoe UI" panose="020B0502040204020203"/>
                <a:cs typeface="Segoe UI" panose="020B0502040204020203"/>
              </a:rPr>
              <a:t>Java worker</a:t>
            </a:r>
            <a:endParaRPr sz="1500" b="0">
              <a:solidFill>
                <a:srgbClr val="163247"/>
              </a:solidFill>
              <a:latin typeface="Segoe UI" panose="020B0502040204020203"/>
              <a:ea typeface="Segoe UI" panose="020B0502040204020203"/>
              <a:cs typeface="Segoe UI" panose="020B0502040204020203"/>
            </a:endParaRPr>
          </a:p>
        </p:txBody>
      </p:sp>
      <p:sp>
        <p:nvSpPr>
          <p:cNvPr id="8" name="矩形 7"/>
          <p:cNvSpPr>
            <a:spLocks noGrp="1"/>
          </p:cNvSpPr>
          <p:nvPr/>
        </p:nvSpPr>
        <p:spPr>
          <a:xfrm>
            <a:off x="8420100" y="2238375"/>
            <a:ext cx="2714625" cy="781050"/>
          </a:xfrm>
          <a:prstGeom prst="rect">
            <a:avLst/>
          </a:prstGeom>
          <a:solidFill>
            <a:srgbClr val="EEF4F8"/>
          </a:solidFill>
          <a:ln w="19050">
            <a:solidFill>
              <a:srgbClr val="54738B"/>
            </a:solidFill>
            <a:prstDash val="solid"/>
          </a:ln>
        </p:spPr>
        <p:txBody>
          <a:bodyPr wrap="square" lIns="95250" tIns="47625" rIns="95250" bIns="47625" anchor="ctr">
            <a:noAutofit/>
          </a:bodyPr>
          <a:lstStyle/>
          <a:p>
            <a:pPr algn="ctr">
              <a:defRPr sz="1500" b="0">
                <a:solidFill>
                  <a:srgbClr val="163247"/>
                </a:solidFill>
                <a:latin typeface="Segoe UI" panose="020B0502040204020203"/>
                <a:ea typeface="Segoe UI" panose="020B0502040204020203"/>
                <a:cs typeface="Segoe UI" panose="020B0502040204020203"/>
              </a:defRPr>
            </a:pPr>
            <a:r>
              <a:rPr sz="1500" b="0">
                <a:solidFill>
                  <a:srgbClr val="163247"/>
                </a:solidFill>
                <a:latin typeface="Segoe UI" panose="020B0502040204020203"/>
                <a:ea typeface="Segoe UI" panose="020B0502040204020203"/>
                <a:cs typeface="Segoe UI" panose="020B0502040204020203"/>
              </a:rPr>
              <a:t>Record and classify</a:t>
            </a:r>
            <a:endParaRPr sz="1500" b="0">
              <a:solidFill>
                <a:srgbClr val="163247"/>
              </a:solidFill>
              <a:latin typeface="Segoe UI" panose="020B0502040204020203"/>
              <a:ea typeface="Segoe UI" panose="020B0502040204020203"/>
              <a:cs typeface="Segoe UI" panose="020B0502040204020203"/>
            </a:endParaRPr>
          </a:p>
          <a:p>
            <a:pPr algn="ctr">
              <a:defRPr sz="1500" b="0">
                <a:solidFill>
                  <a:srgbClr val="163247"/>
                </a:solidFill>
                <a:latin typeface="Segoe UI" panose="020B0502040204020203"/>
                <a:ea typeface="Segoe UI" panose="020B0502040204020203"/>
                <a:cs typeface="Segoe UI" panose="020B0502040204020203"/>
              </a:defRPr>
            </a:pPr>
            <a:r>
              <a:rPr sz="1500" b="0">
                <a:solidFill>
                  <a:srgbClr val="163247"/>
                </a:solidFill>
                <a:latin typeface="Segoe UI" panose="020B0502040204020203"/>
                <a:ea typeface="Segoe UI" panose="020B0502040204020203"/>
                <a:cs typeface="Segoe UI" panose="020B0502040204020203"/>
              </a:rPr>
              <a:t>Call handling</a:t>
            </a:r>
            <a:endParaRPr sz="1500" b="0">
              <a:solidFill>
                <a:srgbClr val="163247"/>
              </a:solidFill>
              <a:latin typeface="Segoe UI" panose="020B0502040204020203"/>
              <a:ea typeface="Segoe UI" panose="020B0502040204020203"/>
              <a:cs typeface="Segoe UI" panose="020B0502040204020203"/>
            </a:endParaRPr>
          </a:p>
        </p:txBody>
      </p:sp>
      <p:cxnSp>
        <p:nvCxnSpPr>
          <p:cNvPr id="39" name="直接箭头连接符 38"/>
          <p:cNvCxnSpPr>
            <a:stCxn id="3" idx="3"/>
            <a:endCxn id="5" idx="1"/>
          </p:cNvCxnSpPr>
          <p:nvPr/>
        </p:nvCxnSpPr>
        <p:spPr>
          <a:xfrm>
            <a:off x="3143250" y="1971675"/>
            <a:ext cx="495300" cy="0"/>
          </a:xfrm>
          <a:prstGeom prst="straightConnector1">
            <a:avLst/>
          </a:prstGeom>
          <a:ln w="23813">
            <a:solidFill>
              <a:srgbClr val="138477"/>
            </a:solidFill>
            <a:prstDash val="dash"/>
            <a:tailEnd type="arrow" w="med" len="med"/>
          </a:ln>
        </p:spPr>
      </p:cxnSp>
      <p:cxnSp>
        <p:nvCxnSpPr>
          <p:cNvPr id="40" name="直接箭头连接符 39"/>
          <p:cNvCxnSpPr>
            <a:stCxn id="4" idx="3"/>
            <a:endCxn id="6" idx="1"/>
          </p:cNvCxnSpPr>
          <p:nvPr/>
        </p:nvCxnSpPr>
        <p:spPr>
          <a:xfrm>
            <a:off x="3143250" y="3238500"/>
            <a:ext cx="495300" cy="0"/>
          </a:xfrm>
          <a:prstGeom prst="straightConnector1">
            <a:avLst/>
          </a:prstGeom>
          <a:ln w="23813">
            <a:solidFill>
              <a:srgbClr val="54738B"/>
            </a:solidFill>
            <a:prstDash val="solid"/>
            <a:tailEnd type="arrow" w="med" len="med"/>
          </a:ln>
        </p:spPr>
      </p:cxnSp>
      <p:cxnSp>
        <p:nvCxnSpPr>
          <p:cNvPr id="41" name="肘形连接符 40"/>
          <p:cNvCxnSpPr>
            <a:stCxn id="5" idx="3"/>
            <a:endCxn id="7" idx="1"/>
          </p:cNvCxnSpPr>
          <p:nvPr/>
        </p:nvCxnSpPr>
        <p:spPr>
          <a:xfrm>
            <a:off x="5448300" y="1971675"/>
            <a:ext cx="542925" cy="657225"/>
          </a:xfrm>
          <a:prstGeom prst="bentConnector3">
            <a:avLst>
              <a:gd name="adj1" fmla="val 50000"/>
            </a:avLst>
          </a:prstGeom>
          <a:ln w="23813">
            <a:solidFill>
              <a:srgbClr val="138477"/>
            </a:solidFill>
            <a:prstDash val="solid"/>
            <a:tailEnd type="arrow" w="med" len="med"/>
          </a:ln>
        </p:spPr>
      </p:cxnSp>
      <p:cxnSp>
        <p:nvCxnSpPr>
          <p:cNvPr id="42" name="肘形连接符 41"/>
          <p:cNvCxnSpPr>
            <a:stCxn id="6" idx="3"/>
            <a:endCxn id="7" idx="1"/>
          </p:cNvCxnSpPr>
          <p:nvPr/>
        </p:nvCxnSpPr>
        <p:spPr>
          <a:xfrm flipV="1">
            <a:off x="5448300" y="2628900"/>
            <a:ext cx="542925" cy="609600"/>
          </a:xfrm>
          <a:prstGeom prst="bentConnector3">
            <a:avLst>
              <a:gd name="adj1" fmla="val 50000"/>
            </a:avLst>
          </a:prstGeom>
          <a:ln w="23813">
            <a:solidFill>
              <a:srgbClr val="54738B"/>
            </a:solidFill>
            <a:prstDash val="solid"/>
            <a:tailEnd type="arrow" w="med" len="med"/>
          </a:ln>
        </p:spPr>
      </p:cxnSp>
      <p:cxnSp>
        <p:nvCxnSpPr>
          <p:cNvPr id="43" name="直接箭头连接符 42"/>
          <p:cNvCxnSpPr>
            <a:stCxn id="7" idx="3"/>
            <a:endCxn id="8" idx="1"/>
          </p:cNvCxnSpPr>
          <p:nvPr/>
        </p:nvCxnSpPr>
        <p:spPr>
          <a:xfrm>
            <a:off x="7896225" y="2628900"/>
            <a:ext cx="523875" cy="0"/>
          </a:xfrm>
          <a:prstGeom prst="straightConnector1">
            <a:avLst/>
          </a:prstGeom>
          <a:ln w="23813">
            <a:solidFill>
              <a:srgbClr val="163247"/>
            </a:solidFill>
            <a:prstDash val="solid"/>
            <a:tailEnd type="arrow" w="med" len="med"/>
          </a:ln>
        </p:spPr>
      </p:cxnSp>
      <p:sp>
        <p:nvSpPr>
          <p:cNvPr id="14" name="矩形 13"/>
          <p:cNvSpPr>
            <a:spLocks noGrp="1"/>
          </p:cNvSpPr>
          <p:nvPr/>
        </p:nvSpPr>
        <p:spPr>
          <a:xfrm>
            <a:off x="762000" y="3733800"/>
            <a:ext cx="2667000" cy="285750"/>
          </a:xfrm>
          <a:prstGeom prst="rect">
            <a:avLst/>
          </a:prstGeom>
          <a:noFill/>
          <a:ln w="0">
            <a:noFill/>
          </a:ln>
        </p:spPr>
        <p:txBody>
          <a:bodyPr wrap="square" lIns="0" tIns="0" rIns="0" bIns="0" anchor="ctr">
            <a:noAutofit/>
          </a:bodyPr>
          <a:lstStyle/>
          <a:p>
            <a:pPr algn="l">
              <a:defRPr sz="1650" b="1">
                <a:solidFill>
                  <a:srgbClr val="163247"/>
                </a:solidFill>
                <a:latin typeface="Segoe UI" panose="020B0502040204020203"/>
                <a:ea typeface="Segoe UI" panose="020B0502040204020203"/>
                <a:cs typeface="Segoe UI" panose="020B0502040204020203"/>
              </a:defRPr>
            </a:pPr>
            <a:r>
              <a:rPr sz="1650" b="1">
                <a:solidFill>
                  <a:srgbClr val="163247"/>
                </a:solidFill>
                <a:latin typeface="Segoe UI" panose="020B0502040204020203"/>
                <a:ea typeface="Segoe UI" panose="020B0502040204020203"/>
                <a:cs typeface="Segoe UI" panose="020B0502040204020203"/>
              </a:rPr>
              <a:t>Response route</a:t>
            </a:r>
            <a:endParaRPr sz="1650" b="1">
              <a:solidFill>
                <a:srgbClr val="163247"/>
              </a:solidFill>
              <a:latin typeface="Segoe UI" panose="020B0502040204020203"/>
              <a:ea typeface="Segoe UI" panose="020B0502040204020203"/>
              <a:cs typeface="Segoe UI" panose="020B0502040204020203"/>
            </a:endParaRPr>
          </a:p>
        </p:txBody>
      </p:sp>
      <p:sp>
        <p:nvSpPr>
          <p:cNvPr id="15" name="矩形 14"/>
          <p:cNvSpPr>
            <a:spLocks noGrp="1"/>
          </p:cNvSpPr>
          <p:nvPr/>
        </p:nvSpPr>
        <p:spPr>
          <a:xfrm>
            <a:off x="762000" y="4076700"/>
            <a:ext cx="10372725" cy="962025"/>
          </a:xfrm>
          <a:prstGeom prst="rect">
            <a:avLst/>
          </a:prstGeom>
          <a:solidFill>
            <a:srgbClr val="F7FAFB"/>
          </a:solidFill>
          <a:ln w="14288">
            <a:solidFill>
              <a:srgbClr val="D5E1E8"/>
            </a:solidFill>
            <a:prstDash val="solid"/>
          </a:ln>
        </p:spPr>
      </p:sp>
      <p:sp>
        <p:nvSpPr>
          <p:cNvPr id="16" name="矩形 15"/>
          <p:cNvSpPr>
            <a:spLocks noGrp="1"/>
          </p:cNvSpPr>
          <p:nvPr/>
        </p:nvSpPr>
        <p:spPr>
          <a:xfrm>
            <a:off x="790575" y="4229100"/>
            <a:ext cx="2543175" cy="647700"/>
          </a:xfrm>
          <a:prstGeom prst="rect">
            <a:avLst/>
          </a:prstGeom>
          <a:noFill/>
          <a:ln w="0">
            <a:noFill/>
          </a:ln>
        </p:spPr>
        <p:txBody>
          <a:bodyPr wrap="square" lIns="0" tIns="0" rIns="0" bIns="0" anchor="ctr">
            <a:noAutofit/>
          </a:bodyPr>
          <a:lstStyle/>
          <a:p>
            <a:pPr algn="ctr">
              <a:defRPr sz="1500" b="1">
                <a:solidFill>
                  <a:srgbClr val="163247"/>
                </a:solidFill>
                <a:latin typeface="Segoe UI" panose="020B0502040204020203"/>
                <a:ea typeface="Segoe UI" panose="020B0502040204020203"/>
                <a:cs typeface="Segoe UI" panose="020B0502040204020203"/>
              </a:defRPr>
            </a:pPr>
            <a:r>
              <a:rPr sz="1500" b="1">
                <a:solidFill>
                  <a:srgbClr val="163247"/>
                </a:solidFill>
                <a:latin typeface="Segoe UI" panose="020B0502040204020203"/>
                <a:ea typeface="Segoe UI" panose="020B0502040204020203"/>
                <a:cs typeface="Segoe UI" panose="020B0502040204020203"/>
              </a:rPr>
              <a:t>Administrative</a:t>
            </a:r>
            <a:endParaRPr sz="1500" b="1">
              <a:solidFill>
                <a:srgbClr val="163247"/>
              </a:solidFill>
              <a:latin typeface="Segoe UI" panose="020B0502040204020203"/>
              <a:ea typeface="Segoe UI" panose="020B0502040204020203"/>
              <a:cs typeface="Segoe UI" panose="020B0502040204020203"/>
            </a:endParaRPr>
          </a:p>
        </p:txBody>
      </p:sp>
      <p:sp>
        <p:nvSpPr>
          <p:cNvPr id="17" name="矩形 16"/>
          <p:cNvSpPr>
            <a:spLocks noGrp="1"/>
          </p:cNvSpPr>
          <p:nvPr/>
        </p:nvSpPr>
        <p:spPr>
          <a:xfrm>
            <a:off x="3381375" y="4229100"/>
            <a:ext cx="2543175" cy="647700"/>
          </a:xfrm>
          <a:prstGeom prst="rect">
            <a:avLst/>
          </a:prstGeom>
          <a:noFill/>
          <a:ln w="0">
            <a:noFill/>
          </a:ln>
        </p:spPr>
        <p:txBody>
          <a:bodyPr wrap="square" lIns="0" tIns="0" rIns="0" bIns="0" anchor="ctr">
            <a:noAutofit/>
          </a:bodyPr>
          <a:lstStyle/>
          <a:p>
            <a:pPr algn="ctr">
              <a:defRPr sz="1500" b="1">
                <a:solidFill>
                  <a:srgbClr val="163247"/>
                </a:solidFill>
                <a:latin typeface="Segoe UI" panose="020B0502040204020203"/>
                <a:ea typeface="Segoe UI" panose="020B0502040204020203"/>
                <a:cs typeface="Segoe UI" panose="020B0502040204020203"/>
              </a:defRPr>
            </a:pPr>
            <a:r>
              <a:rPr sz="1500" b="1">
                <a:solidFill>
                  <a:srgbClr val="163247"/>
                </a:solidFill>
                <a:latin typeface="Segoe UI" panose="020B0502040204020203"/>
                <a:ea typeface="Segoe UI" panose="020B0502040204020203"/>
                <a:cs typeface="Segoe UI" panose="020B0502040204020203"/>
              </a:rPr>
              <a:t>Appointment</a:t>
            </a:r>
            <a:endParaRPr sz="1500" b="1">
              <a:solidFill>
                <a:srgbClr val="163247"/>
              </a:solidFill>
              <a:latin typeface="Segoe UI" panose="020B0502040204020203"/>
              <a:ea typeface="Segoe UI" panose="020B0502040204020203"/>
              <a:cs typeface="Segoe UI" panose="020B0502040204020203"/>
            </a:endParaRPr>
          </a:p>
        </p:txBody>
      </p:sp>
      <p:sp>
        <p:nvSpPr>
          <p:cNvPr id="18" name="矩形 17"/>
          <p:cNvSpPr>
            <a:spLocks noGrp="1"/>
          </p:cNvSpPr>
          <p:nvPr/>
        </p:nvSpPr>
        <p:spPr>
          <a:xfrm>
            <a:off x="5972175" y="4229100"/>
            <a:ext cx="2543175" cy="647700"/>
          </a:xfrm>
          <a:prstGeom prst="rect">
            <a:avLst/>
          </a:prstGeom>
          <a:noFill/>
          <a:ln w="0">
            <a:noFill/>
          </a:ln>
        </p:spPr>
        <p:txBody>
          <a:bodyPr wrap="square" lIns="0" tIns="0" rIns="0" bIns="0" anchor="ctr">
            <a:noAutofit/>
          </a:bodyPr>
          <a:lstStyle/>
          <a:p>
            <a:pPr algn="ctr">
              <a:defRPr sz="1500" b="1">
                <a:solidFill>
                  <a:srgbClr val="163247"/>
                </a:solidFill>
                <a:latin typeface="Segoe UI" panose="020B0502040204020203"/>
                <a:ea typeface="Segoe UI" panose="020B0502040204020203"/>
                <a:cs typeface="Segoe UI" panose="020B0502040204020203"/>
              </a:defRPr>
            </a:pPr>
            <a:r>
              <a:rPr sz="1500" b="1">
                <a:solidFill>
                  <a:srgbClr val="163247"/>
                </a:solidFill>
                <a:latin typeface="Segoe UI" panose="020B0502040204020203"/>
                <a:ea typeface="Segoe UI" panose="020B0502040204020203"/>
                <a:cs typeface="Segoe UI" panose="020B0502040204020203"/>
              </a:rPr>
              <a:t>Finance</a:t>
            </a:r>
            <a:endParaRPr sz="1500" b="1">
              <a:solidFill>
                <a:srgbClr val="163247"/>
              </a:solidFill>
              <a:latin typeface="Segoe UI" panose="020B0502040204020203"/>
              <a:ea typeface="Segoe UI" panose="020B0502040204020203"/>
              <a:cs typeface="Segoe UI" panose="020B0502040204020203"/>
            </a:endParaRPr>
          </a:p>
        </p:txBody>
      </p:sp>
      <p:sp>
        <p:nvSpPr>
          <p:cNvPr id="19" name="矩形 18"/>
          <p:cNvSpPr>
            <a:spLocks noGrp="1"/>
          </p:cNvSpPr>
          <p:nvPr/>
        </p:nvSpPr>
        <p:spPr>
          <a:xfrm>
            <a:off x="8562975" y="4229100"/>
            <a:ext cx="2543175" cy="647700"/>
          </a:xfrm>
          <a:prstGeom prst="rect">
            <a:avLst/>
          </a:prstGeom>
          <a:noFill/>
          <a:ln w="0">
            <a:noFill/>
          </a:ln>
        </p:spPr>
        <p:txBody>
          <a:bodyPr wrap="square" lIns="0" tIns="0" rIns="0" bIns="0" anchor="ctr">
            <a:noAutofit/>
          </a:bodyPr>
          <a:lstStyle/>
          <a:p>
            <a:pPr algn="ctr">
              <a:defRPr sz="1500" b="1">
                <a:solidFill>
                  <a:srgbClr val="163247"/>
                </a:solidFill>
                <a:latin typeface="Segoe UI" panose="020B0502040204020203"/>
                <a:ea typeface="Segoe UI" panose="020B0502040204020203"/>
                <a:cs typeface="Segoe UI" panose="020B0502040204020203"/>
              </a:defRPr>
            </a:pPr>
            <a:r>
              <a:rPr sz="1500" b="1">
                <a:solidFill>
                  <a:srgbClr val="163247"/>
                </a:solidFill>
                <a:latin typeface="Segoe UI" panose="020B0502040204020203"/>
                <a:ea typeface="Segoe UI" panose="020B0502040204020203"/>
                <a:cs typeface="Segoe UI" panose="020B0502040204020203"/>
              </a:rPr>
              <a:t>Clinical triage</a:t>
            </a:r>
            <a:endParaRPr sz="1500" b="1">
              <a:solidFill>
                <a:srgbClr val="163247"/>
              </a:solidFill>
              <a:latin typeface="Segoe UI" panose="020B0502040204020203"/>
              <a:ea typeface="Segoe UI" panose="020B0502040204020203"/>
              <a:cs typeface="Segoe UI" panose="020B0502040204020203"/>
            </a:endParaRPr>
          </a:p>
          <a:p>
            <a:pPr algn="ctr">
              <a:defRPr sz="1500" b="1">
                <a:solidFill>
                  <a:srgbClr val="163247"/>
                </a:solidFill>
                <a:latin typeface="Segoe UI" panose="020B0502040204020203"/>
                <a:ea typeface="Segoe UI" panose="020B0502040204020203"/>
                <a:cs typeface="Segoe UI" panose="020B0502040204020203"/>
              </a:defRPr>
            </a:pPr>
            <a:r>
              <a:rPr sz="1500" b="1">
                <a:solidFill>
                  <a:srgbClr val="163247"/>
                </a:solidFill>
                <a:latin typeface="Segoe UI" panose="020B0502040204020203"/>
                <a:ea typeface="Segoe UI" panose="020B0502040204020203"/>
                <a:cs typeface="Segoe UI" panose="020B0502040204020203"/>
              </a:rPr>
              <a:t>Routine or urgent</a:t>
            </a:r>
            <a:endParaRPr sz="1500" b="1">
              <a:solidFill>
                <a:srgbClr val="163247"/>
              </a:solidFill>
              <a:latin typeface="Segoe UI" panose="020B0502040204020203"/>
              <a:ea typeface="Segoe UI" panose="020B0502040204020203"/>
              <a:cs typeface="Segoe UI" panose="020B0502040204020203"/>
            </a:endParaRPr>
          </a:p>
        </p:txBody>
      </p:sp>
      <p:sp>
        <p:nvSpPr>
          <p:cNvPr id="20" name="矩形 19"/>
          <p:cNvSpPr>
            <a:spLocks noGrp="1"/>
          </p:cNvSpPr>
          <p:nvPr/>
        </p:nvSpPr>
        <p:spPr>
          <a:xfrm>
            <a:off x="3352800" y="4219575"/>
            <a:ext cx="14288" cy="666750"/>
          </a:xfrm>
          <a:prstGeom prst="rect">
            <a:avLst/>
          </a:prstGeom>
          <a:solidFill>
            <a:srgbClr val="D5E1E8"/>
          </a:solidFill>
          <a:ln w="0">
            <a:noFill/>
          </a:ln>
        </p:spPr>
      </p:sp>
      <p:sp>
        <p:nvSpPr>
          <p:cNvPr id="21" name="矩形 20"/>
          <p:cNvSpPr>
            <a:spLocks noGrp="1"/>
          </p:cNvSpPr>
          <p:nvPr/>
        </p:nvSpPr>
        <p:spPr>
          <a:xfrm>
            <a:off x="5943600" y="4219575"/>
            <a:ext cx="14288" cy="666750"/>
          </a:xfrm>
          <a:prstGeom prst="rect">
            <a:avLst/>
          </a:prstGeom>
          <a:solidFill>
            <a:srgbClr val="D5E1E8"/>
          </a:solidFill>
          <a:ln w="0">
            <a:noFill/>
          </a:ln>
        </p:spPr>
      </p:sp>
      <p:sp>
        <p:nvSpPr>
          <p:cNvPr id="22" name="矩形 21"/>
          <p:cNvSpPr>
            <a:spLocks noGrp="1"/>
          </p:cNvSpPr>
          <p:nvPr/>
        </p:nvSpPr>
        <p:spPr>
          <a:xfrm>
            <a:off x="8534400" y="4219575"/>
            <a:ext cx="14288" cy="666750"/>
          </a:xfrm>
          <a:prstGeom prst="rect">
            <a:avLst/>
          </a:prstGeom>
          <a:solidFill>
            <a:srgbClr val="D5E1E8"/>
          </a:solidFill>
          <a:ln w="0">
            <a:noFill/>
          </a:ln>
        </p:spPr>
      </p:sp>
      <p:cxnSp>
        <p:nvCxnSpPr>
          <p:cNvPr id="53" name="肘形连接符 52"/>
          <p:cNvCxnSpPr>
            <a:stCxn id="8" idx="2"/>
            <a:endCxn id="15" idx="0"/>
          </p:cNvCxnSpPr>
          <p:nvPr/>
        </p:nvCxnSpPr>
        <p:spPr>
          <a:xfrm flipH="1">
            <a:off x="5948363" y="3019425"/>
            <a:ext cx="3829050" cy="1057275"/>
          </a:xfrm>
          <a:prstGeom prst="bentConnector4">
            <a:avLst>
              <a:gd name="adj1" fmla="val 0"/>
              <a:gd name="adj2" fmla="val 50000"/>
            </a:avLst>
          </a:prstGeom>
          <a:ln w="23813">
            <a:solidFill>
              <a:srgbClr val="163247"/>
            </a:solidFill>
            <a:prstDash val="solid"/>
            <a:tailEnd type="arrow" w="med" len="med"/>
          </a:ln>
        </p:spPr>
      </p:cxnSp>
      <p:sp>
        <p:nvSpPr>
          <p:cNvPr id="24" name="矩形 23"/>
          <p:cNvSpPr>
            <a:spLocks noGrp="1"/>
          </p:cNvSpPr>
          <p:nvPr/>
        </p:nvSpPr>
        <p:spPr>
          <a:xfrm>
            <a:off x="762000" y="5476875"/>
            <a:ext cx="3238500" cy="609600"/>
          </a:xfrm>
          <a:prstGeom prst="rect">
            <a:avLst/>
          </a:prstGeom>
          <a:solidFill>
            <a:srgbClr val="FFF3E5"/>
          </a:solidFill>
          <a:ln w="19050">
            <a:solidFill>
              <a:srgbClr val="B86B24"/>
            </a:solidFill>
            <a:prstDash val="solid"/>
          </a:ln>
        </p:spPr>
        <p:txBody>
          <a:bodyPr wrap="square" lIns="95250" tIns="47625" rIns="95250" bIns="47625" anchor="ctr">
            <a:noAutofit/>
          </a:bodyPr>
          <a:lstStyle/>
          <a:p>
            <a:pPr algn="ctr">
              <a:defRPr sz="1425" b="0">
                <a:solidFill>
                  <a:srgbClr val="163247"/>
                </a:solidFill>
                <a:latin typeface="Segoe UI" panose="020B0502040204020203"/>
                <a:ea typeface="Segoe UI" panose="020B0502040204020203"/>
                <a:cs typeface="Segoe UI" panose="020B0502040204020203"/>
              </a:defRPr>
            </a:pPr>
            <a:r>
              <a:rPr sz="1425" b="0">
                <a:solidFill>
                  <a:srgbClr val="163247"/>
                </a:solidFill>
                <a:latin typeface="Segoe UI" panose="020B0502040204020203"/>
                <a:ea typeface="Segoe UI" panose="020B0502040204020203"/>
                <a:cs typeface="Segoe UI" panose="020B0502040204020203"/>
              </a:rPr>
              <a:t>No: return to classification</a:t>
            </a:r>
            <a:endParaRPr sz="1425" b="0">
              <a:solidFill>
                <a:srgbClr val="163247"/>
              </a:solidFill>
              <a:latin typeface="Segoe UI" panose="020B0502040204020203"/>
              <a:ea typeface="Segoe UI" panose="020B0502040204020203"/>
              <a:cs typeface="Segoe UI" panose="020B0502040204020203"/>
            </a:endParaRPr>
          </a:p>
        </p:txBody>
      </p:sp>
      <p:sp>
        <p:nvSpPr>
          <p:cNvPr id="25" name="椭圆 24"/>
          <p:cNvSpPr>
            <a:spLocks noGrp="1"/>
          </p:cNvSpPr>
          <p:nvPr/>
        </p:nvSpPr>
        <p:spPr>
          <a:xfrm>
            <a:off x="4838700" y="5457825"/>
            <a:ext cx="1819275" cy="647700"/>
          </a:xfrm>
          <a:prstGeom prst="ellipse">
            <a:avLst/>
          </a:prstGeom>
          <a:solidFill>
            <a:srgbClr val="FFFFFF"/>
          </a:solidFill>
          <a:ln w="19050">
            <a:solidFill>
              <a:srgbClr val="B86B24"/>
            </a:solidFill>
            <a:prstDash val="solid"/>
          </a:ln>
        </p:spPr>
        <p:txBody>
          <a:bodyPr wrap="square" lIns="95250" tIns="47625" rIns="95250" bIns="47625" anchor="ctr">
            <a:noAutofit/>
          </a:bodyPr>
          <a:lstStyle/>
          <a:p>
            <a:pPr algn="ctr">
              <a:defRPr sz="1575" b="1">
                <a:solidFill>
                  <a:srgbClr val="163247"/>
                </a:solidFill>
                <a:latin typeface="Segoe UI" panose="020B0502040204020203"/>
                <a:ea typeface="Segoe UI" panose="020B0502040204020203"/>
                <a:cs typeface="Segoe UI" panose="020B0502040204020203"/>
              </a:defRPr>
            </a:pPr>
            <a:r>
              <a:rPr sz="1575" b="1">
                <a:solidFill>
                  <a:srgbClr val="163247"/>
                </a:solidFill>
                <a:latin typeface="Segoe UI" panose="020B0502040204020203"/>
                <a:ea typeface="Segoe UI" panose="020B0502040204020203"/>
                <a:cs typeface="Segoe UI" panose="020B0502040204020203"/>
              </a:rPr>
              <a:t>Resolved?</a:t>
            </a:r>
            <a:endParaRPr sz="1575" b="1">
              <a:solidFill>
                <a:srgbClr val="163247"/>
              </a:solidFill>
              <a:latin typeface="Segoe UI" panose="020B0502040204020203"/>
              <a:ea typeface="Segoe UI" panose="020B0502040204020203"/>
              <a:cs typeface="Segoe UI" panose="020B0502040204020203"/>
            </a:endParaRPr>
          </a:p>
        </p:txBody>
      </p:sp>
      <p:sp>
        <p:nvSpPr>
          <p:cNvPr id="26" name="矩形 25"/>
          <p:cNvSpPr>
            <a:spLocks noGrp="1"/>
          </p:cNvSpPr>
          <p:nvPr/>
        </p:nvSpPr>
        <p:spPr>
          <a:xfrm>
            <a:off x="7496175" y="5476875"/>
            <a:ext cx="3638550" cy="609600"/>
          </a:xfrm>
          <a:prstGeom prst="rect">
            <a:avLst/>
          </a:prstGeom>
          <a:solidFill>
            <a:srgbClr val="E9F5F1"/>
          </a:solidFill>
          <a:ln w="19050">
            <a:solidFill>
              <a:srgbClr val="138477"/>
            </a:solidFill>
            <a:prstDash val="solid"/>
          </a:ln>
        </p:spPr>
        <p:txBody>
          <a:bodyPr wrap="square" lIns="95250" tIns="47625" rIns="95250" bIns="47625" anchor="ctr">
            <a:noAutofit/>
          </a:bodyPr>
          <a:lstStyle/>
          <a:p>
            <a:pPr algn="ctr">
              <a:defRPr sz="1425" b="0">
                <a:solidFill>
                  <a:srgbClr val="163247"/>
                </a:solidFill>
                <a:latin typeface="Segoe UI" panose="020B0502040204020203"/>
                <a:ea typeface="Segoe UI" panose="020B0502040204020203"/>
                <a:cs typeface="Segoe UI" panose="020B0502040204020203"/>
              </a:defRPr>
            </a:pPr>
            <a:r>
              <a:rPr sz="1425" b="0">
                <a:solidFill>
                  <a:srgbClr val="163247"/>
                </a:solidFill>
                <a:latin typeface="Segoe UI" panose="020B0502040204020203"/>
                <a:ea typeface="Segoe UI" panose="020B0502040204020203"/>
                <a:cs typeface="Segoe UI" panose="020B0502040204020203"/>
              </a:rPr>
              <a:t>Yes: audit record and close</a:t>
            </a:r>
            <a:endParaRPr sz="1425" b="0">
              <a:solidFill>
                <a:srgbClr val="163247"/>
              </a:solidFill>
              <a:latin typeface="Segoe UI" panose="020B0502040204020203"/>
              <a:ea typeface="Segoe UI" panose="020B0502040204020203"/>
              <a:cs typeface="Segoe UI" panose="020B0502040204020203"/>
            </a:endParaRPr>
          </a:p>
        </p:txBody>
      </p:sp>
      <p:cxnSp>
        <p:nvCxnSpPr>
          <p:cNvPr id="57" name="肘形连接符 56"/>
          <p:cNvCxnSpPr>
            <a:stCxn id="15" idx="2"/>
            <a:endCxn id="25" idx="0"/>
          </p:cNvCxnSpPr>
          <p:nvPr/>
        </p:nvCxnSpPr>
        <p:spPr>
          <a:xfrm flipH="1">
            <a:off x="5748338" y="5038725"/>
            <a:ext cx="200025" cy="419100"/>
          </a:xfrm>
          <a:prstGeom prst="bentConnector4">
            <a:avLst>
              <a:gd name="adj1" fmla="val 0"/>
              <a:gd name="adj2" fmla="val 50000"/>
            </a:avLst>
          </a:prstGeom>
          <a:ln w="23813">
            <a:solidFill>
              <a:srgbClr val="163247"/>
            </a:solidFill>
            <a:prstDash val="solid"/>
            <a:tailEnd type="arrow" w="med" len="med"/>
          </a:ln>
        </p:spPr>
      </p:cxnSp>
      <p:cxnSp>
        <p:nvCxnSpPr>
          <p:cNvPr id="58" name="直接箭头连接符 57"/>
          <p:cNvCxnSpPr>
            <a:stCxn id="25" idx="2"/>
            <a:endCxn id="24" idx="3"/>
          </p:cNvCxnSpPr>
          <p:nvPr/>
        </p:nvCxnSpPr>
        <p:spPr>
          <a:xfrm flipH="1">
            <a:off x="4000500" y="5781675"/>
            <a:ext cx="838200" cy="0"/>
          </a:xfrm>
          <a:prstGeom prst="straightConnector1">
            <a:avLst/>
          </a:prstGeom>
          <a:ln w="23813">
            <a:solidFill>
              <a:srgbClr val="B86B24"/>
            </a:solidFill>
            <a:prstDash val="solid"/>
            <a:tailEnd type="arrow" w="med" len="med"/>
          </a:ln>
        </p:spPr>
      </p:cxnSp>
      <p:cxnSp>
        <p:nvCxnSpPr>
          <p:cNvPr id="59" name="直接箭头连接符 58"/>
          <p:cNvCxnSpPr>
            <a:stCxn id="25" idx="6"/>
            <a:endCxn id="26" idx="1"/>
          </p:cNvCxnSpPr>
          <p:nvPr/>
        </p:nvCxnSpPr>
        <p:spPr>
          <a:xfrm>
            <a:off x="6657975" y="5781675"/>
            <a:ext cx="838200" cy="0"/>
          </a:xfrm>
          <a:prstGeom prst="straightConnector1">
            <a:avLst/>
          </a:prstGeom>
          <a:ln w="23813">
            <a:solidFill>
              <a:srgbClr val="138477"/>
            </a:solidFill>
            <a:prstDash val="solid"/>
            <a:tailEnd type="arrow" w="med" len="med"/>
          </a:ln>
        </p:spPr>
      </p:cxnSp>
      <p:sp>
        <p:nvSpPr>
          <p:cNvPr id="30" name="矩形 29"/>
          <p:cNvSpPr>
            <a:spLocks noGrp="1"/>
          </p:cNvSpPr>
          <p:nvPr/>
        </p:nvSpPr>
        <p:spPr>
          <a:xfrm>
            <a:off x="762000" y="6362700"/>
            <a:ext cx="10372725" cy="247650"/>
          </a:xfrm>
          <a:prstGeom prst="rect">
            <a:avLst/>
          </a:prstGeom>
          <a:noFill/>
          <a:ln w="0">
            <a:noFill/>
          </a:ln>
        </p:spPr>
        <p:txBody>
          <a:bodyPr wrap="square" lIns="0" tIns="0" rIns="0" bIns="0" anchor="ctr">
            <a:noAutofit/>
          </a:bodyPr>
          <a:lstStyle/>
          <a:p>
            <a:pPr algn="l">
              <a:defRPr sz="1125" b="0">
                <a:solidFill>
                  <a:srgbClr val="586B78"/>
                </a:solidFill>
                <a:latin typeface="Segoe UI" panose="020B0502040204020203"/>
                <a:ea typeface="Segoe UI" panose="020B0502040204020203"/>
                <a:cs typeface="Segoe UI" panose="020B0502040204020203"/>
              </a:defRPr>
            </a:pPr>
            <a:r>
              <a:rPr sz="1125" b="0">
                <a:solidFill>
                  <a:srgbClr val="586B78"/>
                </a:solidFill>
                <a:latin typeface="Segoe UI" panose="020B0502040204020203"/>
                <a:ea typeface="Segoe UI" panose="020B0502040204020203"/>
                <a:cs typeface="Segoe UI" panose="020B0502040204020203"/>
              </a:rPr>
              <a:t>Hospital_Enquiry_Standalone  |  BPMN v5</a:t>
            </a:r>
            <a:endParaRPr sz="1125" b="0">
              <a:solidFill>
                <a:srgbClr val="586B78"/>
              </a:solidFill>
              <a:latin typeface="Segoe UI" panose="020B0502040204020203"/>
              <a:ea typeface="Segoe UI" panose="020B0502040204020203"/>
              <a:cs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a:spLocks noGrp="1"/>
          </p:cNvSpPr>
          <p:nvPr/>
        </p:nvSpPr>
        <p:spPr>
          <a:xfrm>
            <a:off x="685800" y="419100"/>
            <a:ext cx="10820400" cy="552450"/>
          </a:xfrm>
          <a:prstGeom prst="rect">
            <a:avLst/>
          </a:prstGeom>
          <a:noFill/>
          <a:ln w="0">
            <a:noFill/>
          </a:ln>
        </p:spPr>
        <p:txBody>
          <a:bodyPr wrap="square" lIns="0" tIns="0" rIns="0" bIns="0" anchor="ctr">
            <a:noAutofit/>
          </a:bodyPr>
          <a:lstStyle/>
          <a:p>
            <a:pPr algn="l">
              <a:defRPr sz="2850" b="1">
                <a:solidFill>
                  <a:srgbClr val="163247"/>
                </a:solidFill>
                <a:latin typeface="Segoe UI" panose="020B0502040204020203"/>
                <a:ea typeface="Segoe UI" panose="020B0502040204020203"/>
                <a:cs typeface="Segoe UI" panose="020B0502040204020203"/>
              </a:defRPr>
            </a:pPr>
            <a:r>
              <a:rPr sz="2850" b="1">
                <a:solidFill>
                  <a:srgbClr val="163247"/>
                </a:solidFill>
                <a:latin typeface="Segoe UI" panose="020B0502040204020203"/>
                <a:ea typeface="Segoe UI" panose="020B0502040204020203"/>
                <a:cs typeface="Segoe UI" panose="020B0502040204020203"/>
              </a:rPr>
              <a:t>Measurable acceptance criteria</a:t>
            </a:r>
            <a:endParaRPr sz="2850" b="1">
              <a:solidFill>
                <a:srgbClr val="163247"/>
              </a:solidFill>
              <a:latin typeface="Segoe UI" panose="020B0502040204020203"/>
              <a:ea typeface="Segoe UI" panose="020B0502040204020203"/>
              <a:cs typeface="Segoe UI" panose="020B0502040204020203"/>
            </a:endParaRPr>
          </a:p>
        </p:txBody>
      </p:sp>
      <p:sp>
        <p:nvSpPr>
          <p:cNvPr id="2" name="矩形 1"/>
          <p:cNvSpPr>
            <a:spLocks noGrp="1"/>
          </p:cNvSpPr>
          <p:nvPr/>
        </p:nvSpPr>
        <p:spPr>
          <a:xfrm>
            <a:off x="685800" y="1009650"/>
            <a:ext cx="10820400" cy="276225"/>
          </a:xfrm>
          <a:prstGeom prst="rect">
            <a:avLst/>
          </a:prstGeom>
          <a:noFill/>
          <a:ln w="0">
            <a:noFill/>
          </a:ln>
        </p:spPr>
        <p:txBody>
          <a:bodyPr wrap="square" lIns="0" tIns="0" rIns="0" bIns="0" anchor="ctr">
            <a:noAutofit/>
          </a:bodyPr>
          <a:lstStyle/>
          <a:p>
            <a:pPr algn="l">
              <a:defRPr sz="1425" b="0">
                <a:solidFill>
                  <a:srgbClr val="586B78"/>
                </a:solidFill>
                <a:latin typeface="Segoe UI" panose="020B0502040204020203"/>
                <a:ea typeface="Segoe UI" panose="020B0502040204020203"/>
                <a:cs typeface="Segoe UI" panose="020B0502040204020203"/>
              </a:defRPr>
            </a:pPr>
            <a:r>
              <a:rPr sz="1425" b="0">
                <a:solidFill>
                  <a:srgbClr val="586B78"/>
                </a:solidFill>
                <a:latin typeface="Segoe UI" panose="020B0502040204020203"/>
                <a:ea typeface="Segoe UI" panose="020B0502040204020203"/>
                <a:cs typeface="Segoe UI" panose="020B0502040204020203"/>
              </a:rPr>
              <a:t>Standalone patient enquiry process</a:t>
            </a:r>
            <a:endParaRPr sz="1425" b="0">
              <a:solidFill>
                <a:srgbClr val="586B78"/>
              </a:solidFill>
              <a:latin typeface="Segoe UI" panose="020B0502040204020203"/>
              <a:ea typeface="Segoe UI" panose="020B0502040204020203"/>
              <a:cs typeface="Segoe UI" panose="020B0502040204020203"/>
            </a:endParaRPr>
          </a:p>
        </p:txBody>
      </p:sp>
      <p:graphicFrame>
        <p:nvGraphicFramePr>
          <p:cNvPr id="7" name="表格 6"/>
          <p:cNvGraphicFramePr/>
          <p:nvPr/>
        </p:nvGraphicFramePr>
        <p:xfrm>
          <a:off x="685800" y="1543050"/>
          <a:ext cx="10820400" cy="4248150"/>
        </p:xfrm>
        <a:graphic>
          <a:graphicData uri="http://schemas.openxmlformats.org/drawingml/2006/table">
            <a:tbl>
              <a:tblPr/>
              <a:tblGrid>
                <a:gridCol w="1809750"/>
                <a:gridCol w="4343400"/>
                <a:gridCol w="4667250"/>
              </a:tblGrid>
              <a:tr h="609600">
                <a:tc>
                  <a:txBody>
                    <a:bodyPr wrap="square">
                      <a:spAutoFit/>
                    </a:bodyPr>
                    <a:lstStyle/>
                    <a:p>
                      <a:r>
                        <a:rPr sz="1575" b="1">
                          <a:solidFill>
                            <a:srgbClr val="FFFFFF"/>
                          </a:solidFill>
                          <a:latin typeface="Segoe UI" panose="020B0502040204020203"/>
                          <a:ea typeface="Segoe UI" panose="020B0502040204020203"/>
                          <a:cs typeface="Segoe UI" panose="020B0502040204020203"/>
                        </a:rPr>
                        <a:t>Measure</a:t>
                      </a:r>
                      <a:endParaRPr sz="1575" b="1">
                        <a:solidFill>
                          <a:srgbClr val="FFFFFF"/>
                        </a:solidFill>
                        <a:latin typeface="Segoe UI" panose="020B0502040204020203"/>
                        <a:ea typeface="Segoe UI" panose="020B0502040204020203"/>
                        <a:cs typeface="Segoe UI" panose="020B0502040204020203"/>
                      </a:endParaRPr>
                    </a:p>
                  </a:txBody>
                  <a:tcPr anchor="ctr">
                    <a:solidFill>
                      <a:srgbClr val="163247"/>
                    </a:solidFill>
                  </a:tcPr>
                </a:tc>
                <a:tc>
                  <a:txBody>
                    <a:bodyPr wrap="square">
                      <a:spAutoFit/>
                    </a:bodyPr>
                    <a:lstStyle/>
                    <a:p>
                      <a:r>
                        <a:rPr sz="1575" b="1">
                          <a:solidFill>
                            <a:srgbClr val="FFFFFF"/>
                          </a:solidFill>
                          <a:latin typeface="Segoe UI" panose="020B0502040204020203"/>
                          <a:ea typeface="Segoe UI" panose="020B0502040204020203"/>
                          <a:cs typeface="Segoe UI" panose="020B0502040204020203"/>
                        </a:rPr>
                        <a:t>Acceptance threshold</a:t>
                      </a:r>
                      <a:endParaRPr sz="1575" b="1">
                        <a:solidFill>
                          <a:srgbClr val="FFFFFF"/>
                        </a:solidFill>
                        <a:latin typeface="Segoe UI" panose="020B0502040204020203"/>
                        <a:ea typeface="Segoe UI" panose="020B0502040204020203"/>
                        <a:cs typeface="Segoe UI" panose="020B0502040204020203"/>
                      </a:endParaRPr>
                    </a:p>
                  </a:txBody>
                  <a:tcPr anchor="ctr">
                    <a:solidFill>
                      <a:srgbClr val="163247"/>
                    </a:solidFill>
                  </a:tcPr>
                </a:tc>
                <a:tc>
                  <a:txBody>
                    <a:bodyPr wrap="square">
                      <a:spAutoFit/>
                    </a:bodyPr>
                    <a:lstStyle/>
                    <a:p>
                      <a:r>
                        <a:rPr sz="1575" b="1">
                          <a:solidFill>
                            <a:srgbClr val="FFFFFF"/>
                          </a:solidFill>
                          <a:latin typeface="Segoe UI" panose="020B0502040204020203"/>
                          <a:ea typeface="Segoe UI" panose="020B0502040204020203"/>
                          <a:cs typeface="Segoe UI" panose="020B0502040204020203"/>
                        </a:rPr>
                        <a:t>Observed evidence</a:t>
                      </a:r>
                      <a:endParaRPr sz="1575" b="1">
                        <a:solidFill>
                          <a:srgbClr val="FFFFFF"/>
                        </a:solidFill>
                        <a:latin typeface="Segoe UI" panose="020B0502040204020203"/>
                        <a:ea typeface="Segoe UI" panose="020B0502040204020203"/>
                        <a:cs typeface="Segoe UI" panose="020B0502040204020203"/>
                      </a:endParaRPr>
                    </a:p>
                  </a:txBody>
                  <a:tcPr anchor="ctr">
                    <a:solidFill>
                      <a:srgbClr val="163247"/>
                    </a:solidFill>
                  </a:tcPr>
                </a:tc>
              </a:tr>
              <a:tr h="866775">
                <a:tc>
                  <a:txBody>
                    <a:bodyPr wrap="square">
                      <a:spAutoFit/>
                    </a:bodyPr>
                    <a:lstStyle/>
                    <a:p>
                      <a:r>
                        <a:rPr sz="1390" b="1">
                          <a:solidFill>
                            <a:srgbClr val="163247"/>
                          </a:solidFill>
                          <a:latin typeface="Segoe UI" panose="020B0502040204020203"/>
                          <a:ea typeface="Segoe UI" panose="020B0502040204020203"/>
                          <a:cs typeface="Segoe UI" panose="020B0502040204020203"/>
                        </a:rPr>
                        <a:t>Entry</a:t>
                      </a:r>
                      <a:endParaRPr sz="1390" b="1">
                        <a:solidFill>
                          <a:srgbClr val="163247"/>
                        </a:solidFill>
                        <a:latin typeface="Segoe UI" panose="020B0502040204020203"/>
                        <a:ea typeface="Segoe UI" panose="020B0502040204020203"/>
                        <a:cs typeface="Segoe UI" panose="020B0502040204020203"/>
                      </a:endParaRPr>
                    </a:p>
                  </a:txBody>
                  <a:tcPr anchor="ctr">
                    <a:solidFill>
                      <a:srgbClr val="FFFFFF"/>
                    </a:solidFill>
                  </a:tcPr>
                </a:tc>
                <a:tc>
                  <a:txBody>
                    <a:bodyPr wrap="square">
                      <a:spAutoFit/>
                    </a:bodyPr>
                    <a:lstStyle/>
                    <a:p>
                      <a:r>
                        <a:rPr sz="1390" b="0">
                          <a:solidFill>
                            <a:srgbClr val="163247"/>
                          </a:solidFill>
                          <a:latin typeface="Segoe UI" panose="020B0502040204020203"/>
                          <a:ea typeface="Segoe UI" panose="020B0502040204020203"/>
                          <a:cs typeface="Segoe UI" panose="020B0502040204020203"/>
                        </a:rPr>
                        <a:t>Manual form available; message start creates a Q_Record task</a:t>
                      </a:r>
                      <a:endParaRPr sz="1390" b="0">
                        <a:solidFill>
                          <a:srgbClr val="163247"/>
                        </a:solidFill>
                        <a:latin typeface="Segoe UI" panose="020B0502040204020203"/>
                        <a:ea typeface="Segoe UI" panose="020B0502040204020203"/>
                        <a:cs typeface="Segoe UI" panose="020B0502040204020203"/>
                      </a:endParaRPr>
                    </a:p>
                  </a:txBody>
                  <a:tcPr anchor="ctr">
                    <a:solidFill>
                      <a:srgbClr val="FFFFFF"/>
                    </a:solidFill>
                  </a:tcPr>
                </a:tc>
                <a:tc>
                  <a:txBody>
                    <a:bodyPr wrap="square">
                      <a:spAutoFit/>
                    </a:bodyPr>
                    <a:lstStyle/>
                    <a:p>
                      <a:r>
                        <a:rPr sz="1390" b="0">
                          <a:solidFill>
                            <a:srgbClr val="163247"/>
                          </a:solidFill>
                          <a:latin typeface="Segoe UI" panose="020B0502040204020203"/>
                          <a:ea typeface="Segoe UI" panose="020B0502040204020203"/>
                          <a:cs typeface="Segoe UI" panose="020B0502040204020203"/>
                        </a:rPr>
                        <a:t>Start form bound; message reached Q_Record</a:t>
                      </a:r>
                      <a:endParaRPr sz="1390" b="0">
                        <a:solidFill>
                          <a:srgbClr val="163247"/>
                        </a:solidFill>
                        <a:latin typeface="Segoe UI" panose="020B0502040204020203"/>
                        <a:ea typeface="Segoe UI" panose="020B0502040204020203"/>
                        <a:cs typeface="Segoe UI" panose="020B0502040204020203"/>
                      </a:endParaRPr>
                    </a:p>
                  </a:txBody>
                  <a:tcPr anchor="ctr">
                    <a:solidFill>
                      <a:srgbClr val="FFFFFF"/>
                    </a:solidFill>
                  </a:tcPr>
                </a:tc>
              </a:tr>
              <a:tr h="866775">
                <a:tc>
                  <a:txBody>
                    <a:bodyPr wrap="square">
                      <a:spAutoFit/>
                    </a:bodyPr>
                    <a:lstStyle/>
                    <a:p>
                      <a:r>
                        <a:rPr sz="1390" b="1">
                          <a:solidFill>
                            <a:srgbClr val="163247"/>
                          </a:solidFill>
                          <a:latin typeface="Segoe UI" panose="020B0502040204020203"/>
                          <a:ea typeface="Segoe UI" panose="020B0502040204020203"/>
                          <a:cs typeface="Segoe UI" panose="020B0502040204020203"/>
                        </a:rPr>
                        <a:t>Routing</a:t>
                      </a:r>
                      <a:endParaRPr sz="1390" b="1">
                        <a:solidFill>
                          <a:srgbClr val="163247"/>
                        </a:solidFill>
                        <a:latin typeface="Segoe UI" panose="020B0502040204020203"/>
                        <a:ea typeface="Segoe UI" panose="020B0502040204020203"/>
                        <a:cs typeface="Segoe UI" panose="020B0502040204020203"/>
                      </a:endParaRPr>
                    </a:p>
                  </a:txBody>
                  <a:tcPr anchor="ctr">
                    <a:solidFill>
                      <a:srgbClr val="F7FAFB"/>
                    </a:solidFill>
                  </a:tcPr>
                </a:tc>
                <a:tc>
                  <a:txBody>
                    <a:bodyPr wrap="square">
                      <a:spAutoFit/>
                    </a:bodyPr>
                    <a:lstStyle/>
                    <a:p>
                      <a:r>
                        <a:rPr sz="1390" b="0">
                          <a:solidFill>
                            <a:srgbClr val="163247"/>
                          </a:solidFill>
                          <a:latin typeface="Segoe UI" panose="020B0502040204020203"/>
                          <a:ea typeface="Segoe UI" panose="020B0502040204020203"/>
                          <a:cs typeface="Segoe UI" panose="020B0502040204020203"/>
                        </a:rPr>
                        <a:t>Four enquiry types and both clinical urgency paths reach the intended tasks</a:t>
                      </a:r>
                      <a:endParaRPr sz="1390" b="0">
                        <a:solidFill>
                          <a:srgbClr val="163247"/>
                        </a:solidFill>
                        <a:latin typeface="Segoe UI" panose="020B0502040204020203"/>
                        <a:ea typeface="Segoe UI" panose="020B0502040204020203"/>
                        <a:cs typeface="Segoe UI" panose="020B0502040204020203"/>
                      </a:endParaRPr>
                    </a:p>
                  </a:txBody>
                  <a:tcPr anchor="ctr">
                    <a:solidFill>
                      <a:srgbClr val="F7FAFB"/>
                    </a:solidFill>
                  </a:tcPr>
                </a:tc>
                <a:tc>
                  <a:txBody>
                    <a:bodyPr wrap="square">
                      <a:spAutoFit/>
                    </a:bodyPr>
                    <a:lstStyle/>
                    <a:p>
                      <a:r>
                        <a:rPr sz="1390" b="0">
                          <a:solidFill>
                            <a:srgbClr val="163247"/>
                          </a:solidFill>
                          <a:latin typeface="Segoe UI" panose="020B0502040204020203"/>
                          <a:ea typeface="Segoe UI" panose="020B0502040204020203"/>
                          <a:cs typeface="Segoe UI" panose="020B0502040204020203"/>
                        </a:rPr>
                        <a:t>5/5 paths completed</a:t>
                      </a:r>
                      <a:endParaRPr sz="1390" b="0">
                        <a:solidFill>
                          <a:srgbClr val="163247"/>
                        </a:solidFill>
                        <a:latin typeface="Segoe UI" panose="020B0502040204020203"/>
                        <a:ea typeface="Segoe UI" panose="020B0502040204020203"/>
                        <a:cs typeface="Segoe UI" panose="020B0502040204020203"/>
                      </a:endParaRPr>
                    </a:p>
                  </a:txBody>
                  <a:tcPr anchor="ctr">
                    <a:solidFill>
                      <a:srgbClr val="F7FAFB"/>
                    </a:solidFill>
                  </a:tcPr>
                </a:tc>
              </a:tr>
              <a:tr h="866775">
                <a:tc>
                  <a:txBody>
                    <a:bodyPr wrap="square">
                      <a:spAutoFit/>
                    </a:bodyPr>
                    <a:lstStyle/>
                    <a:p>
                      <a:r>
                        <a:rPr sz="1390" b="1">
                          <a:solidFill>
                            <a:srgbClr val="163247"/>
                          </a:solidFill>
                          <a:latin typeface="Segoe UI" panose="020B0502040204020203"/>
                          <a:ea typeface="Segoe UI" panose="020B0502040204020203"/>
                          <a:cs typeface="Segoe UI" panose="020B0502040204020203"/>
                        </a:rPr>
                        <a:t>Rework</a:t>
                      </a:r>
                      <a:endParaRPr sz="1390" b="1">
                        <a:solidFill>
                          <a:srgbClr val="163247"/>
                        </a:solidFill>
                        <a:latin typeface="Segoe UI" panose="020B0502040204020203"/>
                        <a:ea typeface="Segoe UI" panose="020B0502040204020203"/>
                        <a:cs typeface="Segoe UI" panose="020B0502040204020203"/>
                      </a:endParaRPr>
                    </a:p>
                  </a:txBody>
                  <a:tcPr anchor="ctr">
                    <a:solidFill>
                      <a:srgbClr val="FFFFFF"/>
                    </a:solidFill>
                  </a:tcPr>
                </a:tc>
                <a:tc>
                  <a:txBody>
                    <a:bodyPr wrap="square">
                      <a:spAutoFit/>
                    </a:bodyPr>
                    <a:lstStyle/>
                    <a:p>
                      <a:r>
                        <a:rPr sz="1390" b="0">
                          <a:solidFill>
                            <a:srgbClr val="163247"/>
                          </a:solidFill>
                          <a:latin typeface="Segoe UI" panose="020B0502040204020203"/>
                          <a:ea typeface="Segoe UI" panose="020B0502040204020203"/>
                          <a:cs typeface="Segoe UI" panose="020B0502040204020203"/>
                        </a:rPr>
                        <a:t>Unresolved returns to Q_Record; resolved reaches audit and closure</a:t>
                      </a:r>
                      <a:endParaRPr sz="1390" b="0">
                        <a:solidFill>
                          <a:srgbClr val="163247"/>
                        </a:solidFill>
                        <a:latin typeface="Segoe UI" panose="020B0502040204020203"/>
                        <a:ea typeface="Segoe UI" panose="020B0502040204020203"/>
                        <a:cs typeface="Segoe UI" panose="020B0502040204020203"/>
                      </a:endParaRPr>
                    </a:p>
                  </a:txBody>
                  <a:tcPr anchor="ctr">
                    <a:solidFill>
                      <a:srgbClr val="FFFFFF"/>
                    </a:solidFill>
                  </a:tcPr>
                </a:tc>
                <a:tc>
                  <a:txBody>
                    <a:bodyPr wrap="square">
                      <a:spAutoFit/>
                    </a:bodyPr>
                    <a:lstStyle/>
                    <a:p>
                      <a:r>
                        <a:rPr sz="1390" b="0">
                          <a:solidFill>
                            <a:srgbClr val="163247"/>
                          </a:solidFill>
                          <a:latin typeface="Segoe UI" panose="020B0502040204020203"/>
                          <a:ea typeface="Segoe UI" panose="020B0502040204020203"/>
                          <a:cs typeface="Segoe UI" panose="020B0502040204020203"/>
                        </a:rPr>
                        <a:t>Loop observed; audit true in 5/5 cases</a:t>
                      </a:r>
                      <a:endParaRPr sz="1390" b="0">
                        <a:solidFill>
                          <a:srgbClr val="163247"/>
                        </a:solidFill>
                        <a:latin typeface="Segoe UI" panose="020B0502040204020203"/>
                        <a:ea typeface="Segoe UI" panose="020B0502040204020203"/>
                        <a:cs typeface="Segoe UI" panose="020B0502040204020203"/>
                      </a:endParaRPr>
                    </a:p>
                  </a:txBody>
                  <a:tcPr anchor="ctr">
                    <a:solidFill>
                      <a:srgbClr val="FFFFFF"/>
                    </a:solidFill>
                  </a:tcPr>
                </a:tc>
              </a:tr>
              <a:tr h="866775">
                <a:tc>
                  <a:txBody>
                    <a:bodyPr wrap="square">
                      <a:spAutoFit/>
                    </a:bodyPr>
                    <a:lstStyle/>
                    <a:p>
                      <a:r>
                        <a:rPr sz="1390" b="1">
                          <a:solidFill>
                            <a:srgbClr val="163247"/>
                          </a:solidFill>
                          <a:latin typeface="Segoe UI" panose="020B0502040204020203"/>
                          <a:ea typeface="Segoe UI" panose="020B0502040204020203"/>
                          <a:cs typeface="Segoe UI" panose="020B0502040204020203"/>
                        </a:rPr>
                        <a:t>Reliability</a:t>
                      </a:r>
                      <a:endParaRPr sz="1390" b="1">
                        <a:solidFill>
                          <a:srgbClr val="163247"/>
                        </a:solidFill>
                        <a:latin typeface="Segoe UI" panose="020B0502040204020203"/>
                        <a:ea typeface="Segoe UI" panose="020B0502040204020203"/>
                        <a:cs typeface="Segoe UI" panose="020B0502040204020203"/>
                      </a:endParaRPr>
                    </a:p>
                  </a:txBody>
                  <a:tcPr anchor="ctr">
                    <a:solidFill>
                      <a:srgbClr val="F7FAFB"/>
                    </a:solidFill>
                  </a:tcPr>
                </a:tc>
                <a:tc>
                  <a:txBody>
                    <a:bodyPr wrap="square">
                      <a:spAutoFit/>
                    </a:bodyPr>
                    <a:lstStyle/>
                    <a:p>
                      <a:r>
                        <a:rPr sz="1390" b="0">
                          <a:solidFill>
                            <a:srgbClr val="163247"/>
                          </a:solidFill>
                          <a:latin typeface="Segoe UI" panose="020B0502040204020203"/>
                          <a:ea typeface="Segoe UI" panose="020B0502040204020203"/>
                          <a:cs typeface="Segoe UI" panose="020B0502040204020203"/>
                        </a:rPr>
                        <a:t>Five test paths complete with zero incidents</a:t>
                      </a:r>
                      <a:endParaRPr sz="1390" b="0">
                        <a:solidFill>
                          <a:srgbClr val="163247"/>
                        </a:solidFill>
                        <a:latin typeface="Segoe UI" panose="020B0502040204020203"/>
                        <a:ea typeface="Segoe UI" panose="020B0502040204020203"/>
                        <a:cs typeface="Segoe UI" panose="020B0502040204020203"/>
                      </a:endParaRPr>
                    </a:p>
                  </a:txBody>
                  <a:tcPr anchor="ctr">
                    <a:solidFill>
                      <a:srgbClr val="F7FAFB"/>
                    </a:solidFill>
                  </a:tcPr>
                </a:tc>
                <a:tc>
                  <a:txBody>
                    <a:bodyPr wrap="square">
                      <a:spAutoFit/>
                    </a:bodyPr>
                    <a:lstStyle/>
                    <a:p>
                      <a:r>
                        <a:rPr sz="1390" b="0">
                          <a:solidFill>
                            <a:srgbClr val="163247"/>
                          </a:solidFill>
                          <a:latin typeface="Segoe UI" panose="020B0502040204020203"/>
                          <a:ea typeface="Segoe UI" panose="020B0502040204020203"/>
                          <a:cs typeface="Segoe UI" panose="020B0502040204020203"/>
                        </a:rPr>
                        <a:t>5/5 completed; 0 incidents</a:t>
                      </a:r>
                      <a:endParaRPr sz="1390" b="0">
                        <a:solidFill>
                          <a:srgbClr val="163247"/>
                        </a:solidFill>
                        <a:latin typeface="Segoe UI" panose="020B0502040204020203"/>
                        <a:ea typeface="Segoe UI" panose="020B0502040204020203"/>
                        <a:cs typeface="Segoe UI" panose="020B0502040204020203"/>
                      </a:endParaRPr>
                    </a:p>
                  </a:txBody>
                  <a:tcPr anchor="ctr">
                    <a:solidFill>
                      <a:srgbClr val="F7FAFB"/>
                    </a:solidFill>
                  </a:tcPr>
                </a:tc>
              </a:tr>
            </a:tbl>
          </a:graphicData>
        </a:graphic>
      </p:graphicFrame>
      <p:sp>
        <p:nvSpPr>
          <p:cNvPr id="4" name="矩形 3"/>
          <p:cNvSpPr>
            <a:spLocks noGrp="1"/>
          </p:cNvSpPr>
          <p:nvPr/>
        </p:nvSpPr>
        <p:spPr>
          <a:xfrm>
            <a:off x="685800" y="6153150"/>
            <a:ext cx="10820400" cy="285750"/>
          </a:xfrm>
          <a:prstGeom prst="rect">
            <a:avLst/>
          </a:prstGeom>
          <a:noFill/>
          <a:ln w="0">
            <a:noFill/>
          </a:ln>
        </p:spPr>
        <p:txBody>
          <a:bodyPr wrap="square" lIns="0" tIns="0" rIns="0" bIns="0" anchor="ctr">
            <a:noAutofit/>
          </a:bodyPr>
          <a:lstStyle/>
          <a:p>
            <a:pPr algn="l">
              <a:defRPr sz="1200" b="0">
                <a:solidFill>
                  <a:srgbClr val="586B78"/>
                </a:solidFill>
                <a:latin typeface="Segoe UI" panose="020B0502040204020203"/>
                <a:ea typeface="Segoe UI" panose="020B0502040204020203"/>
                <a:cs typeface="Segoe UI" panose="020B0502040204020203"/>
              </a:defRPr>
            </a:pPr>
            <a:r>
              <a:rPr sz="1200" b="0">
                <a:solidFill>
                  <a:srgbClr val="586B78"/>
                </a:solidFill>
                <a:latin typeface="Segoe UI" panose="020B0502040204020203"/>
                <a:ea typeface="Segoe UI" panose="020B0502040204020203"/>
                <a:cs typeface="Segoe UI" panose="020B0502040204020203"/>
              </a:rPr>
              <a:t>Evidence: Camunda v5, verification-last.json (28 Sep 2026)</a:t>
            </a:r>
            <a:endParaRPr sz="1200" b="0">
              <a:solidFill>
                <a:srgbClr val="586B78"/>
              </a:solidFill>
              <a:latin typeface="Segoe UI" panose="020B0502040204020203"/>
              <a:ea typeface="Segoe UI" panose="020B0502040204020203"/>
              <a:cs typeface="Segoe UI" panose="020B050204020402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 name="矩形 101"/>
          <p:cNvSpPr>
            <a:spLocks noGrp="1"/>
          </p:cNvSpPr>
          <p:nvPr/>
        </p:nvSpPr>
        <p:spPr>
          <a:xfrm>
            <a:off x="457200" y="247650"/>
            <a:ext cx="8191500" cy="457200"/>
          </a:xfrm>
          <a:prstGeom prst="rect">
            <a:avLst/>
          </a:prstGeom>
          <a:noFill/>
          <a:ln w="0">
            <a:noFill/>
          </a:ln>
        </p:spPr>
        <p:txBody>
          <a:bodyPr wrap="square" lIns="19050" tIns="19050" rIns="19050" bIns="19050" anchor="ctr">
            <a:normAutofit/>
          </a:bodyPr>
          <a:lstStyle/>
          <a:p>
            <a:pPr algn="l">
              <a:defRPr sz="2550" b="1">
                <a:solidFill>
                  <a:srgbClr val="18324B"/>
                </a:solidFill>
                <a:latin typeface="Arial" panose="020B0604020202020204"/>
                <a:ea typeface="Arial" panose="020B0604020202020204"/>
                <a:cs typeface="Arial" panose="020B0604020202020204"/>
              </a:defRPr>
            </a:pPr>
            <a:r>
              <a:rPr sz="2550" b="1">
                <a:solidFill>
                  <a:srgbClr val="18324B"/>
                </a:solidFill>
                <a:latin typeface="Arial" panose="020B0604020202020204"/>
                <a:ea typeface="Arial" panose="020B0604020202020204"/>
                <a:cs typeface="Arial" panose="020B0604020202020204"/>
              </a:rPr>
              <a:t>Treatment Booking and Funding</a:t>
            </a:r>
            <a:endParaRPr sz="2550" b="1">
              <a:solidFill>
                <a:srgbClr val="1832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76250" y="723900"/>
            <a:ext cx="10953750" cy="238125"/>
          </a:xfrm>
          <a:prstGeom prst="rect">
            <a:avLst/>
          </a:prstGeom>
          <a:noFill/>
          <a:ln w="0">
            <a:noFill/>
          </a:ln>
        </p:spPr>
        <p:txBody>
          <a:bodyPr wrap="square" lIns="19050" tIns="19050" rIns="19050" bIns="19050" anchor="ctr">
            <a:normAutofit/>
          </a:bodyPr>
          <a:lstStyle/>
          <a:p>
            <a:pPr algn="l">
              <a:defRPr sz="1125" b="0">
                <a:solidFill>
                  <a:srgbClr val="536577"/>
                </a:solidFill>
                <a:latin typeface="Arial" panose="020B0604020202020204"/>
                <a:ea typeface="Arial" panose="020B0604020202020204"/>
                <a:cs typeface="Arial" panose="020B0604020202020204"/>
              </a:defRPr>
            </a:pPr>
            <a:r>
              <a:rPr sz="1125" b="0">
                <a:solidFill>
                  <a:srgbClr val="536577"/>
                </a:solidFill>
                <a:latin typeface="Arial" panose="020B0604020202020204"/>
                <a:ea typeface="Arial" panose="020B0604020202020204"/>
                <a:cs typeface="Arial" panose="020B0604020202020204"/>
              </a:rPr>
              <a:t>Operational diagram | Clinical, Booking and Finance responsibilities with external message boundaries</a:t>
            </a:r>
            <a:endParaRPr sz="1125" b="0">
              <a:solidFill>
                <a:srgbClr val="536577"/>
              </a:solidFill>
              <a:latin typeface="Arial" panose="020B0604020202020204"/>
              <a:ea typeface="Arial" panose="020B0604020202020204"/>
              <a:cs typeface="Arial" panose="020B0604020202020204"/>
            </a:endParaRPr>
          </a:p>
        </p:txBody>
      </p:sp>
      <p:sp>
        <p:nvSpPr>
          <p:cNvPr id="3" name="圆角矩形 2"/>
          <p:cNvSpPr>
            <a:spLocks noGrp="1"/>
          </p:cNvSpPr>
          <p:nvPr/>
        </p:nvSpPr>
        <p:spPr>
          <a:xfrm>
            <a:off x="381000" y="1143000"/>
            <a:ext cx="11430000" cy="1143000"/>
          </a:xfrm>
          <a:prstGeom prst="roundRect">
            <a:avLst>
              <a:gd name="adj" fmla="val 8333"/>
            </a:avLst>
          </a:prstGeom>
          <a:solidFill>
            <a:srgbClr val="FFFFFF"/>
          </a:solidFill>
          <a:ln w="11430">
            <a:solidFill>
              <a:srgbClr val="C7D2DC"/>
            </a:solidFill>
            <a:prstDash val="solid"/>
          </a:ln>
        </p:spPr>
      </p:sp>
      <p:sp>
        <p:nvSpPr>
          <p:cNvPr id="4" name="矩形 3"/>
          <p:cNvSpPr>
            <a:spLocks noGrp="1"/>
          </p:cNvSpPr>
          <p:nvPr/>
        </p:nvSpPr>
        <p:spPr>
          <a:xfrm>
            <a:off x="381000" y="1143000"/>
            <a:ext cx="1619250" cy="1143000"/>
          </a:xfrm>
          <a:prstGeom prst="rect">
            <a:avLst/>
          </a:prstGeom>
          <a:solidFill>
            <a:srgbClr val="EDF2F6"/>
          </a:solidFill>
          <a:ln w="9525">
            <a:solidFill>
              <a:srgbClr val="C7D2DC"/>
            </a:solidFill>
          </a:ln>
        </p:spPr>
      </p:sp>
      <p:sp>
        <p:nvSpPr>
          <p:cNvPr id="5" name="矩形 4"/>
          <p:cNvSpPr>
            <a:spLocks noGrp="1"/>
          </p:cNvSpPr>
          <p:nvPr/>
        </p:nvSpPr>
        <p:spPr>
          <a:xfrm>
            <a:off x="533400" y="1314450"/>
            <a:ext cx="1314450" cy="304800"/>
          </a:xfrm>
          <a:prstGeom prst="rect">
            <a:avLst/>
          </a:prstGeom>
          <a:noFill/>
          <a:ln w="0">
            <a:noFill/>
          </a:ln>
        </p:spPr>
        <p:txBody>
          <a:bodyPr wrap="square" lIns="19050" tIns="19050" rIns="19050" bIns="19050" anchor="ctr">
            <a:normAutofit/>
          </a:bodyPr>
          <a:lstStyle/>
          <a:p>
            <a:pPr algn="l">
              <a:defRPr sz="1425" b="1">
                <a:solidFill>
                  <a:srgbClr val="18324B"/>
                </a:solidFill>
                <a:latin typeface="Arial" panose="020B0604020202020204"/>
                <a:ea typeface="Arial" panose="020B0604020202020204"/>
                <a:cs typeface="Arial" panose="020B0604020202020204"/>
              </a:defRPr>
            </a:pPr>
            <a:r>
              <a:rPr sz="1425" b="1">
                <a:solidFill>
                  <a:srgbClr val="18324B"/>
                </a:solidFill>
                <a:latin typeface="Arial" panose="020B0604020202020204"/>
                <a:ea typeface="Arial" panose="020B0604020202020204"/>
                <a:cs typeface="Arial" panose="020B0604020202020204"/>
              </a:rPr>
              <a:t>Clinical</a:t>
            </a:r>
            <a:endParaRPr sz="1425" b="1">
              <a:solidFill>
                <a:srgbClr val="18324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533400" y="1638300"/>
            <a:ext cx="1314450" cy="571500"/>
          </a:xfrm>
          <a:prstGeom prst="rect">
            <a:avLst/>
          </a:prstGeom>
          <a:noFill/>
          <a:ln w="0">
            <a:noFill/>
          </a:ln>
        </p:spPr>
        <p:txBody>
          <a:bodyPr wrap="square" lIns="19050" tIns="19050" rIns="19050" bIns="19050" anchor="ctr">
            <a:normAutofit/>
          </a:bodyPr>
          <a:lstStyle/>
          <a:p>
            <a:pPr algn="l">
              <a:defRPr sz="900" b="0">
                <a:solidFill>
                  <a:srgbClr val="536577"/>
                </a:solidFill>
                <a:latin typeface="Arial" panose="020B0604020202020204"/>
                <a:ea typeface="Arial" panose="020B0604020202020204"/>
                <a:cs typeface="Arial" panose="020B0604020202020204"/>
              </a:defRPr>
            </a:pPr>
            <a:r>
              <a:rPr sz="900" b="0">
                <a:solidFill>
                  <a:srgbClr val="536577"/>
                </a:solidFill>
                <a:latin typeface="Arial" panose="020B0604020202020204"/>
                <a:ea typeface="Arial" panose="020B0604020202020204"/>
                <a:cs typeface="Arial" panose="020B0604020202020204"/>
              </a:rPr>
              <a:t>Consent and treatment authorisation</a:t>
            </a:r>
            <a:endParaRPr sz="900" b="0">
              <a:solidFill>
                <a:srgbClr val="536577"/>
              </a:solidFill>
              <a:latin typeface="Arial" panose="020B0604020202020204"/>
              <a:ea typeface="Arial" panose="020B0604020202020204"/>
              <a:cs typeface="Arial" panose="020B0604020202020204"/>
            </a:endParaRPr>
          </a:p>
        </p:txBody>
      </p:sp>
      <p:sp>
        <p:nvSpPr>
          <p:cNvPr id="7" name="圆角矩形 6"/>
          <p:cNvSpPr>
            <a:spLocks noGrp="1"/>
          </p:cNvSpPr>
          <p:nvPr/>
        </p:nvSpPr>
        <p:spPr>
          <a:xfrm>
            <a:off x="381000" y="2286000"/>
            <a:ext cx="11430000" cy="1238250"/>
          </a:xfrm>
          <a:prstGeom prst="roundRect">
            <a:avLst>
              <a:gd name="adj" fmla="val 7692"/>
            </a:avLst>
          </a:prstGeom>
          <a:solidFill>
            <a:srgbClr val="FFFFFF"/>
          </a:solidFill>
          <a:ln w="11430">
            <a:solidFill>
              <a:srgbClr val="C7D2DC"/>
            </a:solidFill>
            <a:prstDash val="solid"/>
          </a:ln>
        </p:spPr>
      </p:sp>
      <p:sp>
        <p:nvSpPr>
          <p:cNvPr id="8" name="矩形 7"/>
          <p:cNvSpPr>
            <a:spLocks noGrp="1"/>
          </p:cNvSpPr>
          <p:nvPr/>
        </p:nvSpPr>
        <p:spPr>
          <a:xfrm>
            <a:off x="381000" y="2286000"/>
            <a:ext cx="1619250" cy="1238250"/>
          </a:xfrm>
          <a:prstGeom prst="rect">
            <a:avLst/>
          </a:prstGeom>
          <a:solidFill>
            <a:srgbClr val="EDF2F6"/>
          </a:solidFill>
          <a:ln w="9525">
            <a:solidFill>
              <a:srgbClr val="C7D2DC"/>
            </a:solidFill>
          </a:ln>
        </p:spPr>
      </p:sp>
      <p:sp>
        <p:nvSpPr>
          <p:cNvPr id="9" name="矩形 8"/>
          <p:cNvSpPr>
            <a:spLocks noGrp="1"/>
          </p:cNvSpPr>
          <p:nvPr/>
        </p:nvSpPr>
        <p:spPr>
          <a:xfrm>
            <a:off x="533400" y="2457450"/>
            <a:ext cx="1314450" cy="304800"/>
          </a:xfrm>
          <a:prstGeom prst="rect">
            <a:avLst/>
          </a:prstGeom>
          <a:noFill/>
          <a:ln w="0">
            <a:noFill/>
          </a:ln>
        </p:spPr>
        <p:txBody>
          <a:bodyPr wrap="square" lIns="19050" tIns="19050" rIns="19050" bIns="19050" anchor="ctr">
            <a:normAutofit/>
          </a:bodyPr>
          <a:lstStyle/>
          <a:p>
            <a:pPr algn="l">
              <a:defRPr sz="1425" b="1">
                <a:solidFill>
                  <a:srgbClr val="18324B"/>
                </a:solidFill>
                <a:latin typeface="Arial" panose="020B0604020202020204"/>
                <a:ea typeface="Arial" panose="020B0604020202020204"/>
                <a:cs typeface="Arial" panose="020B0604020202020204"/>
              </a:defRPr>
            </a:pPr>
            <a:r>
              <a:rPr sz="1425" b="1">
                <a:solidFill>
                  <a:srgbClr val="18324B"/>
                </a:solidFill>
                <a:latin typeface="Arial" panose="020B0604020202020204"/>
                <a:ea typeface="Arial" panose="020B0604020202020204"/>
                <a:cs typeface="Arial" panose="020B0604020202020204"/>
              </a:rPr>
              <a:t>Booking</a:t>
            </a:r>
            <a:endParaRPr sz="1425" b="1">
              <a:solidFill>
                <a:srgbClr val="18324B"/>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533400" y="2781300"/>
            <a:ext cx="1314450" cy="666750"/>
          </a:xfrm>
          <a:prstGeom prst="rect">
            <a:avLst/>
          </a:prstGeom>
          <a:noFill/>
          <a:ln w="0">
            <a:noFill/>
          </a:ln>
        </p:spPr>
        <p:txBody>
          <a:bodyPr wrap="square" lIns="19050" tIns="19050" rIns="19050" bIns="19050" anchor="ctr">
            <a:normAutofit/>
          </a:bodyPr>
          <a:lstStyle/>
          <a:p>
            <a:pPr algn="l">
              <a:defRPr sz="900" b="0">
                <a:solidFill>
                  <a:srgbClr val="536577"/>
                </a:solidFill>
                <a:latin typeface="Arial" panose="020B0604020202020204"/>
                <a:ea typeface="Arial" panose="020B0604020202020204"/>
                <a:cs typeface="Arial" panose="020B0604020202020204"/>
              </a:defRPr>
            </a:pPr>
            <a:r>
              <a:rPr sz="900" b="0">
                <a:solidFill>
                  <a:srgbClr val="536577"/>
                </a:solidFill>
                <a:latin typeface="Arial" panose="020B0604020202020204"/>
                <a:ea typeface="Arial" panose="020B0604020202020204"/>
                <a:cs typeface="Arial" panose="020B0604020202020204"/>
              </a:rPr>
              <a:t>Capacity, retry and appointment confirmation</a:t>
            </a:r>
            <a:endParaRPr sz="900" b="0">
              <a:solidFill>
                <a:srgbClr val="536577"/>
              </a:solidFill>
              <a:latin typeface="Arial" panose="020B0604020202020204"/>
              <a:ea typeface="Arial" panose="020B0604020202020204"/>
              <a:cs typeface="Arial" panose="020B0604020202020204"/>
            </a:endParaRPr>
          </a:p>
        </p:txBody>
      </p:sp>
      <p:sp>
        <p:nvSpPr>
          <p:cNvPr id="11" name="圆角矩形 10"/>
          <p:cNvSpPr>
            <a:spLocks noGrp="1"/>
          </p:cNvSpPr>
          <p:nvPr/>
        </p:nvSpPr>
        <p:spPr>
          <a:xfrm>
            <a:off x="381000" y="3524250"/>
            <a:ext cx="11430000" cy="1809750"/>
          </a:xfrm>
          <a:prstGeom prst="roundRect">
            <a:avLst>
              <a:gd name="adj" fmla="val 5263"/>
            </a:avLst>
          </a:prstGeom>
          <a:solidFill>
            <a:srgbClr val="FFFFFF"/>
          </a:solidFill>
          <a:ln w="11430">
            <a:solidFill>
              <a:srgbClr val="C7D2DC"/>
            </a:solidFill>
            <a:prstDash val="solid"/>
          </a:ln>
        </p:spPr>
      </p:sp>
      <p:sp>
        <p:nvSpPr>
          <p:cNvPr id="12" name="矩形 11"/>
          <p:cNvSpPr>
            <a:spLocks noGrp="1"/>
          </p:cNvSpPr>
          <p:nvPr/>
        </p:nvSpPr>
        <p:spPr>
          <a:xfrm>
            <a:off x="381000" y="3524250"/>
            <a:ext cx="1619250" cy="1809750"/>
          </a:xfrm>
          <a:prstGeom prst="rect">
            <a:avLst/>
          </a:prstGeom>
          <a:solidFill>
            <a:srgbClr val="EDF2F6"/>
          </a:solidFill>
          <a:ln w="9525">
            <a:solidFill>
              <a:srgbClr val="C7D2DC"/>
            </a:solidFill>
          </a:ln>
        </p:spPr>
      </p:sp>
      <p:sp>
        <p:nvSpPr>
          <p:cNvPr id="13" name="矩形 12"/>
          <p:cNvSpPr>
            <a:spLocks noGrp="1"/>
          </p:cNvSpPr>
          <p:nvPr/>
        </p:nvSpPr>
        <p:spPr>
          <a:xfrm>
            <a:off x="533400" y="3695700"/>
            <a:ext cx="1314450" cy="304800"/>
          </a:xfrm>
          <a:prstGeom prst="rect">
            <a:avLst/>
          </a:prstGeom>
          <a:noFill/>
          <a:ln w="0">
            <a:noFill/>
          </a:ln>
        </p:spPr>
        <p:txBody>
          <a:bodyPr wrap="square" lIns="19050" tIns="19050" rIns="19050" bIns="19050" anchor="ctr">
            <a:normAutofit/>
          </a:bodyPr>
          <a:lstStyle/>
          <a:p>
            <a:pPr algn="l">
              <a:defRPr sz="1425" b="1">
                <a:solidFill>
                  <a:srgbClr val="18324B"/>
                </a:solidFill>
                <a:latin typeface="Arial" panose="020B0604020202020204"/>
                <a:ea typeface="Arial" panose="020B0604020202020204"/>
                <a:cs typeface="Arial" panose="020B0604020202020204"/>
              </a:defRPr>
            </a:pPr>
            <a:r>
              <a:rPr sz="1425" b="1">
                <a:solidFill>
                  <a:srgbClr val="18324B"/>
                </a:solidFill>
                <a:latin typeface="Arial" panose="020B0604020202020204"/>
                <a:ea typeface="Arial" panose="020B0604020202020204"/>
                <a:cs typeface="Arial" panose="020B0604020202020204"/>
              </a:rPr>
              <a:t>Finance</a:t>
            </a:r>
            <a:endParaRPr sz="1425" b="1">
              <a:solidFill>
                <a:srgbClr val="18324B"/>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533400" y="4019550"/>
            <a:ext cx="1314450" cy="1238250"/>
          </a:xfrm>
          <a:prstGeom prst="rect">
            <a:avLst/>
          </a:prstGeom>
          <a:noFill/>
          <a:ln w="0">
            <a:noFill/>
          </a:ln>
        </p:spPr>
        <p:txBody>
          <a:bodyPr wrap="square" lIns="19050" tIns="19050" rIns="19050" bIns="19050" anchor="ctr">
            <a:normAutofit/>
          </a:bodyPr>
          <a:lstStyle/>
          <a:p>
            <a:pPr algn="l">
              <a:defRPr sz="900" b="0">
                <a:solidFill>
                  <a:srgbClr val="536577"/>
                </a:solidFill>
                <a:latin typeface="Arial" panose="020B0604020202020204"/>
                <a:ea typeface="Arial" panose="020B0604020202020204"/>
                <a:cs typeface="Arial" panose="020B0604020202020204"/>
              </a:defRPr>
            </a:pPr>
            <a:r>
              <a:rPr sz="900" b="0">
                <a:solidFill>
                  <a:srgbClr val="536577"/>
                </a:solidFill>
                <a:latin typeface="Arial" panose="020B0604020202020204"/>
                <a:ea typeface="Arial" panose="020B0604020202020204"/>
                <a:cs typeface="Arial" panose="020B0604020202020204"/>
              </a:rPr>
              <a:t>Funding, payment outcome and investigation</a:t>
            </a:r>
            <a:endParaRPr sz="900" b="0">
              <a:solidFill>
                <a:srgbClr val="536577"/>
              </a:solidFill>
              <a:latin typeface="Arial" panose="020B0604020202020204"/>
              <a:ea typeface="Arial" panose="020B0604020202020204"/>
              <a:cs typeface="Arial" panose="020B0604020202020204"/>
            </a:endParaRPr>
          </a:p>
        </p:txBody>
      </p:sp>
      <p:sp>
        <p:nvSpPr>
          <p:cNvPr id="15" name="椭圆 14"/>
          <p:cNvSpPr>
            <a:spLocks noGrp="1"/>
          </p:cNvSpPr>
          <p:nvPr/>
        </p:nvSpPr>
        <p:spPr>
          <a:xfrm>
            <a:off x="2238375" y="1533525"/>
            <a:ext cx="323850" cy="323850"/>
          </a:xfrm>
          <a:prstGeom prst="ellipse">
            <a:avLst/>
          </a:prstGeom>
          <a:solidFill>
            <a:srgbClr val="FFFFFF"/>
          </a:solidFill>
          <a:ln w="23813">
            <a:solidFill>
              <a:srgbClr val="3D8063"/>
            </a:solidFill>
            <a:prstDash val="solid"/>
          </a:ln>
        </p:spPr>
      </p:sp>
      <p:sp>
        <p:nvSpPr>
          <p:cNvPr id="16" name="矩形 15"/>
          <p:cNvSpPr>
            <a:spLocks noGrp="1"/>
          </p:cNvSpPr>
          <p:nvPr/>
        </p:nvSpPr>
        <p:spPr>
          <a:xfrm>
            <a:off x="1981200" y="1866900"/>
            <a:ext cx="838200" cy="266700"/>
          </a:xfrm>
          <a:prstGeom prst="rect">
            <a:avLst/>
          </a:prstGeom>
          <a:noFill/>
          <a:ln w="0">
            <a:noFill/>
          </a:ln>
        </p:spPr>
        <p:txBody>
          <a:bodyPr wrap="square" lIns="19050" tIns="19050" rIns="19050" bIns="19050" anchor="ctr">
            <a:normAutofit/>
          </a:bodyPr>
          <a:lstStyle/>
          <a:p>
            <a:pPr algn="ctr">
              <a:defRPr sz="750" b="0">
                <a:solidFill>
                  <a:srgbClr val="536577"/>
                </a:solidFill>
                <a:latin typeface="Arial" panose="020B0604020202020204"/>
                <a:ea typeface="Arial" panose="020B0604020202020204"/>
                <a:cs typeface="Arial" panose="020B0604020202020204"/>
              </a:defRPr>
            </a:pPr>
            <a:r>
              <a:rPr sz="750" b="0">
                <a:solidFill>
                  <a:srgbClr val="536577"/>
                </a:solidFill>
                <a:latin typeface="Arial" panose="020B0604020202020204"/>
                <a:ea typeface="Arial" panose="020B0604020202020204"/>
                <a:cs typeface="Arial" panose="020B0604020202020204"/>
              </a:rPr>
              <a:t>Start</a:t>
            </a:r>
            <a:endParaRPr sz="750" b="0">
              <a:solidFill>
                <a:srgbClr val="536577"/>
              </a:solidFill>
              <a:latin typeface="Arial" panose="020B0604020202020204"/>
              <a:ea typeface="Arial" panose="020B0604020202020204"/>
              <a:cs typeface="Arial" panose="020B0604020202020204"/>
            </a:endParaRPr>
          </a:p>
        </p:txBody>
      </p:sp>
      <p:sp>
        <p:nvSpPr>
          <p:cNvPr id="17" name="圆角矩形 16"/>
          <p:cNvSpPr>
            <a:spLocks noGrp="1"/>
          </p:cNvSpPr>
          <p:nvPr/>
        </p:nvSpPr>
        <p:spPr>
          <a:xfrm>
            <a:off x="2724150" y="1409700"/>
            <a:ext cx="1476375" cy="552450"/>
          </a:xfrm>
          <a:prstGeom prst="roundRect">
            <a:avLst>
              <a:gd name="adj" fmla="val 17241"/>
            </a:avLst>
          </a:prstGeom>
          <a:solidFill>
            <a:srgbClr val="EAF1F8"/>
          </a:solidFill>
          <a:ln w="11430">
            <a:solidFill>
              <a:srgbClr val="2F6690"/>
            </a:solidFill>
            <a:prstDash val="solid"/>
          </a:ln>
        </p:spPr>
      </p:sp>
      <p:sp>
        <p:nvSpPr>
          <p:cNvPr id="18" name="矩形 17"/>
          <p:cNvSpPr>
            <a:spLocks noGrp="1"/>
          </p:cNvSpPr>
          <p:nvPr/>
        </p:nvSpPr>
        <p:spPr>
          <a:xfrm>
            <a:off x="2790825" y="1438275"/>
            <a:ext cx="1343025" cy="495300"/>
          </a:xfrm>
          <a:prstGeom prst="rect">
            <a:avLst/>
          </a:prstGeom>
          <a:noFill/>
          <a:ln w="0">
            <a:noFill/>
          </a:ln>
        </p:spPr>
        <p:txBody>
          <a:bodyPr wrap="square" lIns="19050" tIns="19050" rIns="19050" bIns="19050" anchor="ctr">
            <a:normAutofit/>
          </a:bodyPr>
          <a:lstStyle/>
          <a:p>
            <a:pPr algn="ctr">
              <a:defRPr sz="1050" b="1">
                <a:solidFill>
                  <a:srgbClr val="18212B"/>
                </a:solidFill>
                <a:latin typeface="Arial" panose="020B0604020202020204"/>
                <a:ea typeface="Arial" panose="020B0604020202020204"/>
                <a:cs typeface="Arial" panose="020B0604020202020204"/>
              </a:defRPr>
            </a:pPr>
            <a:r>
              <a:rPr sz="1050" b="1">
                <a:solidFill>
                  <a:srgbClr val="18212B"/>
                </a:solidFill>
                <a:latin typeface="Arial" panose="020B0604020202020204"/>
                <a:ea typeface="Arial" panose="020B0604020202020204"/>
                <a:cs typeface="Arial" panose="020B0604020202020204"/>
              </a:rPr>
              <a:t>Record consent and</a:t>
            </a:r>
            <a:endParaRPr sz="1050" b="1">
              <a:solidFill>
                <a:srgbClr val="18212B"/>
              </a:solidFill>
              <a:latin typeface="Arial" panose="020B0604020202020204"/>
              <a:ea typeface="Arial" panose="020B0604020202020204"/>
              <a:cs typeface="Arial" panose="020B0604020202020204"/>
            </a:endParaRPr>
          </a:p>
          <a:p>
            <a:pPr algn="ctr">
              <a:defRPr sz="1050" b="1">
                <a:solidFill>
                  <a:srgbClr val="18212B"/>
                </a:solidFill>
                <a:latin typeface="Arial" panose="020B0604020202020204"/>
                <a:ea typeface="Arial" panose="020B0604020202020204"/>
                <a:cs typeface="Arial" panose="020B0604020202020204"/>
              </a:defRPr>
            </a:pPr>
            <a:r>
              <a:rPr sz="1050" b="1">
                <a:solidFill>
                  <a:srgbClr val="18212B"/>
                </a:solidFill>
                <a:latin typeface="Arial" panose="020B0604020202020204"/>
                <a:ea typeface="Arial" panose="020B0604020202020204"/>
                <a:cs typeface="Arial" panose="020B0604020202020204"/>
              </a:rPr>
              <a:t>authorise request</a:t>
            </a:r>
            <a:endParaRPr sz="1050" b="1">
              <a:solidFill>
                <a:srgbClr val="18212B"/>
              </a:solidFill>
              <a:latin typeface="Arial" panose="020B0604020202020204"/>
              <a:ea typeface="Arial" panose="020B0604020202020204"/>
              <a:cs typeface="Arial" panose="020B0604020202020204"/>
            </a:endParaRPr>
          </a:p>
        </p:txBody>
      </p:sp>
      <p:sp>
        <p:nvSpPr>
          <p:cNvPr id="19" name="菱形 18"/>
          <p:cNvSpPr>
            <a:spLocks noGrp="1"/>
          </p:cNvSpPr>
          <p:nvPr/>
        </p:nvSpPr>
        <p:spPr>
          <a:xfrm>
            <a:off x="4457700" y="1428750"/>
            <a:ext cx="495300" cy="495300"/>
          </a:xfrm>
          <a:prstGeom prst="diamond">
            <a:avLst/>
          </a:prstGeom>
          <a:solidFill>
            <a:srgbClr val="FFF4D8"/>
          </a:solidFill>
          <a:ln w="14288">
            <a:solidFill>
              <a:srgbClr val="B77A14"/>
            </a:solidFill>
            <a:prstDash val="solid"/>
          </a:ln>
        </p:spPr>
      </p:sp>
      <p:sp>
        <p:nvSpPr>
          <p:cNvPr id="20" name="矩形 19"/>
          <p:cNvSpPr>
            <a:spLocks noGrp="1"/>
          </p:cNvSpPr>
          <p:nvPr/>
        </p:nvSpPr>
        <p:spPr>
          <a:xfrm>
            <a:off x="4171950" y="1933575"/>
            <a:ext cx="1066800" cy="323850"/>
          </a:xfrm>
          <a:prstGeom prst="rect">
            <a:avLst/>
          </a:prstGeom>
          <a:noFill/>
          <a:ln w="0">
            <a:noFill/>
          </a:ln>
        </p:spPr>
        <p:txBody>
          <a:bodyPr wrap="square" lIns="19050" tIns="19050" rIns="19050" bIns="19050" anchor="ctr">
            <a:normAutofit/>
          </a:bodyPr>
          <a:lstStyle/>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Authorised?</a:t>
            </a:r>
            <a:endParaRPr sz="825" b="1">
              <a:solidFill>
                <a:srgbClr val="18212B"/>
              </a:solidFill>
              <a:latin typeface="Arial" panose="020B0604020202020204"/>
              <a:ea typeface="Arial" panose="020B0604020202020204"/>
              <a:cs typeface="Arial" panose="020B0604020202020204"/>
            </a:endParaRPr>
          </a:p>
        </p:txBody>
      </p:sp>
      <p:sp>
        <p:nvSpPr>
          <p:cNvPr id="21" name="直接连接符 20"/>
          <p:cNvSpPr>
            <a:spLocks noGrp="1"/>
          </p:cNvSpPr>
          <p:nvPr/>
        </p:nvSpPr>
        <p:spPr>
          <a:xfrm>
            <a:off x="2562225" y="1695450"/>
            <a:ext cx="161925" cy="953"/>
          </a:xfrm>
          <a:prstGeom prst="line">
            <a:avLst/>
          </a:prstGeom>
          <a:noFill/>
          <a:ln w="17145">
            <a:solidFill>
              <a:srgbClr val="2F6690"/>
            </a:solidFill>
            <a:prstDash val="solid"/>
          </a:ln>
        </p:spPr>
      </p:sp>
      <p:sp>
        <p:nvSpPr>
          <p:cNvPr id="22" name="右箭头 21"/>
          <p:cNvSpPr>
            <a:spLocks noGrp="1"/>
          </p:cNvSpPr>
          <p:nvPr/>
        </p:nvSpPr>
        <p:spPr>
          <a:xfrm>
            <a:off x="2562225" y="1609725"/>
            <a:ext cx="200025" cy="171450"/>
          </a:xfrm>
          <a:prstGeom prst="rightArrow">
            <a:avLst/>
          </a:prstGeom>
          <a:solidFill>
            <a:srgbClr val="2F6690"/>
          </a:solidFill>
          <a:ln w="4763">
            <a:solidFill>
              <a:srgbClr val="2F6690"/>
            </a:solidFill>
          </a:ln>
        </p:spPr>
      </p:sp>
      <p:sp>
        <p:nvSpPr>
          <p:cNvPr id="23" name="直接连接符 22"/>
          <p:cNvSpPr>
            <a:spLocks noGrp="1"/>
          </p:cNvSpPr>
          <p:nvPr/>
        </p:nvSpPr>
        <p:spPr>
          <a:xfrm>
            <a:off x="4200525" y="1676400"/>
            <a:ext cx="257175" cy="19050"/>
          </a:xfrm>
          <a:prstGeom prst="line">
            <a:avLst/>
          </a:prstGeom>
          <a:noFill/>
          <a:ln w="17145">
            <a:solidFill>
              <a:srgbClr val="2F6690"/>
            </a:solidFill>
            <a:prstDash val="solid"/>
          </a:ln>
        </p:spPr>
      </p:sp>
      <p:sp>
        <p:nvSpPr>
          <p:cNvPr id="24" name="右箭头 23"/>
          <p:cNvSpPr>
            <a:spLocks noGrp="1"/>
          </p:cNvSpPr>
          <p:nvPr/>
        </p:nvSpPr>
        <p:spPr>
          <a:xfrm>
            <a:off x="4229100" y="1600200"/>
            <a:ext cx="209550" cy="171450"/>
          </a:xfrm>
          <a:prstGeom prst="rightArrow">
            <a:avLst/>
          </a:prstGeom>
          <a:solidFill>
            <a:srgbClr val="2F6690"/>
          </a:solidFill>
          <a:ln w="4763">
            <a:solidFill>
              <a:srgbClr val="2F6690"/>
            </a:solidFill>
          </a:ln>
        </p:spPr>
      </p:sp>
      <p:sp>
        <p:nvSpPr>
          <p:cNvPr id="25" name="矩形 24"/>
          <p:cNvSpPr>
            <a:spLocks noGrp="1"/>
          </p:cNvSpPr>
          <p:nvPr/>
        </p:nvSpPr>
        <p:spPr>
          <a:xfrm>
            <a:off x="4895850" y="1466850"/>
            <a:ext cx="304800" cy="171450"/>
          </a:xfrm>
          <a:prstGeom prst="rect">
            <a:avLst/>
          </a:prstGeom>
          <a:noFill/>
          <a:ln w="0">
            <a:noFill/>
          </a:ln>
        </p:spPr>
        <p:txBody>
          <a:bodyPr wrap="square" lIns="19050" tIns="19050" rIns="19050" bIns="19050" anchor="ctr">
            <a:normAutofit/>
          </a:bodyPr>
          <a:lstStyle/>
          <a:p>
            <a:pPr algn="l">
              <a:defRPr sz="750" b="1">
                <a:solidFill>
                  <a:srgbClr val="A84E59"/>
                </a:solidFill>
                <a:latin typeface="Arial" panose="020B0604020202020204"/>
                <a:ea typeface="Arial" panose="020B0604020202020204"/>
                <a:cs typeface="Arial" panose="020B0604020202020204"/>
              </a:defRPr>
            </a:pPr>
            <a:r>
              <a:rPr sz="750" b="1">
                <a:solidFill>
                  <a:srgbClr val="A84E59"/>
                </a:solidFill>
                <a:latin typeface="Arial" panose="020B0604020202020204"/>
                <a:ea typeface="Arial" panose="020B0604020202020204"/>
                <a:cs typeface="Arial" panose="020B0604020202020204"/>
              </a:rPr>
              <a:t>No</a:t>
            </a:r>
            <a:endParaRPr sz="750" b="1">
              <a:solidFill>
                <a:srgbClr val="A84E59"/>
              </a:solidFill>
              <a:latin typeface="Arial" panose="020B0604020202020204"/>
              <a:ea typeface="Arial" panose="020B0604020202020204"/>
              <a:cs typeface="Arial" panose="020B0604020202020204"/>
            </a:endParaRPr>
          </a:p>
        </p:txBody>
      </p:sp>
      <p:sp>
        <p:nvSpPr>
          <p:cNvPr id="26" name="椭圆 25"/>
          <p:cNvSpPr>
            <a:spLocks noGrp="1"/>
          </p:cNvSpPr>
          <p:nvPr/>
        </p:nvSpPr>
        <p:spPr>
          <a:xfrm>
            <a:off x="5276850" y="1514475"/>
            <a:ext cx="323850" cy="323850"/>
          </a:xfrm>
          <a:prstGeom prst="ellipse">
            <a:avLst/>
          </a:prstGeom>
          <a:solidFill>
            <a:srgbClr val="FFFFFF"/>
          </a:solidFill>
          <a:ln w="28575">
            <a:solidFill>
              <a:srgbClr val="A84E59"/>
            </a:solidFill>
            <a:prstDash val="solid"/>
          </a:ln>
        </p:spPr>
      </p:sp>
      <p:sp>
        <p:nvSpPr>
          <p:cNvPr id="27" name="椭圆 26"/>
          <p:cNvSpPr>
            <a:spLocks noGrp="1"/>
          </p:cNvSpPr>
          <p:nvPr/>
        </p:nvSpPr>
        <p:spPr>
          <a:xfrm>
            <a:off x="5314950" y="1552575"/>
            <a:ext cx="247650" cy="247650"/>
          </a:xfrm>
          <a:prstGeom prst="ellipse">
            <a:avLst/>
          </a:prstGeom>
          <a:noFill/>
          <a:ln w="9525">
            <a:solidFill>
              <a:srgbClr val="A84E59"/>
            </a:solidFill>
            <a:prstDash val="solid"/>
          </a:ln>
        </p:spPr>
      </p:sp>
      <p:sp>
        <p:nvSpPr>
          <p:cNvPr id="28" name="矩形 27"/>
          <p:cNvSpPr>
            <a:spLocks noGrp="1"/>
          </p:cNvSpPr>
          <p:nvPr/>
        </p:nvSpPr>
        <p:spPr>
          <a:xfrm>
            <a:off x="5124450" y="1857375"/>
            <a:ext cx="666750" cy="228600"/>
          </a:xfrm>
          <a:prstGeom prst="rect">
            <a:avLst/>
          </a:prstGeom>
          <a:noFill/>
          <a:ln w="0">
            <a:noFill/>
          </a:ln>
        </p:spPr>
        <p:txBody>
          <a:bodyPr wrap="square" lIns="19050" tIns="19050" rIns="19050" bIns="19050" anchor="ctr">
            <a:normAutofit/>
          </a:bodyPr>
          <a:lstStyle/>
          <a:p>
            <a:pPr algn="ctr">
              <a:defRPr sz="750" b="0">
                <a:solidFill>
                  <a:srgbClr val="A84E59"/>
                </a:solidFill>
                <a:latin typeface="Arial" panose="020B0604020202020204"/>
                <a:ea typeface="Arial" panose="020B0604020202020204"/>
                <a:cs typeface="Arial" panose="020B0604020202020204"/>
              </a:defRPr>
            </a:pPr>
            <a:r>
              <a:rPr sz="750" b="0">
                <a:solidFill>
                  <a:srgbClr val="A84E59"/>
                </a:solidFill>
                <a:latin typeface="Arial" panose="020B0604020202020204"/>
                <a:ea typeface="Arial" panose="020B0604020202020204"/>
                <a:cs typeface="Arial" panose="020B0604020202020204"/>
              </a:rPr>
              <a:t>Stop</a:t>
            </a:r>
            <a:endParaRPr sz="750" b="0">
              <a:solidFill>
                <a:srgbClr val="A84E59"/>
              </a:solidFill>
              <a:latin typeface="Arial" panose="020B0604020202020204"/>
              <a:ea typeface="Arial" panose="020B0604020202020204"/>
              <a:cs typeface="Arial" panose="020B0604020202020204"/>
            </a:endParaRPr>
          </a:p>
        </p:txBody>
      </p:sp>
      <p:sp>
        <p:nvSpPr>
          <p:cNvPr id="29" name="直接连接符 28"/>
          <p:cNvSpPr>
            <a:spLocks noGrp="1"/>
          </p:cNvSpPr>
          <p:nvPr/>
        </p:nvSpPr>
        <p:spPr>
          <a:xfrm>
            <a:off x="4705350" y="1924050"/>
            <a:ext cx="953" cy="933450"/>
          </a:xfrm>
          <a:prstGeom prst="line">
            <a:avLst/>
          </a:prstGeom>
          <a:noFill/>
          <a:ln w="17145">
            <a:solidFill>
              <a:srgbClr val="2F6690"/>
            </a:solidFill>
            <a:prstDash val="solid"/>
          </a:ln>
        </p:spPr>
      </p:sp>
      <p:sp>
        <p:nvSpPr>
          <p:cNvPr id="30" name="直接连接符 29"/>
          <p:cNvSpPr>
            <a:spLocks noGrp="1"/>
          </p:cNvSpPr>
          <p:nvPr/>
        </p:nvSpPr>
        <p:spPr>
          <a:xfrm>
            <a:off x="4705350" y="2857500"/>
            <a:ext cx="866775" cy="953"/>
          </a:xfrm>
          <a:prstGeom prst="line">
            <a:avLst/>
          </a:prstGeom>
          <a:noFill/>
          <a:ln w="17145">
            <a:solidFill>
              <a:srgbClr val="2F6690"/>
            </a:solidFill>
            <a:prstDash val="solid"/>
          </a:ln>
        </p:spPr>
      </p:sp>
      <p:sp>
        <p:nvSpPr>
          <p:cNvPr id="31" name="右箭头 30"/>
          <p:cNvSpPr>
            <a:spLocks noGrp="1"/>
          </p:cNvSpPr>
          <p:nvPr/>
        </p:nvSpPr>
        <p:spPr>
          <a:xfrm>
            <a:off x="5400675" y="2771775"/>
            <a:ext cx="200025" cy="171450"/>
          </a:xfrm>
          <a:prstGeom prst="rightArrow">
            <a:avLst/>
          </a:prstGeom>
          <a:solidFill>
            <a:srgbClr val="2F6690"/>
          </a:solidFill>
          <a:ln w="4763">
            <a:solidFill>
              <a:srgbClr val="2F6690"/>
            </a:solidFill>
          </a:ln>
        </p:spPr>
      </p:sp>
      <p:sp>
        <p:nvSpPr>
          <p:cNvPr id="32" name="矩形 31"/>
          <p:cNvSpPr>
            <a:spLocks noGrp="1"/>
          </p:cNvSpPr>
          <p:nvPr/>
        </p:nvSpPr>
        <p:spPr>
          <a:xfrm>
            <a:off x="4810125" y="2571750"/>
            <a:ext cx="323850" cy="171450"/>
          </a:xfrm>
          <a:prstGeom prst="rect">
            <a:avLst/>
          </a:prstGeom>
          <a:noFill/>
          <a:ln w="0">
            <a:noFill/>
          </a:ln>
        </p:spPr>
        <p:txBody>
          <a:bodyPr wrap="square" lIns="19050" tIns="19050" rIns="19050" bIns="19050" anchor="ctr">
            <a:normAutofit/>
          </a:bodyPr>
          <a:lstStyle/>
          <a:p>
            <a:pPr algn="l">
              <a:defRPr sz="750" b="1">
                <a:solidFill>
                  <a:srgbClr val="3D8063"/>
                </a:solidFill>
                <a:latin typeface="Arial" panose="020B0604020202020204"/>
                <a:ea typeface="Arial" panose="020B0604020202020204"/>
                <a:cs typeface="Arial" panose="020B0604020202020204"/>
              </a:defRPr>
            </a:pPr>
            <a:r>
              <a:rPr sz="750" b="1">
                <a:solidFill>
                  <a:srgbClr val="3D8063"/>
                </a:solidFill>
                <a:latin typeface="Arial" panose="020B0604020202020204"/>
                <a:ea typeface="Arial" panose="020B0604020202020204"/>
                <a:cs typeface="Arial" panose="020B0604020202020204"/>
              </a:rPr>
              <a:t>Yes</a:t>
            </a:r>
            <a:endParaRPr sz="750" b="1">
              <a:solidFill>
                <a:srgbClr val="3D8063"/>
              </a:solidFill>
              <a:latin typeface="Arial" panose="020B0604020202020204"/>
              <a:ea typeface="Arial" panose="020B0604020202020204"/>
              <a:cs typeface="Arial" panose="020B0604020202020204"/>
            </a:endParaRPr>
          </a:p>
        </p:txBody>
      </p:sp>
      <p:sp>
        <p:nvSpPr>
          <p:cNvPr id="33" name="圆角矩形 32"/>
          <p:cNvSpPr>
            <a:spLocks noGrp="1"/>
          </p:cNvSpPr>
          <p:nvPr/>
        </p:nvSpPr>
        <p:spPr>
          <a:xfrm>
            <a:off x="5572125" y="2590800"/>
            <a:ext cx="1381125" cy="552450"/>
          </a:xfrm>
          <a:prstGeom prst="roundRect">
            <a:avLst>
              <a:gd name="adj" fmla="val 17241"/>
            </a:avLst>
          </a:prstGeom>
          <a:solidFill>
            <a:srgbClr val="E4F3F1"/>
          </a:solidFill>
          <a:ln w="11430">
            <a:solidFill>
              <a:srgbClr val="2D766F"/>
            </a:solidFill>
            <a:prstDash val="solid"/>
          </a:ln>
        </p:spPr>
      </p:sp>
      <p:sp>
        <p:nvSpPr>
          <p:cNvPr id="34" name="矩形 33"/>
          <p:cNvSpPr>
            <a:spLocks noGrp="1"/>
          </p:cNvSpPr>
          <p:nvPr/>
        </p:nvSpPr>
        <p:spPr>
          <a:xfrm>
            <a:off x="5638800" y="2619375"/>
            <a:ext cx="1247775" cy="495300"/>
          </a:xfrm>
          <a:prstGeom prst="rect">
            <a:avLst/>
          </a:prstGeom>
          <a:noFill/>
          <a:ln w="0">
            <a:noFill/>
          </a:ln>
        </p:spPr>
        <p:txBody>
          <a:bodyPr wrap="square" lIns="19050" tIns="19050" rIns="19050" bIns="19050" anchor="ctr">
            <a:normAutofit/>
          </a:bodyPr>
          <a:lstStyle/>
          <a:p>
            <a:pPr algn="ctr">
              <a:defRPr sz="1050" b="1">
                <a:solidFill>
                  <a:srgbClr val="18212B"/>
                </a:solidFill>
                <a:latin typeface="Arial" panose="020B0604020202020204"/>
                <a:ea typeface="Arial" panose="020B0604020202020204"/>
                <a:cs typeface="Arial" panose="020B0604020202020204"/>
              </a:defRPr>
            </a:pPr>
            <a:r>
              <a:rPr sz="1050" b="1">
                <a:solidFill>
                  <a:srgbClr val="18212B"/>
                </a:solidFill>
                <a:latin typeface="Arial" panose="020B0604020202020204"/>
                <a:ea typeface="Arial" panose="020B0604020202020204"/>
                <a:cs typeface="Arial" panose="020B0604020202020204"/>
              </a:rPr>
              <a:t>Check treatment</a:t>
            </a:r>
            <a:endParaRPr sz="1050" b="1">
              <a:solidFill>
                <a:srgbClr val="18212B"/>
              </a:solidFill>
              <a:latin typeface="Arial" panose="020B0604020202020204"/>
              <a:ea typeface="Arial" panose="020B0604020202020204"/>
              <a:cs typeface="Arial" panose="020B0604020202020204"/>
            </a:endParaRPr>
          </a:p>
          <a:p>
            <a:pPr algn="ctr">
              <a:defRPr sz="1050" b="1">
                <a:solidFill>
                  <a:srgbClr val="18212B"/>
                </a:solidFill>
                <a:latin typeface="Arial" panose="020B0604020202020204"/>
                <a:ea typeface="Arial" panose="020B0604020202020204"/>
                <a:cs typeface="Arial" panose="020B0604020202020204"/>
              </a:defRPr>
            </a:pPr>
            <a:r>
              <a:rPr sz="1050" b="1">
                <a:solidFill>
                  <a:srgbClr val="18212B"/>
                </a:solidFill>
                <a:latin typeface="Arial" panose="020B0604020202020204"/>
                <a:ea typeface="Arial" panose="020B0604020202020204"/>
                <a:cs typeface="Arial" panose="020B0604020202020204"/>
              </a:rPr>
              <a:t>capacity</a:t>
            </a:r>
            <a:endParaRPr sz="1050" b="1">
              <a:solidFill>
                <a:srgbClr val="18212B"/>
              </a:solidFill>
              <a:latin typeface="Arial" panose="020B0604020202020204"/>
              <a:ea typeface="Arial" panose="020B0604020202020204"/>
              <a:cs typeface="Arial" panose="020B0604020202020204"/>
            </a:endParaRPr>
          </a:p>
        </p:txBody>
      </p:sp>
      <p:sp>
        <p:nvSpPr>
          <p:cNvPr id="35" name="椭圆 34"/>
          <p:cNvSpPr>
            <a:spLocks noGrp="1"/>
          </p:cNvSpPr>
          <p:nvPr/>
        </p:nvSpPr>
        <p:spPr>
          <a:xfrm>
            <a:off x="6848475" y="2495550"/>
            <a:ext cx="190500" cy="190500"/>
          </a:xfrm>
          <a:prstGeom prst="ellipse">
            <a:avLst/>
          </a:prstGeom>
          <a:solidFill>
            <a:srgbClr val="FFFFFF"/>
          </a:solidFill>
          <a:ln w="19050">
            <a:solidFill>
              <a:srgbClr val="A84E59"/>
            </a:solidFill>
            <a:prstDash val="solid"/>
          </a:ln>
        </p:spPr>
      </p:sp>
      <p:sp>
        <p:nvSpPr>
          <p:cNvPr id="36" name="矩形 35"/>
          <p:cNvSpPr>
            <a:spLocks noGrp="1"/>
          </p:cNvSpPr>
          <p:nvPr/>
        </p:nvSpPr>
        <p:spPr>
          <a:xfrm>
            <a:off x="6848475" y="2495550"/>
            <a:ext cx="190500" cy="190500"/>
          </a:xfrm>
          <a:prstGeom prst="rect">
            <a:avLst/>
          </a:prstGeom>
          <a:noFill/>
          <a:ln w="0">
            <a:noFill/>
          </a:ln>
        </p:spPr>
        <p:txBody>
          <a:bodyPr wrap="square" lIns="19050" tIns="19050" rIns="19050" bIns="19050" anchor="ctr">
            <a:normAutofit/>
          </a:bodyPr>
          <a:lstStyle/>
          <a:p>
            <a:pPr algn="ctr">
              <a:defRPr sz="900" b="1">
                <a:solidFill>
                  <a:srgbClr val="A84E59"/>
                </a:solidFill>
                <a:latin typeface="Arial" panose="020B0604020202020204"/>
                <a:ea typeface="Arial" panose="020B0604020202020204"/>
                <a:cs typeface="Arial" panose="020B0604020202020204"/>
              </a:defRPr>
            </a:pPr>
            <a:r>
              <a:rPr sz="900" b="1">
                <a:solidFill>
                  <a:srgbClr val="A84E59"/>
                </a:solidFill>
                <a:latin typeface="Arial" panose="020B0604020202020204"/>
                <a:ea typeface="Arial" panose="020B0604020202020204"/>
                <a:cs typeface="Arial" panose="020B0604020202020204"/>
              </a:rPr>
              <a:t>×</a:t>
            </a:r>
            <a:endParaRPr sz="900" b="1">
              <a:solidFill>
                <a:srgbClr val="A84E59"/>
              </a:solidFill>
              <a:latin typeface="Arial" panose="020B0604020202020204"/>
              <a:ea typeface="Arial" panose="020B0604020202020204"/>
              <a:cs typeface="Arial" panose="020B0604020202020204"/>
            </a:endParaRPr>
          </a:p>
        </p:txBody>
      </p:sp>
      <p:sp>
        <p:nvSpPr>
          <p:cNvPr id="37" name="矩形 36"/>
          <p:cNvSpPr>
            <a:spLocks noGrp="1"/>
          </p:cNvSpPr>
          <p:nvPr/>
        </p:nvSpPr>
        <p:spPr>
          <a:xfrm>
            <a:off x="5524500" y="3190875"/>
            <a:ext cx="704850" cy="257175"/>
          </a:xfrm>
          <a:prstGeom prst="rect">
            <a:avLst/>
          </a:prstGeom>
          <a:noFill/>
          <a:ln w="0">
            <a:noFill/>
          </a:ln>
        </p:spPr>
        <p:txBody>
          <a:bodyPr wrap="square" lIns="19050" tIns="19050" rIns="19050" bIns="19050" anchor="ctr">
            <a:normAutofit/>
          </a:bodyPr>
          <a:lstStyle/>
          <a:p>
            <a:pPr algn="l">
              <a:defRPr sz="640" b="1">
                <a:solidFill>
                  <a:srgbClr val="A84E59"/>
                </a:solidFill>
                <a:latin typeface="Arial" panose="020B0604020202020204"/>
                <a:ea typeface="Arial" panose="020B0604020202020204"/>
                <a:cs typeface="Arial" panose="020B0604020202020204"/>
              </a:defRPr>
            </a:pPr>
            <a:r>
              <a:rPr sz="640" b="1">
                <a:solidFill>
                  <a:srgbClr val="A84E59"/>
                </a:solidFill>
                <a:latin typeface="Arial" panose="020B0604020202020204"/>
                <a:ea typeface="Arial" panose="020B0604020202020204"/>
                <a:cs typeface="Arial" panose="020B0604020202020204"/>
              </a:rPr>
              <a:t>Error -&gt; pending</a:t>
            </a:r>
            <a:endParaRPr sz="640" b="1">
              <a:solidFill>
                <a:srgbClr val="A84E59"/>
              </a:solidFill>
              <a:latin typeface="Arial" panose="020B0604020202020204"/>
              <a:ea typeface="Arial" panose="020B0604020202020204"/>
              <a:cs typeface="Arial" panose="020B0604020202020204"/>
            </a:endParaRPr>
          </a:p>
        </p:txBody>
      </p:sp>
      <p:sp>
        <p:nvSpPr>
          <p:cNvPr id="38" name="菱形 37"/>
          <p:cNvSpPr>
            <a:spLocks noGrp="1"/>
          </p:cNvSpPr>
          <p:nvPr/>
        </p:nvSpPr>
        <p:spPr>
          <a:xfrm>
            <a:off x="7191375" y="2609850"/>
            <a:ext cx="495300" cy="495300"/>
          </a:xfrm>
          <a:prstGeom prst="diamond">
            <a:avLst/>
          </a:prstGeom>
          <a:solidFill>
            <a:srgbClr val="FFF4D8"/>
          </a:solidFill>
          <a:ln w="14288">
            <a:solidFill>
              <a:srgbClr val="B77A14"/>
            </a:solidFill>
            <a:prstDash val="solid"/>
          </a:ln>
        </p:spPr>
      </p:sp>
      <p:sp>
        <p:nvSpPr>
          <p:cNvPr id="39" name="矩形 38"/>
          <p:cNvSpPr>
            <a:spLocks noGrp="1"/>
          </p:cNvSpPr>
          <p:nvPr/>
        </p:nvSpPr>
        <p:spPr>
          <a:xfrm>
            <a:off x="6905625" y="3114675"/>
            <a:ext cx="1066800" cy="323850"/>
          </a:xfrm>
          <a:prstGeom prst="rect">
            <a:avLst/>
          </a:prstGeom>
          <a:noFill/>
          <a:ln w="0">
            <a:noFill/>
          </a:ln>
        </p:spPr>
        <p:txBody>
          <a:bodyPr wrap="square" lIns="19050" tIns="19050" rIns="19050" bIns="19050" anchor="ctr">
            <a:normAutofit/>
          </a:bodyPr>
          <a:lstStyle/>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Capacity?</a:t>
            </a:r>
            <a:endParaRPr sz="825" b="1">
              <a:solidFill>
                <a:srgbClr val="18212B"/>
              </a:solidFill>
              <a:latin typeface="Arial" panose="020B0604020202020204"/>
              <a:ea typeface="Arial" panose="020B0604020202020204"/>
              <a:cs typeface="Arial" panose="020B0604020202020204"/>
            </a:endParaRPr>
          </a:p>
        </p:txBody>
      </p:sp>
      <p:sp>
        <p:nvSpPr>
          <p:cNvPr id="40" name="直接连接符 39"/>
          <p:cNvSpPr>
            <a:spLocks noGrp="1"/>
          </p:cNvSpPr>
          <p:nvPr/>
        </p:nvSpPr>
        <p:spPr>
          <a:xfrm>
            <a:off x="6953250" y="2857500"/>
            <a:ext cx="238125" cy="9525"/>
          </a:xfrm>
          <a:prstGeom prst="line">
            <a:avLst/>
          </a:prstGeom>
          <a:noFill/>
          <a:ln w="17145">
            <a:solidFill>
              <a:srgbClr val="2F6690"/>
            </a:solidFill>
            <a:prstDash val="solid"/>
          </a:ln>
        </p:spPr>
      </p:sp>
      <p:sp>
        <p:nvSpPr>
          <p:cNvPr id="41" name="右箭头 40"/>
          <p:cNvSpPr>
            <a:spLocks noGrp="1"/>
          </p:cNvSpPr>
          <p:nvPr/>
        </p:nvSpPr>
        <p:spPr>
          <a:xfrm>
            <a:off x="6981825" y="2771775"/>
            <a:ext cx="200025" cy="171450"/>
          </a:xfrm>
          <a:prstGeom prst="rightArrow">
            <a:avLst/>
          </a:prstGeom>
          <a:solidFill>
            <a:srgbClr val="2F6690"/>
          </a:solidFill>
          <a:ln w="4763">
            <a:solidFill>
              <a:srgbClr val="2F6690"/>
            </a:solidFill>
          </a:ln>
        </p:spPr>
      </p:sp>
      <p:sp>
        <p:nvSpPr>
          <p:cNvPr id="42" name="矩形 41"/>
          <p:cNvSpPr>
            <a:spLocks noGrp="1"/>
          </p:cNvSpPr>
          <p:nvPr/>
        </p:nvSpPr>
        <p:spPr>
          <a:xfrm>
            <a:off x="7677150" y="2638425"/>
            <a:ext cx="266700" cy="171450"/>
          </a:xfrm>
          <a:prstGeom prst="rect">
            <a:avLst/>
          </a:prstGeom>
          <a:noFill/>
          <a:ln w="0">
            <a:noFill/>
          </a:ln>
        </p:spPr>
        <p:txBody>
          <a:bodyPr wrap="square" lIns="19050" tIns="19050" rIns="19050" bIns="19050" anchor="ctr">
            <a:normAutofit/>
          </a:bodyPr>
          <a:lstStyle/>
          <a:p>
            <a:pPr algn="l">
              <a:defRPr sz="750" b="1">
                <a:solidFill>
                  <a:srgbClr val="A84E59"/>
                </a:solidFill>
                <a:latin typeface="Arial" panose="020B0604020202020204"/>
                <a:ea typeface="Arial" panose="020B0604020202020204"/>
                <a:cs typeface="Arial" panose="020B0604020202020204"/>
              </a:defRPr>
            </a:pPr>
            <a:r>
              <a:rPr sz="750" b="1">
                <a:solidFill>
                  <a:srgbClr val="A84E59"/>
                </a:solidFill>
                <a:latin typeface="Arial" panose="020B0604020202020204"/>
                <a:ea typeface="Arial" panose="020B0604020202020204"/>
                <a:cs typeface="Arial" panose="020B0604020202020204"/>
              </a:rPr>
              <a:t>No</a:t>
            </a:r>
            <a:endParaRPr sz="750" b="1">
              <a:solidFill>
                <a:srgbClr val="A84E59"/>
              </a:solidFill>
              <a:latin typeface="Arial" panose="020B0604020202020204"/>
              <a:ea typeface="Arial" panose="020B0604020202020204"/>
              <a:cs typeface="Arial" panose="020B0604020202020204"/>
            </a:endParaRPr>
          </a:p>
        </p:txBody>
      </p:sp>
      <p:sp>
        <p:nvSpPr>
          <p:cNvPr id="43" name="圆角矩形 42"/>
          <p:cNvSpPr>
            <a:spLocks noGrp="1"/>
          </p:cNvSpPr>
          <p:nvPr/>
        </p:nvSpPr>
        <p:spPr>
          <a:xfrm>
            <a:off x="8001000" y="2409825"/>
            <a:ext cx="1352550" cy="495300"/>
          </a:xfrm>
          <a:prstGeom prst="roundRect">
            <a:avLst>
              <a:gd name="adj" fmla="val 19231"/>
            </a:avLst>
          </a:prstGeom>
          <a:solidFill>
            <a:srgbClr val="F9E8EA"/>
          </a:solidFill>
          <a:ln w="11430">
            <a:solidFill>
              <a:srgbClr val="A84E59"/>
            </a:solidFill>
            <a:prstDash val="solid"/>
          </a:ln>
        </p:spPr>
      </p:sp>
      <p:sp>
        <p:nvSpPr>
          <p:cNvPr id="44" name="矩形 43"/>
          <p:cNvSpPr>
            <a:spLocks noGrp="1"/>
          </p:cNvSpPr>
          <p:nvPr/>
        </p:nvSpPr>
        <p:spPr>
          <a:xfrm>
            <a:off x="8067675" y="2438400"/>
            <a:ext cx="1219200" cy="438150"/>
          </a:xfrm>
          <a:prstGeom prst="rect">
            <a:avLst/>
          </a:prstGeom>
          <a:noFill/>
          <a:ln w="0">
            <a:noFill/>
          </a:ln>
        </p:spPr>
        <p:txBody>
          <a:bodyPr wrap="square" lIns="19050" tIns="19050" rIns="19050" bIns="19050" anchor="ctr">
            <a:normAutofit/>
          </a:bodyPr>
          <a:lstStyle/>
          <a:p>
            <a:pPr algn="ctr">
              <a:defRPr sz="900" b="1">
                <a:solidFill>
                  <a:srgbClr val="18212B"/>
                </a:solidFill>
                <a:latin typeface="Arial" panose="020B0604020202020204"/>
                <a:ea typeface="Arial" panose="020B0604020202020204"/>
                <a:cs typeface="Arial" panose="020B0604020202020204"/>
              </a:defRPr>
            </a:pPr>
            <a:r>
              <a:rPr sz="900" b="1">
                <a:solidFill>
                  <a:srgbClr val="18212B"/>
                </a:solidFill>
                <a:latin typeface="Arial" panose="020B0604020202020204"/>
                <a:ea typeface="Arial" panose="020B0604020202020204"/>
                <a:cs typeface="Arial" panose="020B0604020202020204"/>
              </a:rPr>
              <a:t>Pending booking</a:t>
            </a:r>
            <a:endParaRPr sz="900" b="1">
              <a:solidFill>
                <a:srgbClr val="18212B"/>
              </a:solidFill>
              <a:latin typeface="Arial" panose="020B0604020202020204"/>
              <a:ea typeface="Arial" panose="020B0604020202020204"/>
              <a:cs typeface="Arial" panose="020B0604020202020204"/>
            </a:endParaRPr>
          </a:p>
          <a:p>
            <a:pPr algn="ctr">
              <a:defRPr sz="900" b="1">
                <a:solidFill>
                  <a:srgbClr val="18212B"/>
                </a:solidFill>
                <a:latin typeface="Arial" panose="020B0604020202020204"/>
                <a:ea typeface="Arial" panose="020B0604020202020204"/>
                <a:cs typeface="Arial" panose="020B0604020202020204"/>
              </a:defRPr>
            </a:pPr>
            <a:r>
              <a:rPr sz="900" b="1">
                <a:solidFill>
                  <a:srgbClr val="18212B"/>
                </a:solidFill>
                <a:latin typeface="Arial" panose="020B0604020202020204"/>
                <a:ea typeface="Arial" panose="020B0604020202020204"/>
                <a:cs typeface="Arial" panose="020B0604020202020204"/>
              </a:rPr>
              <a:t>+ owner notified</a:t>
            </a:r>
            <a:endParaRPr sz="900" b="1">
              <a:solidFill>
                <a:srgbClr val="18212B"/>
              </a:solidFill>
              <a:latin typeface="Arial" panose="020B0604020202020204"/>
              <a:ea typeface="Arial" panose="020B0604020202020204"/>
              <a:cs typeface="Arial" panose="020B0604020202020204"/>
            </a:endParaRPr>
          </a:p>
        </p:txBody>
      </p:sp>
      <p:sp>
        <p:nvSpPr>
          <p:cNvPr id="45" name="右箭头 44"/>
          <p:cNvSpPr>
            <a:spLocks noGrp="1"/>
          </p:cNvSpPr>
          <p:nvPr/>
        </p:nvSpPr>
        <p:spPr>
          <a:xfrm>
            <a:off x="7724775" y="2571750"/>
            <a:ext cx="219075" cy="161925"/>
          </a:xfrm>
          <a:prstGeom prst="rightArrow">
            <a:avLst/>
          </a:prstGeom>
          <a:solidFill>
            <a:srgbClr val="A84E59"/>
          </a:solidFill>
          <a:ln w="4763">
            <a:solidFill>
              <a:srgbClr val="A84E59"/>
            </a:solidFill>
          </a:ln>
        </p:spPr>
      </p:sp>
      <p:sp>
        <p:nvSpPr>
          <p:cNvPr id="46" name="椭圆 45"/>
          <p:cNvSpPr>
            <a:spLocks noGrp="1"/>
          </p:cNvSpPr>
          <p:nvPr/>
        </p:nvSpPr>
        <p:spPr>
          <a:xfrm>
            <a:off x="9525000" y="2486025"/>
            <a:ext cx="323850" cy="323850"/>
          </a:xfrm>
          <a:prstGeom prst="ellipse">
            <a:avLst/>
          </a:prstGeom>
          <a:solidFill>
            <a:srgbClr val="FFFFFF"/>
          </a:solidFill>
          <a:ln w="23813">
            <a:solidFill>
              <a:srgbClr val="B77A14"/>
            </a:solidFill>
            <a:prstDash val="solid"/>
          </a:ln>
        </p:spPr>
      </p:sp>
      <p:sp>
        <p:nvSpPr>
          <p:cNvPr id="47" name="矩形 46"/>
          <p:cNvSpPr>
            <a:spLocks noGrp="1"/>
          </p:cNvSpPr>
          <p:nvPr/>
        </p:nvSpPr>
        <p:spPr>
          <a:xfrm>
            <a:off x="9267825" y="2819400"/>
            <a:ext cx="838200" cy="266700"/>
          </a:xfrm>
          <a:prstGeom prst="rect">
            <a:avLst/>
          </a:prstGeom>
          <a:noFill/>
          <a:ln w="0">
            <a:noFill/>
          </a:ln>
        </p:spPr>
        <p:txBody>
          <a:bodyPr wrap="square" lIns="19050" tIns="19050" rIns="19050" bIns="19050" anchor="ctr">
            <a:normAutofit/>
          </a:bodyPr>
          <a:lstStyle/>
          <a:p>
            <a:pPr algn="ctr">
              <a:defRPr sz="750" b="0">
                <a:solidFill>
                  <a:srgbClr val="536577"/>
                </a:solidFill>
                <a:latin typeface="Arial" panose="020B0604020202020204"/>
                <a:ea typeface="Arial" panose="020B0604020202020204"/>
                <a:cs typeface="Arial" panose="020B0604020202020204"/>
              </a:defRPr>
            </a:pPr>
            <a:r>
              <a:rPr sz="750" b="0">
                <a:solidFill>
                  <a:srgbClr val="536577"/>
                </a:solidFill>
                <a:latin typeface="Arial" panose="020B0604020202020204"/>
                <a:ea typeface="Arial" panose="020B0604020202020204"/>
                <a:cs typeface="Arial" panose="020B0604020202020204"/>
              </a:rPr>
              <a:t>PT30M retry</a:t>
            </a:r>
            <a:endParaRPr sz="750" b="0">
              <a:solidFill>
                <a:srgbClr val="536577"/>
              </a:solidFill>
              <a:latin typeface="Arial" panose="020B0604020202020204"/>
              <a:ea typeface="Arial" panose="020B0604020202020204"/>
              <a:cs typeface="Arial" panose="020B0604020202020204"/>
            </a:endParaRPr>
          </a:p>
        </p:txBody>
      </p:sp>
      <p:sp>
        <p:nvSpPr>
          <p:cNvPr id="48" name="直接连接符 47"/>
          <p:cNvSpPr>
            <a:spLocks noGrp="1"/>
          </p:cNvSpPr>
          <p:nvPr/>
        </p:nvSpPr>
        <p:spPr>
          <a:xfrm>
            <a:off x="9353550" y="2657475"/>
            <a:ext cx="171450" cy="953"/>
          </a:xfrm>
          <a:prstGeom prst="line">
            <a:avLst/>
          </a:prstGeom>
          <a:noFill/>
          <a:ln w="17145">
            <a:solidFill>
              <a:srgbClr val="B77A14"/>
            </a:solidFill>
            <a:prstDash val="solid"/>
          </a:ln>
        </p:spPr>
      </p:sp>
      <p:sp>
        <p:nvSpPr>
          <p:cNvPr id="49" name="右箭头 48"/>
          <p:cNvSpPr>
            <a:spLocks noGrp="1"/>
          </p:cNvSpPr>
          <p:nvPr/>
        </p:nvSpPr>
        <p:spPr>
          <a:xfrm>
            <a:off x="9363075" y="2571750"/>
            <a:ext cx="190500" cy="161925"/>
          </a:xfrm>
          <a:prstGeom prst="rightArrow">
            <a:avLst/>
          </a:prstGeom>
          <a:solidFill>
            <a:srgbClr val="B77A14"/>
          </a:solidFill>
          <a:ln w="4763">
            <a:solidFill>
              <a:srgbClr val="B77A14"/>
            </a:solidFill>
          </a:ln>
        </p:spPr>
      </p:sp>
      <p:sp>
        <p:nvSpPr>
          <p:cNvPr id="50" name="直接连接符 49"/>
          <p:cNvSpPr>
            <a:spLocks noGrp="1"/>
          </p:cNvSpPr>
          <p:nvPr/>
        </p:nvSpPr>
        <p:spPr>
          <a:xfrm>
            <a:off x="9686925" y="2324100"/>
            <a:ext cx="953" cy="161925"/>
          </a:xfrm>
          <a:prstGeom prst="line">
            <a:avLst/>
          </a:prstGeom>
          <a:noFill/>
          <a:ln w="17145">
            <a:solidFill>
              <a:srgbClr val="B77A14"/>
            </a:solidFill>
            <a:prstDash val="solid"/>
          </a:ln>
        </p:spPr>
      </p:sp>
      <p:sp>
        <p:nvSpPr>
          <p:cNvPr id="51" name="直接连接符 50"/>
          <p:cNvSpPr>
            <a:spLocks noGrp="1"/>
          </p:cNvSpPr>
          <p:nvPr/>
        </p:nvSpPr>
        <p:spPr>
          <a:xfrm>
            <a:off x="6257925" y="2324100"/>
            <a:ext cx="3429000" cy="953"/>
          </a:xfrm>
          <a:prstGeom prst="line">
            <a:avLst/>
          </a:prstGeom>
          <a:noFill/>
          <a:ln w="17145">
            <a:solidFill>
              <a:srgbClr val="B77A14"/>
            </a:solidFill>
            <a:prstDash val="solid"/>
          </a:ln>
        </p:spPr>
      </p:sp>
      <p:sp>
        <p:nvSpPr>
          <p:cNvPr id="52" name="直接连接符 51"/>
          <p:cNvSpPr>
            <a:spLocks noGrp="1"/>
          </p:cNvSpPr>
          <p:nvPr/>
        </p:nvSpPr>
        <p:spPr>
          <a:xfrm>
            <a:off x="6257925" y="2324100"/>
            <a:ext cx="953" cy="266700"/>
          </a:xfrm>
          <a:prstGeom prst="line">
            <a:avLst/>
          </a:prstGeom>
          <a:noFill/>
          <a:ln w="17145">
            <a:solidFill>
              <a:srgbClr val="B77A14"/>
            </a:solidFill>
            <a:prstDash val="solid"/>
          </a:ln>
        </p:spPr>
      </p:sp>
      <p:sp>
        <p:nvSpPr>
          <p:cNvPr id="53" name="右箭头 52"/>
          <p:cNvSpPr>
            <a:spLocks noGrp="1"/>
          </p:cNvSpPr>
          <p:nvPr/>
        </p:nvSpPr>
        <p:spPr>
          <a:xfrm rot="5400000">
            <a:off x="6172200" y="2438400"/>
            <a:ext cx="171450" cy="171450"/>
          </a:xfrm>
          <a:prstGeom prst="rightArrow">
            <a:avLst/>
          </a:prstGeom>
          <a:solidFill>
            <a:srgbClr val="B77A14"/>
          </a:solidFill>
          <a:ln w="4763">
            <a:solidFill>
              <a:srgbClr val="B77A14"/>
            </a:solidFill>
          </a:ln>
        </p:spPr>
      </p:sp>
      <p:sp>
        <p:nvSpPr>
          <p:cNvPr id="54" name="直接连接符 53"/>
          <p:cNvSpPr>
            <a:spLocks noGrp="1"/>
          </p:cNvSpPr>
          <p:nvPr/>
        </p:nvSpPr>
        <p:spPr>
          <a:xfrm>
            <a:off x="7439025" y="3105150"/>
            <a:ext cx="953" cy="1352550"/>
          </a:xfrm>
          <a:prstGeom prst="line">
            <a:avLst/>
          </a:prstGeom>
          <a:noFill/>
          <a:ln w="17145">
            <a:solidFill>
              <a:srgbClr val="2D766F"/>
            </a:solidFill>
            <a:prstDash val="solid"/>
          </a:ln>
        </p:spPr>
      </p:sp>
      <p:sp>
        <p:nvSpPr>
          <p:cNvPr id="55" name="直接连接符 54"/>
          <p:cNvSpPr>
            <a:spLocks noGrp="1"/>
          </p:cNvSpPr>
          <p:nvPr/>
        </p:nvSpPr>
        <p:spPr>
          <a:xfrm>
            <a:off x="7439025" y="4457700"/>
            <a:ext cx="514350" cy="953"/>
          </a:xfrm>
          <a:prstGeom prst="line">
            <a:avLst/>
          </a:prstGeom>
          <a:noFill/>
          <a:ln w="17145">
            <a:solidFill>
              <a:srgbClr val="2D766F"/>
            </a:solidFill>
            <a:prstDash val="solid"/>
          </a:ln>
        </p:spPr>
      </p:sp>
      <p:sp>
        <p:nvSpPr>
          <p:cNvPr id="56" name="右箭头 55"/>
          <p:cNvSpPr>
            <a:spLocks noGrp="1"/>
          </p:cNvSpPr>
          <p:nvPr/>
        </p:nvSpPr>
        <p:spPr>
          <a:xfrm>
            <a:off x="7772400" y="4371975"/>
            <a:ext cx="200025" cy="171450"/>
          </a:xfrm>
          <a:prstGeom prst="rightArrow">
            <a:avLst/>
          </a:prstGeom>
          <a:solidFill>
            <a:srgbClr val="2D766F"/>
          </a:solidFill>
          <a:ln w="4763">
            <a:solidFill>
              <a:srgbClr val="2D766F"/>
            </a:solidFill>
          </a:ln>
        </p:spPr>
      </p:sp>
      <p:sp>
        <p:nvSpPr>
          <p:cNvPr id="57" name="圆角矩形 56"/>
          <p:cNvSpPr>
            <a:spLocks noGrp="1"/>
          </p:cNvSpPr>
          <p:nvPr/>
        </p:nvSpPr>
        <p:spPr>
          <a:xfrm>
            <a:off x="7953375" y="4095750"/>
            <a:ext cx="1381125" cy="590550"/>
          </a:xfrm>
          <a:prstGeom prst="roundRect">
            <a:avLst>
              <a:gd name="adj" fmla="val 16129"/>
            </a:avLst>
          </a:prstGeom>
          <a:solidFill>
            <a:srgbClr val="EAF1F8"/>
          </a:solidFill>
          <a:ln w="11430">
            <a:solidFill>
              <a:srgbClr val="2F6690"/>
            </a:solidFill>
            <a:prstDash val="solid"/>
          </a:ln>
        </p:spPr>
      </p:sp>
      <p:sp>
        <p:nvSpPr>
          <p:cNvPr id="58" name="矩形 57"/>
          <p:cNvSpPr>
            <a:spLocks noGrp="1"/>
          </p:cNvSpPr>
          <p:nvPr/>
        </p:nvSpPr>
        <p:spPr>
          <a:xfrm>
            <a:off x="8020050" y="4124325"/>
            <a:ext cx="1247775" cy="533400"/>
          </a:xfrm>
          <a:prstGeom prst="rect">
            <a:avLst/>
          </a:prstGeom>
          <a:noFill/>
          <a:ln w="0">
            <a:noFill/>
          </a:ln>
        </p:spPr>
        <p:txBody>
          <a:bodyPr wrap="square" lIns="19050" tIns="19050" rIns="19050" bIns="19050" anchor="ctr">
            <a:normAutofit/>
          </a:bodyPr>
          <a:lstStyle/>
          <a:p>
            <a:pPr algn="ctr">
              <a:defRPr sz="975" b="1">
                <a:solidFill>
                  <a:srgbClr val="18212B"/>
                </a:solidFill>
                <a:latin typeface="Arial" panose="020B0604020202020204"/>
                <a:ea typeface="Arial" panose="020B0604020202020204"/>
                <a:cs typeface="Arial" panose="020B0604020202020204"/>
              </a:defRPr>
            </a:pPr>
            <a:r>
              <a:rPr sz="975" b="1">
                <a:solidFill>
                  <a:srgbClr val="18212B"/>
                </a:solidFill>
                <a:latin typeface="Arial" panose="020B0604020202020204"/>
                <a:ea typeface="Arial" panose="020B0604020202020204"/>
                <a:cs typeface="Arial" panose="020B0604020202020204"/>
              </a:rPr>
              <a:t>Assess funding +</a:t>
            </a:r>
            <a:endParaRPr sz="975" b="1">
              <a:solidFill>
                <a:srgbClr val="18212B"/>
              </a:solidFill>
              <a:latin typeface="Arial" panose="020B0604020202020204"/>
              <a:ea typeface="Arial" panose="020B0604020202020204"/>
              <a:cs typeface="Arial" panose="020B0604020202020204"/>
            </a:endParaRPr>
          </a:p>
          <a:p>
            <a:pPr algn="ctr">
              <a:defRPr sz="975" b="1">
                <a:solidFill>
                  <a:srgbClr val="18212B"/>
                </a:solidFill>
                <a:latin typeface="Arial" panose="020B0604020202020204"/>
                <a:ea typeface="Arial" panose="020B0604020202020204"/>
                <a:cs typeface="Arial" panose="020B0604020202020204"/>
              </a:defRPr>
            </a:pPr>
            <a:r>
              <a:rPr sz="975" b="1">
                <a:solidFill>
                  <a:srgbClr val="18212B"/>
                </a:solidFill>
                <a:latin typeface="Arial" panose="020B0604020202020204"/>
                <a:ea typeface="Arial" panose="020B0604020202020204"/>
                <a:cs typeface="Arial" panose="020B0604020202020204"/>
              </a:rPr>
              <a:t>Finance decision</a:t>
            </a:r>
            <a:endParaRPr sz="975" b="1">
              <a:solidFill>
                <a:srgbClr val="18212B"/>
              </a:solidFill>
              <a:latin typeface="Arial" panose="020B0604020202020204"/>
              <a:ea typeface="Arial" panose="020B0604020202020204"/>
              <a:cs typeface="Arial" panose="020B0604020202020204"/>
            </a:endParaRPr>
          </a:p>
        </p:txBody>
      </p:sp>
      <p:sp>
        <p:nvSpPr>
          <p:cNvPr id="59" name="菱形 58"/>
          <p:cNvSpPr>
            <a:spLocks noGrp="1"/>
          </p:cNvSpPr>
          <p:nvPr/>
        </p:nvSpPr>
        <p:spPr>
          <a:xfrm>
            <a:off x="9534525" y="4114800"/>
            <a:ext cx="495300" cy="495300"/>
          </a:xfrm>
          <a:prstGeom prst="diamond">
            <a:avLst/>
          </a:prstGeom>
          <a:solidFill>
            <a:srgbClr val="FFF4D8"/>
          </a:solidFill>
          <a:ln w="14288">
            <a:solidFill>
              <a:srgbClr val="B77A14"/>
            </a:solidFill>
            <a:prstDash val="solid"/>
          </a:ln>
        </p:spPr>
      </p:sp>
      <p:sp>
        <p:nvSpPr>
          <p:cNvPr id="60" name="矩形 59"/>
          <p:cNvSpPr>
            <a:spLocks noGrp="1"/>
          </p:cNvSpPr>
          <p:nvPr/>
        </p:nvSpPr>
        <p:spPr>
          <a:xfrm>
            <a:off x="9248775" y="4619625"/>
            <a:ext cx="1066800" cy="323850"/>
          </a:xfrm>
          <a:prstGeom prst="rect">
            <a:avLst/>
          </a:prstGeom>
          <a:noFill/>
          <a:ln w="0">
            <a:noFill/>
          </a:ln>
        </p:spPr>
        <p:txBody>
          <a:bodyPr wrap="square" lIns="19050" tIns="19050" rIns="19050" bIns="19050" anchor="ctr">
            <a:normAutofit/>
          </a:bodyPr>
          <a:lstStyle/>
          <a:p/>
        </p:txBody>
      </p:sp>
      <p:sp>
        <p:nvSpPr>
          <p:cNvPr id="61" name="矩形 60"/>
          <p:cNvSpPr>
            <a:spLocks noGrp="1"/>
          </p:cNvSpPr>
          <p:nvPr/>
        </p:nvSpPr>
        <p:spPr>
          <a:xfrm>
            <a:off x="9277350" y="3829050"/>
            <a:ext cx="1028700" cy="190500"/>
          </a:xfrm>
          <a:prstGeom prst="rect">
            <a:avLst/>
          </a:prstGeom>
          <a:noFill/>
          <a:ln w="0">
            <a:noFill/>
          </a:ln>
        </p:spPr>
        <p:txBody>
          <a:bodyPr wrap="square" lIns="19050" tIns="19050" rIns="19050" bIns="19050" anchor="ctr">
            <a:normAutofit/>
          </a:bodyPr>
          <a:lstStyle/>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Advance payment?</a:t>
            </a:r>
            <a:endParaRPr sz="825" b="1">
              <a:solidFill>
                <a:srgbClr val="18212B"/>
              </a:solidFill>
              <a:latin typeface="Arial" panose="020B0604020202020204"/>
              <a:ea typeface="Arial" panose="020B0604020202020204"/>
              <a:cs typeface="Arial" panose="020B0604020202020204"/>
            </a:endParaRPr>
          </a:p>
        </p:txBody>
      </p:sp>
      <p:sp>
        <p:nvSpPr>
          <p:cNvPr id="62" name="直接连接符 61"/>
          <p:cNvSpPr>
            <a:spLocks noGrp="1"/>
          </p:cNvSpPr>
          <p:nvPr/>
        </p:nvSpPr>
        <p:spPr>
          <a:xfrm>
            <a:off x="9334500" y="4362450"/>
            <a:ext cx="200025" cy="28575"/>
          </a:xfrm>
          <a:prstGeom prst="line">
            <a:avLst/>
          </a:prstGeom>
          <a:noFill/>
          <a:ln w="17145">
            <a:solidFill>
              <a:srgbClr val="2F6690"/>
            </a:solidFill>
            <a:prstDash val="solid"/>
          </a:ln>
        </p:spPr>
      </p:sp>
      <p:sp>
        <p:nvSpPr>
          <p:cNvPr id="63" name="右箭头 62"/>
          <p:cNvSpPr>
            <a:spLocks noGrp="1"/>
          </p:cNvSpPr>
          <p:nvPr/>
        </p:nvSpPr>
        <p:spPr>
          <a:xfrm>
            <a:off x="9353550" y="4295775"/>
            <a:ext cx="190500" cy="161925"/>
          </a:xfrm>
          <a:prstGeom prst="rightArrow">
            <a:avLst/>
          </a:prstGeom>
          <a:solidFill>
            <a:srgbClr val="2F6690"/>
          </a:solidFill>
          <a:ln w="4763">
            <a:solidFill>
              <a:srgbClr val="2F6690"/>
            </a:solidFill>
          </a:ln>
        </p:spPr>
      </p:sp>
      <p:sp>
        <p:nvSpPr>
          <p:cNvPr id="64" name="直接连接符 63"/>
          <p:cNvSpPr>
            <a:spLocks noGrp="1"/>
          </p:cNvSpPr>
          <p:nvPr/>
        </p:nvSpPr>
        <p:spPr>
          <a:xfrm>
            <a:off x="10029825" y="4362450"/>
            <a:ext cx="209550" cy="953"/>
          </a:xfrm>
          <a:prstGeom prst="line">
            <a:avLst/>
          </a:prstGeom>
          <a:noFill/>
          <a:ln w="17145">
            <a:solidFill>
              <a:srgbClr val="2F6690"/>
            </a:solidFill>
            <a:prstDash val="solid"/>
          </a:ln>
        </p:spPr>
      </p:sp>
      <p:sp>
        <p:nvSpPr>
          <p:cNvPr id="65" name="右箭头 64"/>
          <p:cNvSpPr>
            <a:spLocks noGrp="1"/>
          </p:cNvSpPr>
          <p:nvPr/>
        </p:nvSpPr>
        <p:spPr>
          <a:xfrm>
            <a:off x="10039350" y="4276725"/>
            <a:ext cx="190500" cy="161925"/>
          </a:xfrm>
          <a:prstGeom prst="rightArrow">
            <a:avLst/>
          </a:prstGeom>
          <a:solidFill>
            <a:srgbClr val="2F6690"/>
          </a:solidFill>
          <a:ln w="4763">
            <a:solidFill>
              <a:srgbClr val="2F6690"/>
            </a:solidFill>
          </a:ln>
        </p:spPr>
      </p:sp>
      <p:sp>
        <p:nvSpPr>
          <p:cNvPr id="66" name="圆角矩形 65"/>
          <p:cNvSpPr>
            <a:spLocks noGrp="1"/>
          </p:cNvSpPr>
          <p:nvPr/>
        </p:nvSpPr>
        <p:spPr>
          <a:xfrm>
            <a:off x="10248900" y="3962400"/>
            <a:ext cx="1162050" cy="476250"/>
          </a:xfrm>
          <a:prstGeom prst="roundRect">
            <a:avLst>
              <a:gd name="adj" fmla="val 20000"/>
            </a:avLst>
          </a:prstGeom>
          <a:solidFill>
            <a:srgbClr val="EAF1F8"/>
          </a:solidFill>
          <a:ln w="11430">
            <a:solidFill>
              <a:srgbClr val="2F6690"/>
            </a:solidFill>
            <a:prstDash val="solid"/>
          </a:ln>
        </p:spPr>
      </p:sp>
      <p:sp>
        <p:nvSpPr>
          <p:cNvPr id="67" name="矩形 66"/>
          <p:cNvSpPr>
            <a:spLocks noGrp="1"/>
          </p:cNvSpPr>
          <p:nvPr/>
        </p:nvSpPr>
        <p:spPr>
          <a:xfrm>
            <a:off x="10315575" y="3990975"/>
            <a:ext cx="1028700" cy="419100"/>
          </a:xfrm>
          <a:prstGeom prst="rect">
            <a:avLst/>
          </a:prstGeom>
          <a:noFill/>
          <a:ln w="0">
            <a:noFill/>
          </a:ln>
        </p:spPr>
        <p:txBody>
          <a:bodyPr wrap="square" lIns="19050" tIns="19050" rIns="19050" bIns="19050" anchor="ctr">
            <a:normAutofit/>
          </a:bodyPr>
          <a:lstStyle/>
          <a:p>
            <a:pPr algn="ctr">
              <a:defRPr sz="900" b="1">
                <a:solidFill>
                  <a:srgbClr val="18212B"/>
                </a:solidFill>
                <a:latin typeface="Arial" panose="020B0604020202020204"/>
                <a:ea typeface="Arial" panose="020B0604020202020204"/>
                <a:cs typeface="Arial" panose="020B0604020202020204"/>
              </a:defRPr>
            </a:pPr>
            <a:r>
              <a:rPr sz="900" b="1">
                <a:solidFill>
                  <a:srgbClr val="18212B"/>
                </a:solidFill>
                <a:latin typeface="Arial" panose="020B0604020202020204"/>
                <a:ea typeface="Arial" panose="020B0604020202020204"/>
                <a:cs typeface="Arial" panose="020B0604020202020204"/>
              </a:rPr>
              <a:t>Secure payment</a:t>
            </a:r>
            <a:endParaRPr sz="900" b="1">
              <a:solidFill>
                <a:srgbClr val="18212B"/>
              </a:solidFill>
              <a:latin typeface="Arial" panose="020B0604020202020204"/>
              <a:ea typeface="Arial" panose="020B0604020202020204"/>
              <a:cs typeface="Arial" panose="020B0604020202020204"/>
            </a:endParaRPr>
          </a:p>
          <a:p>
            <a:pPr algn="ctr">
              <a:defRPr sz="900" b="1">
                <a:solidFill>
                  <a:srgbClr val="18212B"/>
                </a:solidFill>
                <a:latin typeface="Arial" panose="020B0604020202020204"/>
                <a:ea typeface="Arial" panose="020B0604020202020204"/>
                <a:cs typeface="Arial" panose="020B0604020202020204"/>
              </a:defRPr>
            </a:pPr>
            <a:r>
              <a:rPr sz="900" b="1">
                <a:solidFill>
                  <a:srgbClr val="18212B"/>
                </a:solidFill>
                <a:latin typeface="Arial" panose="020B0604020202020204"/>
                <a:ea typeface="Arial" panose="020B0604020202020204"/>
                <a:cs typeface="Arial" panose="020B0604020202020204"/>
              </a:rPr>
              <a:t>request</a:t>
            </a:r>
            <a:endParaRPr sz="900" b="1">
              <a:solidFill>
                <a:srgbClr val="18212B"/>
              </a:solidFill>
              <a:latin typeface="Arial" panose="020B0604020202020204"/>
              <a:ea typeface="Arial" panose="020B0604020202020204"/>
              <a:cs typeface="Arial" panose="020B0604020202020204"/>
            </a:endParaRPr>
          </a:p>
        </p:txBody>
      </p:sp>
      <p:sp>
        <p:nvSpPr>
          <p:cNvPr id="68" name="圆角矩形 67"/>
          <p:cNvSpPr>
            <a:spLocks noGrp="1"/>
          </p:cNvSpPr>
          <p:nvPr/>
        </p:nvSpPr>
        <p:spPr>
          <a:xfrm>
            <a:off x="10248900" y="4476750"/>
            <a:ext cx="1162050" cy="381000"/>
          </a:xfrm>
          <a:prstGeom prst="roundRect">
            <a:avLst>
              <a:gd name="adj" fmla="val 25000"/>
            </a:avLst>
          </a:prstGeom>
          <a:solidFill>
            <a:srgbClr val="FFF4D8"/>
          </a:solidFill>
          <a:ln w="11430">
            <a:solidFill>
              <a:srgbClr val="B77A14"/>
            </a:solidFill>
            <a:prstDash val="solid"/>
          </a:ln>
        </p:spPr>
      </p:sp>
      <p:sp>
        <p:nvSpPr>
          <p:cNvPr id="69" name="矩形 68"/>
          <p:cNvSpPr>
            <a:spLocks noGrp="1"/>
          </p:cNvSpPr>
          <p:nvPr/>
        </p:nvSpPr>
        <p:spPr>
          <a:xfrm>
            <a:off x="10315575" y="4505325"/>
            <a:ext cx="1028700" cy="323850"/>
          </a:xfrm>
          <a:prstGeom prst="rect">
            <a:avLst/>
          </a:prstGeom>
          <a:noFill/>
          <a:ln w="0">
            <a:noFill/>
          </a:ln>
        </p:spPr>
        <p:txBody>
          <a:bodyPr wrap="square" lIns="19050" tIns="19050" rIns="19050" bIns="19050" anchor="ctr">
            <a:normAutofit/>
          </a:bodyPr>
          <a:lstStyle/>
          <a:p>
            <a:pPr algn="ctr">
              <a:defRPr sz="790" b="1">
                <a:solidFill>
                  <a:srgbClr val="18212B"/>
                </a:solidFill>
                <a:latin typeface="Arial" panose="020B0604020202020204"/>
                <a:ea typeface="Arial" panose="020B0604020202020204"/>
                <a:cs typeface="Arial" panose="020B0604020202020204"/>
              </a:defRPr>
            </a:pPr>
            <a:r>
              <a:rPr sz="790" b="1">
                <a:solidFill>
                  <a:srgbClr val="18212B"/>
                </a:solidFill>
                <a:latin typeface="Arial" panose="020B0604020202020204"/>
                <a:ea typeface="Arial" panose="020B0604020202020204"/>
                <a:cs typeface="Arial" panose="020B0604020202020204"/>
              </a:rPr>
              <a:t>PSP result +</a:t>
            </a:r>
            <a:endParaRPr sz="790" b="1">
              <a:solidFill>
                <a:srgbClr val="18212B"/>
              </a:solidFill>
              <a:latin typeface="Arial" panose="020B0604020202020204"/>
              <a:ea typeface="Arial" panose="020B0604020202020204"/>
              <a:cs typeface="Arial" panose="020B0604020202020204"/>
            </a:endParaRPr>
          </a:p>
          <a:p>
            <a:pPr algn="ctr">
              <a:defRPr sz="790" b="1">
                <a:solidFill>
                  <a:srgbClr val="18212B"/>
                </a:solidFill>
                <a:latin typeface="Arial" panose="020B0604020202020204"/>
                <a:ea typeface="Arial" panose="020B0604020202020204"/>
                <a:cs typeface="Arial" panose="020B0604020202020204"/>
              </a:defRPr>
            </a:pPr>
            <a:r>
              <a:rPr sz="790" b="1">
                <a:solidFill>
                  <a:srgbClr val="18212B"/>
                </a:solidFill>
                <a:latin typeface="Arial" panose="020B0604020202020204"/>
                <a:ea typeface="Arial" panose="020B0604020202020204"/>
                <a:cs typeface="Arial" panose="020B0604020202020204"/>
              </a:rPr>
              <a:t>status correlation</a:t>
            </a:r>
            <a:endParaRPr sz="790" b="1">
              <a:solidFill>
                <a:srgbClr val="18212B"/>
              </a:solidFill>
              <a:latin typeface="Arial" panose="020B0604020202020204"/>
              <a:ea typeface="Arial" panose="020B0604020202020204"/>
              <a:cs typeface="Arial" panose="020B0604020202020204"/>
            </a:endParaRPr>
          </a:p>
        </p:txBody>
      </p:sp>
      <p:sp>
        <p:nvSpPr>
          <p:cNvPr id="70" name="直接连接符 69"/>
          <p:cNvSpPr>
            <a:spLocks noGrp="1"/>
          </p:cNvSpPr>
          <p:nvPr/>
        </p:nvSpPr>
        <p:spPr>
          <a:xfrm>
            <a:off x="10829925" y="4438650"/>
            <a:ext cx="953" cy="38100"/>
          </a:xfrm>
          <a:prstGeom prst="line">
            <a:avLst/>
          </a:prstGeom>
          <a:noFill/>
          <a:ln w="17145">
            <a:solidFill>
              <a:srgbClr val="B77A14"/>
            </a:solidFill>
            <a:prstDash val="solid"/>
          </a:ln>
        </p:spPr>
      </p:sp>
      <p:sp>
        <p:nvSpPr>
          <p:cNvPr id="71" name="右箭头 70"/>
          <p:cNvSpPr>
            <a:spLocks noGrp="1"/>
          </p:cNvSpPr>
          <p:nvPr/>
        </p:nvSpPr>
        <p:spPr>
          <a:xfrm>
            <a:off x="10744200" y="4400550"/>
            <a:ext cx="171450" cy="142875"/>
          </a:xfrm>
          <a:prstGeom prst="rightArrow">
            <a:avLst/>
          </a:prstGeom>
          <a:solidFill>
            <a:srgbClr val="B77A14"/>
          </a:solidFill>
          <a:ln w="4763">
            <a:solidFill>
              <a:srgbClr val="B77A14"/>
            </a:solidFill>
          </a:ln>
        </p:spPr>
      </p:sp>
      <p:sp>
        <p:nvSpPr>
          <p:cNvPr id="72" name="圆角矩形 71"/>
          <p:cNvSpPr>
            <a:spLocks noGrp="1"/>
          </p:cNvSpPr>
          <p:nvPr/>
        </p:nvSpPr>
        <p:spPr>
          <a:xfrm>
            <a:off x="10153650" y="2914650"/>
            <a:ext cx="1190625" cy="495300"/>
          </a:xfrm>
          <a:prstGeom prst="roundRect">
            <a:avLst>
              <a:gd name="adj" fmla="val 19231"/>
            </a:avLst>
          </a:prstGeom>
          <a:solidFill>
            <a:srgbClr val="E4F3F1"/>
          </a:solidFill>
          <a:ln w="11430">
            <a:solidFill>
              <a:srgbClr val="2D766F"/>
            </a:solidFill>
            <a:prstDash val="solid"/>
          </a:ln>
        </p:spPr>
      </p:sp>
      <p:sp>
        <p:nvSpPr>
          <p:cNvPr id="73" name="矩形 72"/>
          <p:cNvSpPr>
            <a:spLocks noGrp="1"/>
          </p:cNvSpPr>
          <p:nvPr/>
        </p:nvSpPr>
        <p:spPr>
          <a:xfrm>
            <a:off x="10220325" y="2943225"/>
            <a:ext cx="1057275" cy="438150"/>
          </a:xfrm>
          <a:prstGeom prst="rect">
            <a:avLst/>
          </a:prstGeom>
          <a:noFill/>
          <a:ln w="0">
            <a:noFill/>
          </a:ln>
        </p:spPr>
        <p:txBody>
          <a:bodyPr wrap="square" lIns="19050" tIns="19050" rIns="19050" bIns="19050" anchor="ctr">
            <a:normAutofit/>
          </a:bodyPr>
          <a:lstStyle/>
          <a:p>
            <a:pPr algn="ctr">
              <a:defRPr sz="865" b="1">
                <a:solidFill>
                  <a:srgbClr val="18212B"/>
                </a:solidFill>
                <a:latin typeface="Arial" panose="020B0604020202020204"/>
                <a:ea typeface="Arial" panose="020B0604020202020204"/>
                <a:cs typeface="Arial" panose="020B0604020202020204"/>
              </a:defRPr>
            </a:pPr>
            <a:r>
              <a:rPr sz="865" b="1">
                <a:solidFill>
                  <a:srgbClr val="18212B"/>
                </a:solidFill>
                <a:latin typeface="Arial" panose="020B0604020202020204"/>
                <a:ea typeface="Arial" panose="020B0604020202020204"/>
                <a:cs typeface="Arial" panose="020B0604020202020204"/>
              </a:rPr>
              <a:t>Confirm treatment</a:t>
            </a:r>
            <a:endParaRPr sz="865" b="1">
              <a:solidFill>
                <a:srgbClr val="18212B"/>
              </a:solidFill>
              <a:latin typeface="Arial" panose="020B0604020202020204"/>
              <a:ea typeface="Arial" panose="020B0604020202020204"/>
              <a:cs typeface="Arial" panose="020B0604020202020204"/>
            </a:endParaRPr>
          </a:p>
          <a:p>
            <a:pPr algn="ctr">
              <a:defRPr sz="865" b="1">
                <a:solidFill>
                  <a:srgbClr val="18212B"/>
                </a:solidFill>
                <a:latin typeface="Arial" panose="020B0604020202020204"/>
                <a:ea typeface="Arial" panose="020B0604020202020204"/>
                <a:cs typeface="Arial" panose="020B0604020202020204"/>
              </a:defRPr>
            </a:pPr>
            <a:r>
              <a:rPr sz="865" b="1">
                <a:solidFill>
                  <a:srgbClr val="18212B"/>
                </a:solidFill>
                <a:latin typeface="Arial" panose="020B0604020202020204"/>
                <a:ea typeface="Arial" panose="020B0604020202020204"/>
                <a:cs typeface="Arial" panose="020B0604020202020204"/>
              </a:rPr>
              <a:t>appointments</a:t>
            </a:r>
            <a:endParaRPr sz="865" b="1">
              <a:solidFill>
                <a:srgbClr val="18212B"/>
              </a:solidFill>
              <a:latin typeface="Arial" panose="020B0604020202020204"/>
              <a:ea typeface="Arial" panose="020B0604020202020204"/>
              <a:cs typeface="Arial" panose="020B0604020202020204"/>
            </a:endParaRPr>
          </a:p>
        </p:txBody>
      </p:sp>
      <p:sp>
        <p:nvSpPr>
          <p:cNvPr id="74" name="椭圆 73"/>
          <p:cNvSpPr>
            <a:spLocks noGrp="1"/>
          </p:cNvSpPr>
          <p:nvPr/>
        </p:nvSpPr>
        <p:spPr>
          <a:xfrm>
            <a:off x="11430000" y="3000375"/>
            <a:ext cx="323850" cy="323850"/>
          </a:xfrm>
          <a:prstGeom prst="ellipse">
            <a:avLst/>
          </a:prstGeom>
          <a:solidFill>
            <a:srgbClr val="FFFFFF"/>
          </a:solidFill>
          <a:ln w="23813">
            <a:solidFill>
              <a:srgbClr val="3D8063"/>
            </a:solidFill>
            <a:prstDash val="solid"/>
          </a:ln>
        </p:spPr>
      </p:sp>
      <p:sp>
        <p:nvSpPr>
          <p:cNvPr id="75" name="矩形 74"/>
          <p:cNvSpPr>
            <a:spLocks noGrp="1"/>
          </p:cNvSpPr>
          <p:nvPr/>
        </p:nvSpPr>
        <p:spPr>
          <a:xfrm>
            <a:off x="11372850" y="3333750"/>
            <a:ext cx="438150" cy="152400"/>
          </a:xfrm>
          <a:prstGeom prst="rect">
            <a:avLst/>
          </a:prstGeom>
          <a:noFill/>
          <a:ln w="0">
            <a:noFill/>
          </a:ln>
        </p:spPr>
        <p:txBody>
          <a:bodyPr wrap="square" lIns="19050" tIns="19050" rIns="19050" bIns="19050" anchor="ctr">
            <a:normAutofit/>
          </a:bodyPr>
          <a:lstStyle/>
          <a:p>
            <a:pPr algn="ctr">
              <a:defRPr sz="675" b="0">
                <a:solidFill>
                  <a:srgbClr val="3D8063"/>
                </a:solidFill>
                <a:latin typeface="Arial" panose="020B0604020202020204"/>
                <a:ea typeface="Arial" panose="020B0604020202020204"/>
                <a:cs typeface="Arial" panose="020B0604020202020204"/>
              </a:defRPr>
            </a:pPr>
            <a:r>
              <a:rPr sz="675" b="0">
                <a:solidFill>
                  <a:srgbClr val="3D8063"/>
                </a:solidFill>
                <a:latin typeface="Arial" panose="020B0604020202020204"/>
                <a:ea typeface="Arial" panose="020B0604020202020204"/>
                <a:cs typeface="Arial" panose="020B0604020202020204"/>
              </a:rPr>
              <a:t>End</a:t>
            </a:r>
            <a:endParaRPr sz="675" b="0">
              <a:solidFill>
                <a:srgbClr val="3D8063"/>
              </a:solidFill>
              <a:latin typeface="Arial" panose="020B0604020202020204"/>
              <a:ea typeface="Arial" panose="020B0604020202020204"/>
              <a:cs typeface="Arial" panose="020B0604020202020204"/>
            </a:endParaRPr>
          </a:p>
        </p:txBody>
      </p:sp>
      <p:sp>
        <p:nvSpPr>
          <p:cNvPr id="76" name="直接连接符 75"/>
          <p:cNvSpPr>
            <a:spLocks noGrp="1"/>
          </p:cNvSpPr>
          <p:nvPr/>
        </p:nvSpPr>
        <p:spPr>
          <a:xfrm>
            <a:off x="11344275" y="3162300"/>
            <a:ext cx="85725" cy="953"/>
          </a:xfrm>
          <a:prstGeom prst="line">
            <a:avLst/>
          </a:prstGeom>
          <a:noFill/>
          <a:ln w="17145">
            <a:solidFill>
              <a:srgbClr val="2D766F"/>
            </a:solidFill>
            <a:prstDash val="solid"/>
          </a:ln>
        </p:spPr>
      </p:sp>
      <p:sp>
        <p:nvSpPr>
          <p:cNvPr id="77" name="右箭头 76"/>
          <p:cNvSpPr>
            <a:spLocks noGrp="1"/>
          </p:cNvSpPr>
          <p:nvPr/>
        </p:nvSpPr>
        <p:spPr>
          <a:xfrm>
            <a:off x="11334750" y="3076575"/>
            <a:ext cx="114300" cy="171450"/>
          </a:xfrm>
          <a:prstGeom prst="rightArrow">
            <a:avLst/>
          </a:prstGeom>
          <a:solidFill>
            <a:srgbClr val="2D766F"/>
          </a:solidFill>
          <a:ln w="4763">
            <a:solidFill>
              <a:srgbClr val="2D766F"/>
            </a:solidFill>
          </a:ln>
        </p:spPr>
      </p:sp>
      <p:sp>
        <p:nvSpPr>
          <p:cNvPr id="78" name="圆角矩形 77"/>
          <p:cNvSpPr>
            <a:spLocks noGrp="1"/>
          </p:cNvSpPr>
          <p:nvPr/>
        </p:nvSpPr>
        <p:spPr>
          <a:xfrm>
            <a:off x="7620000" y="4895850"/>
            <a:ext cx="3905250" cy="457200"/>
          </a:xfrm>
          <a:prstGeom prst="roundRect">
            <a:avLst>
              <a:gd name="adj" fmla="val 16667"/>
            </a:avLst>
          </a:prstGeom>
          <a:solidFill>
            <a:srgbClr val="EDF2F6"/>
          </a:solidFill>
          <a:ln w="11430">
            <a:solidFill>
              <a:srgbClr val="C7D2DC"/>
            </a:solidFill>
            <a:prstDash val="solid"/>
          </a:ln>
        </p:spPr>
      </p:sp>
      <p:sp>
        <p:nvSpPr>
          <p:cNvPr id="79" name="矩形 78"/>
          <p:cNvSpPr>
            <a:spLocks noGrp="1"/>
          </p:cNvSpPr>
          <p:nvPr/>
        </p:nvSpPr>
        <p:spPr>
          <a:xfrm>
            <a:off x="7705725" y="4905375"/>
            <a:ext cx="3733800" cy="438150"/>
          </a:xfrm>
          <a:prstGeom prst="rect">
            <a:avLst/>
          </a:prstGeom>
          <a:noFill/>
          <a:ln w="0">
            <a:noFill/>
          </a:ln>
        </p:spPr>
        <p:txBody>
          <a:bodyPr wrap="square" lIns="19050" tIns="19050" rIns="19050" bIns="19050" anchor="ctr">
            <a:normAutofit/>
          </a:bodyPr>
          <a:lstStyle/>
          <a:p>
            <a:pPr algn="ctr">
              <a:defRPr sz="720" b="1">
                <a:solidFill>
                  <a:srgbClr val="18212B"/>
                </a:solidFill>
                <a:latin typeface="Arial" panose="020B0604020202020204"/>
                <a:ea typeface="Arial" panose="020B0604020202020204"/>
                <a:cs typeface="Arial" panose="020B0604020202020204"/>
              </a:defRPr>
            </a:pPr>
            <a:r>
              <a:rPr sz="720" b="1">
                <a:solidFill>
                  <a:srgbClr val="18212B"/>
                </a:solidFill>
                <a:latin typeface="Arial" panose="020B0604020202020204"/>
                <a:ea typeface="Arial" panose="020B0604020202020204"/>
                <a:cs typeface="Arial" panose="020B0604020202020204"/>
              </a:rPr>
              <a:t>No advance payment or Paid -&gt; Booking confirms</a:t>
            </a:r>
            <a:endParaRPr sz="720" b="1">
              <a:solidFill>
                <a:srgbClr val="18212B"/>
              </a:solidFill>
              <a:latin typeface="Arial" panose="020B0604020202020204"/>
              <a:ea typeface="Arial" panose="020B0604020202020204"/>
              <a:cs typeface="Arial" panose="020B0604020202020204"/>
            </a:endParaRPr>
          </a:p>
          <a:p>
            <a:pPr algn="ctr">
              <a:defRPr sz="720" b="1">
                <a:solidFill>
                  <a:srgbClr val="18212B"/>
                </a:solidFill>
                <a:latin typeface="Arial" panose="020B0604020202020204"/>
                <a:ea typeface="Arial" panose="020B0604020202020204"/>
                <a:cs typeface="Arial" panose="020B0604020202020204"/>
              </a:defRPr>
            </a:pPr>
            <a:r>
              <a:rPr sz="720" b="1">
                <a:solidFill>
                  <a:srgbClr val="18212B"/>
                </a:solidFill>
                <a:latin typeface="Arial" panose="020B0604020202020204"/>
                <a:ea typeface="Arial" panose="020B0604020202020204"/>
                <a:cs typeface="Arial" panose="020B0604020202020204"/>
              </a:rPr>
              <a:t>Missing -&gt; investigate + status query</a:t>
            </a:r>
            <a:endParaRPr sz="720" b="1">
              <a:solidFill>
                <a:srgbClr val="18212B"/>
              </a:solidFill>
              <a:latin typeface="Arial" panose="020B0604020202020204"/>
              <a:ea typeface="Arial" panose="020B0604020202020204"/>
              <a:cs typeface="Arial" panose="020B0604020202020204"/>
            </a:endParaRPr>
          </a:p>
          <a:p>
            <a:pPr algn="ctr">
              <a:defRPr sz="720" b="1">
                <a:solidFill>
                  <a:srgbClr val="18212B"/>
                </a:solidFill>
                <a:latin typeface="Arial" panose="020B0604020202020204"/>
                <a:ea typeface="Arial" panose="020B0604020202020204"/>
                <a:cs typeface="Arial" panose="020B0604020202020204"/>
              </a:defRPr>
            </a:pPr>
            <a:r>
              <a:rPr sz="720" b="1">
                <a:solidFill>
                  <a:srgbClr val="18212B"/>
                </a:solidFill>
                <a:latin typeface="Arial" panose="020B0604020202020204"/>
                <a:ea typeface="Arial" panose="020B0604020202020204"/>
                <a:cs typeface="Arial" panose="020B0604020202020204"/>
              </a:rPr>
              <a:t>Declined/cancelled -&gt; Finance approval + confirmed cap | Urgent -&gt; Clinical override</a:t>
            </a:r>
            <a:endParaRPr sz="720" b="1">
              <a:solidFill>
                <a:srgbClr val="18212B"/>
              </a:solidFill>
              <a:latin typeface="Arial" panose="020B0604020202020204"/>
              <a:ea typeface="Arial" panose="020B0604020202020204"/>
              <a:cs typeface="Arial" panose="020B0604020202020204"/>
            </a:endParaRPr>
          </a:p>
        </p:txBody>
      </p:sp>
      <p:sp>
        <p:nvSpPr>
          <p:cNvPr id="80" name="圆角矩形 79"/>
          <p:cNvSpPr>
            <a:spLocks noGrp="1"/>
          </p:cNvSpPr>
          <p:nvPr/>
        </p:nvSpPr>
        <p:spPr>
          <a:xfrm>
            <a:off x="9429750" y="1409700"/>
            <a:ext cx="2095500" cy="514350"/>
          </a:xfrm>
          <a:prstGeom prst="roundRect">
            <a:avLst>
              <a:gd name="adj" fmla="val 18519"/>
            </a:avLst>
          </a:prstGeom>
          <a:solidFill>
            <a:srgbClr val="EAF1F8"/>
          </a:solidFill>
          <a:ln w="11430">
            <a:solidFill>
              <a:srgbClr val="2F6690"/>
            </a:solidFill>
            <a:prstDash val="solid"/>
          </a:ln>
        </p:spPr>
      </p:sp>
      <p:sp>
        <p:nvSpPr>
          <p:cNvPr id="81" name="矩形 80"/>
          <p:cNvSpPr>
            <a:spLocks noGrp="1"/>
          </p:cNvSpPr>
          <p:nvPr/>
        </p:nvSpPr>
        <p:spPr>
          <a:xfrm>
            <a:off x="9496425" y="1438275"/>
            <a:ext cx="1962150" cy="457200"/>
          </a:xfrm>
          <a:prstGeom prst="rect">
            <a:avLst/>
          </a:prstGeom>
          <a:noFill/>
          <a:ln w="0">
            <a:noFill/>
          </a:ln>
        </p:spPr>
        <p:txBody>
          <a:bodyPr wrap="square" lIns="19050" tIns="19050" rIns="19050" bIns="19050" anchor="ctr">
            <a:normAutofit/>
          </a:bodyPr>
          <a:lstStyle/>
          <a:p>
            <a:pPr algn="ctr">
              <a:defRPr sz="900" b="1">
                <a:solidFill>
                  <a:srgbClr val="18212B"/>
                </a:solidFill>
                <a:latin typeface="Arial" panose="020B0604020202020204"/>
                <a:ea typeface="Arial" panose="020B0604020202020204"/>
                <a:cs typeface="Arial" panose="020B0604020202020204"/>
              </a:defRPr>
            </a:pPr>
            <a:r>
              <a:rPr sz="900" b="1">
                <a:solidFill>
                  <a:srgbClr val="18212B"/>
                </a:solidFill>
                <a:latin typeface="Arial" panose="020B0604020202020204"/>
                <a:ea typeface="Arial" panose="020B0604020202020204"/>
                <a:cs typeface="Arial" panose="020B0604020202020204"/>
              </a:rPr>
              <a:t>Authorise urgent</a:t>
            </a:r>
            <a:endParaRPr sz="900" b="1">
              <a:solidFill>
                <a:srgbClr val="18212B"/>
              </a:solidFill>
              <a:latin typeface="Arial" panose="020B0604020202020204"/>
              <a:ea typeface="Arial" panose="020B0604020202020204"/>
              <a:cs typeface="Arial" panose="020B0604020202020204"/>
            </a:endParaRPr>
          </a:p>
          <a:p>
            <a:pPr algn="ctr">
              <a:defRPr sz="900" b="1">
                <a:solidFill>
                  <a:srgbClr val="18212B"/>
                </a:solidFill>
                <a:latin typeface="Arial" panose="020B0604020202020204"/>
                <a:ea typeface="Arial" panose="020B0604020202020204"/>
                <a:cs typeface="Arial" panose="020B0604020202020204"/>
              </a:defRPr>
            </a:pPr>
            <a:r>
              <a:rPr sz="900" b="1">
                <a:solidFill>
                  <a:srgbClr val="18212B"/>
                </a:solidFill>
                <a:latin typeface="Arial" panose="020B0604020202020204"/>
                <a:ea typeface="Arial" panose="020B0604020202020204"/>
                <a:cs typeface="Arial" panose="020B0604020202020204"/>
              </a:rPr>
              <a:t>treatment override</a:t>
            </a:r>
            <a:endParaRPr sz="900" b="1">
              <a:solidFill>
                <a:srgbClr val="18212B"/>
              </a:solidFill>
              <a:latin typeface="Arial" panose="020B0604020202020204"/>
              <a:ea typeface="Arial" panose="020B0604020202020204"/>
              <a:cs typeface="Arial" panose="020B0604020202020204"/>
            </a:endParaRPr>
          </a:p>
        </p:txBody>
      </p:sp>
      <p:sp>
        <p:nvSpPr>
          <p:cNvPr id="82" name="直接连接符 81"/>
          <p:cNvSpPr>
            <a:spLocks noGrp="1"/>
          </p:cNvSpPr>
          <p:nvPr/>
        </p:nvSpPr>
        <p:spPr>
          <a:xfrm>
            <a:off x="10572750" y="3409950"/>
            <a:ext cx="953" cy="1485900"/>
          </a:xfrm>
          <a:prstGeom prst="line">
            <a:avLst/>
          </a:prstGeom>
          <a:noFill/>
          <a:ln w="17145">
            <a:solidFill>
              <a:srgbClr val="2D766F"/>
            </a:solidFill>
            <a:prstDash val="solid"/>
          </a:ln>
        </p:spPr>
      </p:sp>
      <p:sp>
        <p:nvSpPr>
          <p:cNvPr id="83" name="右箭头 82"/>
          <p:cNvSpPr>
            <a:spLocks noGrp="1"/>
          </p:cNvSpPr>
          <p:nvPr/>
        </p:nvSpPr>
        <p:spPr>
          <a:xfrm rot="16200000">
            <a:off x="10487025" y="3409950"/>
            <a:ext cx="171450" cy="171450"/>
          </a:xfrm>
          <a:prstGeom prst="rightArrow">
            <a:avLst/>
          </a:prstGeom>
          <a:solidFill>
            <a:srgbClr val="2D766F"/>
          </a:solidFill>
          <a:ln w="4763">
            <a:solidFill>
              <a:srgbClr val="2D766F"/>
            </a:solidFill>
          </a:ln>
        </p:spPr>
      </p:sp>
      <p:sp>
        <p:nvSpPr>
          <p:cNvPr id="84" name="直接连接符 83"/>
          <p:cNvSpPr>
            <a:spLocks noGrp="1"/>
          </p:cNvSpPr>
          <p:nvPr/>
        </p:nvSpPr>
        <p:spPr>
          <a:xfrm>
            <a:off x="11525250" y="5124450"/>
            <a:ext cx="200025" cy="953"/>
          </a:xfrm>
          <a:prstGeom prst="line">
            <a:avLst/>
          </a:prstGeom>
          <a:noFill/>
          <a:ln w="17145">
            <a:solidFill>
              <a:srgbClr val="A84E59"/>
            </a:solidFill>
            <a:prstDash val="solid"/>
          </a:ln>
        </p:spPr>
      </p:sp>
      <p:sp>
        <p:nvSpPr>
          <p:cNvPr id="85" name="直接连接符 84"/>
          <p:cNvSpPr>
            <a:spLocks noGrp="1"/>
          </p:cNvSpPr>
          <p:nvPr/>
        </p:nvSpPr>
        <p:spPr>
          <a:xfrm>
            <a:off x="11725275" y="1666875"/>
            <a:ext cx="953" cy="3457575"/>
          </a:xfrm>
          <a:prstGeom prst="line">
            <a:avLst/>
          </a:prstGeom>
          <a:noFill/>
          <a:ln w="17145">
            <a:solidFill>
              <a:srgbClr val="A84E59"/>
            </a:solidFill>
            <a:prstDash val="solid"/>
          </a:ln>
        </p:spPr>
      </p:sp>
      <p:sp>
        <p:nvSpPr>
          <p:cNvPr id="86" name="直接连接符 85"/>
          <p:cNvSpPr>
            <a:spLocks noGrp="1"/>
          </p:cNvSpPr>
          <p:nvPr/>
        </p:nvSpPr>
        <p:spPr>
          <a:xfrm>
            <a:off x="11525250" y="1666875"/>
            <a:ext cx="200025" cy="953"/>
          </a:xfrm>
          <a:prstGeom prst="line">
            <a:avLst/>
          </a:prstGeom>
          <a:noFill/>
          <a:ln w="17145">
            <a:solidFill>
              <a:srgbClr val="A84E59"/>
            </a:solidFill>
            <a:prstDash val="solid"/>
          </a:ln>
        </p:spPr>
      </p:sp>
      <p:sp>
        <p:nvSpPr>
          <p:cNvPr id="87" name="右箭头 86"/>
          <p:cNvSpPr>
            <a:spLocks noGrp="1"/>
          </p:cNvSpPr>
          <p:nvPr/>
        </p:nvSpPr>
        <p:spPr>
          <a:xfrm rot="10800000">
            <a:off x="11344275" y="1581150"/>
            <a:ext cx="190500" cy="171450"/>
          </a:xfrm>
          <a:prstGeom prst="rightArrow">
            <a:avLst/>
          </a:prstGeom>
          <a:solidFill>
            <a:srgbClr val="A84E59"/>
          </a:solidFill>
          <a:ln w="4763">
            <a:solidFill>
              <a:srgbClr val="A84E59"/>
            </a:solidFill>
          </a:ln>
        </p:spPr>
      </p:sp>
      <p:sp>
        <p:nvSpPr>
          <p:cNvPr id="88" name="圆角矩形 87"/>
          <p:cNvSpPr>
            <a:spLocks noGrp="1"/>
          </p:cNvSpPr>
          <p:nvPr/>
        </p:nvSpPr>
        <p:spPr>
          <a:xfrm>
            <a:off x="666750" y="5629275"/>
            <a:ext cx="3048000" cy="400050"/>
          </a:xfrm>
          <a:prstGeom prst="roundRect">
            <a:avLst>
              <a:gd name="adj" fmla="val 21429"/>
            </a:avLst>
          </a:prstGeom>
          <a:solidFill>
            <a:srgbClr val="FFFFFF"/>
          </a:solidFill>
          <a:ln w="11430">
            <a:solidFill>
              <a:srgbClr val="C7D2DC"/>
            </a:solidFill>
            <a:prstDash val="solid"/>
          </a:ln>
        </p:spPr>
      </p:sp>
      <p:sp>
        <p:nvSpPr>
          <p:cNvPr id="89" name="矩形 88"/>
          <p:cNvSpPr>
            <a:spLocks noGrp="1"/>
          </p:cNvSpPr>
          <p:nvPr/>
        </p:nvSpPr>
        <p:spPr>
          <a:xfrm>
            <a:off x="762000" y="5667375"/>
            <a:ext cx="2857500" cy="171450"/>
          </a:xfrm>
          <a:prstGeom prst="rect">
            <a:avLst/>
          </a:prstGeom>
          <a:noFill/>
          <a:ln w="0">
            <a:noFill/>
          </a:ln>
        </p:spPr>
        <p:txBody>
          <a:bodyPr wrap="square" lIns="19050" tIns="19050" rIns="19050" bIns="19050" anchor="ctr">
            <a:normAutofit fontScale="89744"/>
          </a:bodyPr>
          <a:lstStyle/>
          <a:p>
            <a:pPr algn="ctr">
              <a:defRPr sz="975" b="1">
                <a:solidFill>
                  <a:srgbClr val="18324B"/>
                </a:solidFill>
                <a:latin typeface="Arial" panose="020B0604020202020204"/>
                <a:ea typeface="Arial" panose="020B0604020202020204"/>
                <a:cs typeface="Arial" panose="020B0604020202020204"/>
              </a:defRPr>
            </a:pPr>
            <a:r>
              <a:rPr sz="975" b="1">
                <a:solidFill>
                  <a:srgbClr val="18324B"/>
                </a:solidFill>
                <a:latin typeface="Arial" panose="020B0604020202020204"/>
                <a:ea typeface="Arial" panose="020B0604020202020204"/>
                <a:cs typeface="Arial" panose="020B0604020202020204"/>
              </a:rPr>
              <a:t>Patient</a:t>
            </a:r>
            <a:endParaRPr sz="975" b="1">
              <a:solidFill>
                <a:srgbClr val="18324B"/>
              </a:solidFill>
              <a:latin typeface="Arial" panose="020B0604020202020204"/>
              <a:ea typeface="Arial" panose="020B0604020202020204"/>
              <a:cs typeface="Arial" panose="020B0604020202020204"/>
            </a:endParaRPr>
          </a:p>
        </p:txBody>
      </p:sp>
      <p:sp>
        <p:nvSpPr>
          <p:cNvPr id="90" name="矩形 89"/>
          <p:cNvSpPr>
            <a:spLocks noGrp="1"/>
          </p:cNvSpPr>
          <p:nvPr/>
        </p:nvSpPr>
        <p:spPr>
          <a:xfrm>
            <a:off x="762000" y="5829300"/>
            <a:ext cx="2857500" cy="152400"/>
          </a:xfrm>
          <a:prstGeom prst="rect">
            <a:avLst/>
          </a:prstGeom>
          <a:noFill/>
          <a:ln w="0">
            <a:noFill/>
          </a:ln>
        </p:spPr>
        <p:txBody>
          <a:bodyPr wrap="square" lIns="19050" tIns="19050" rIns="19050" bIns="19050" anchor="ctr">
            <a:normAutofit/>
          </a:bodyPr>
          <a:lstStyle/>
          <a:p>
            <a:pPr algn="ctr">
              <a:defRPr sz="750" b="0">
                <a:solidFill>
                  <a:srgbClr val="536577"/>
                </a:solidFill>
                <a:latin typeface="Arial" panose="020B0604020202020204"/>
                <a:ea typeface="Arial" panose="020B0604020202020204"/>
                <a:cs typeface="Arial" panose="020B0604020202020204"/>
              </a:defRPr>
            </a:pPr>
            <a:r>
              <a:rPr sz="750" b="0">
                <a:solidFill>
                  <a:srgbClr val="536577"/>
                </a:solidFill>
                <a:latin typeface="Arial" panose="020B0604020202020204"/>
                <a:ea typeface="Arial" panose="020B0604020202020204"/>
                <a:cs typeface="Arial" panose="020B0604020202020204"/>
              </a:rPr>
              <a:t>Consent / appointment notice</a:t>
            </a:r>
            <a:endParaRPr sz="750" b="0">
              <a:solidFill>
                <a:srgbClr val="536577"/>
              </a:solidFill>
              <a:latin typeface="Arial" panose="020B0604020202020204"/>
              <a:ea typeface="Arial" panose="020B0604020202020204"/>
              <a:cs typeface="Arial" panose="020B0604020202020204"/>
            </a:endParaRPr>
          </a:p>
        </p:txBody>
      </p:sp>
      <p:sp>
        <p:nvSpPr>
          <p:cNvPr id="91" name="圆角矩形 90"/>
          <p:cNvSpPr>
            <a:spLocks noGrp="1"/>
          </p:cNvSpPr>
          <p:nvPr/>
        </p:nvSpPr>
        <p:spPr>
          <a:xfrm>
            <a:off x="4572000" y="5629275"/>
            <a:ext cx="3048000" cy="400050"/>
          </a:xfrm>
          <a:prstGeom prst="roundRect">
            <a:avLst>
              <a:gd name="adj" fmla="val 21429"/>
            </a:avLst>
          </a:prstGeom>
          <a:solidFill>
            <a:srgbClr val="FFFFFF"/>
          </a:solidFill>
          <a:ln w="11430">
            <a:solidFill>
              <a:srgbClr val="C7D2DC"/>
            </a:solidFill>
            <a:prstDash val="solid"/>
          </a:ln>
        </p:spPr>
      </p:sp>
      <p:sp>
        <p:nvSpPr>
          <p:cNvPr id="92" name="矩形 91"/>
          <p:cNvSpPr>
            <a:spLocks noGrp="1"/>
          </p:cNvSpPr>
          <p:nvPr/>
        </p:nvSpPr>
        <p:spPr>
          <a:xfrm>
            <a:off x="4667250" y="5667375"/>
            <a:ext cx="2857500" cy="171450"/>
          </a:xfrm>
          <a:prstGeom prst="rect">
            <a:avLst/>
          </a:prstGeom>
          <a:noFill/>
          <a:ln w="0">
            <a:noFill/>
          </a:ln>
        </p:spPr>
        <p:txBody>
          <a:bodyPr wrap="square" lIns="19050" tIns="19050" rIns="19050" bIns="19050" anchor="ctr">
            <a:normAutofit fontScale="89744"/>
          </a:bodyPr>
          <a:lstStyle/>
          <a:p>
            <a:pPr algn="ctr">
              <a:defRPr sz="975" b="1">
                <a:solidFill>
                  <a:srgbClr val="18324B"/>
                </a:solidFill>
                <a:latin typeface="Arial" panose="020B0604020202020204"/>
                <a:ea typeface="Arial" panose="020B0604020202020204"/>
                <a:cs typeface="Arial" panose="020B0604020202020204"/>
              </a:defRPr>
            </a:pPr>
            <a:r>
              <a:rPr sz="975" b="1">
                <a:solidFill>
                  <a:srgbClr val="18324B"/>
                </a:solidFill>
                <a:latin typeface="Arial" panose="020B0604020202020204"/>
                <a:ea typeface="Arial" panose="020B0604020202020204"/>
                <a:cs typeface="Arial" panose="020B0604020202020204"/>
              </a:rPr>
              <a:t>Treatment &amp; Lab Services</a:t>
            </a:r>
            <a:endParaRPr sz="975" b="1">
              <a:solidFill>
                <a:srgbClr val="18324B"/>
              </a:solidFill>
              <a:latin typeface="Arial" panose="020B0604020202020204"/>
              <a:ea typeface="Arial" panose="020B0604020202020204"/>
              <a:cs typeface="Arial" panose="020B0604020202020204"/>
            </a:endParaRPr>
          </a:p>
        </p:txBody>
      </p:sp>
      <p:sp>
        <p:nvSpPr>
          <p:cNvPr id="93" name="矩形 92"/>
          <p:cNvSpPr>
            <a:spLocks noGrp="1"/>
          </p:cNvSpPr>
          <p:nvPr/>
        </p:nvSpPr>
        <p:spPr>
          <a:xfrm>
            <a:off x="4667250" y="5829300"/>
            <a:ext cx="2857500" cy="152400"/>
          </a:xfrm>
          <a:prstGeom prst="rect">
            <a:avLst/>
          </a:prstGeom>
          <a:noFill/>
          <a:ln w="0">
            <a:noFill/>
          </a:ln>
        </p:spPr>
        <p:txBody>
          <a:bodyPr wrap="square" lIns="19050" tIns="19050" rIns="19050" bIns="19050" anchor="ctr">
            <a:normAutofit/>
          </a:bodyPr>
          <a:lstStyle/>
          <a:p>
            <a:pPr algn="ctr">
              <a:defRPr sz="750" b="0">
                <a:solidFill>
                  <a:srgbClr val="536577"/>
                </a:solidFill>
                <a:latin typeface="Arial" panose="020B0604020202020204"/>
                <a:ea typeface="Arial" panose="020B0604020202020204"/>
                <a:cs typeface="Arial" panose="020B0604020202020204"/>
              </a:defRPr>
            </a:pPr>
            <a:r>
              <a:rPr sz="750" b="0">
                <a:solidFill>
                  <a:srgbClr val="536577"/>
                </a:solidFill>
                <a:latin typeface="Arial" panose="020B0604020202020204"/>
                <a:ea typeface="Arial" panose="020B0604020202020204"/>
                <a:cs typeface="Arial" panose="020B0604020202020204"/>
              </a:rPr>
              <a:t>Capacity response</a:t>
            </a:r>
            <a:endParaRPr sz="750" b="0">
              <a:solidFill>
                <a:srgbClr val="536577"/>
              </a:solidFill>
              <a:latin typeface="Arial" panose="020B0604020202020204"/>
              <a:ea typeface="Arial" panose="020B0604020202020204"/>
              <a:cs typeface="Arial" panose="020B0604020202020204"/>
            </a:endParaRPr>
          </a:p>
        </p:txBody>
      </p:sp>
      <p:sp>
        <p:nvSpPr>
          <p:cNvPr id="94" name="圆角矩形 93"/>
          <p:cNvSpPr>
            <a:spLocks noGrp="1"/>
          </p:cNvSpPr>
          <p:nvPr/>
        </p:nvSpPr>
        <p:spPr>
          <a:xfrm>
            <a:off x="8477250" y="5629275"/>
            <a:ext cx="3048000" cy="400050"/>
          </a:xfrm>
          <a:prstGeom prst="roundRect">
            <a:avLst>
              <a:gd name="adj" fmla="val 21429"/>
            </a:avLst>
          </a:prstGeom>
          <a:solidFill>
            <a:srgbClr val="FFFFFF"/>
          </a:solidFill>
          <a:ln w="11430">
            <a:solidFill>
              <a:srgbClr val="C7D2DC"/>
            </a:solidFill>
            <a:prstDash val="solid"/>
          </a:ln>
        </p:spPr>
      </p:sp>
      <p:sp>
        <p:nvSpPr>
          <p:cNvPr id="95" name="矩形 94"/>
          <p:cNvSpPr>
            <a:spLocks noGrp="1"/>
          </p:cNvSpPr>
          <p:nvPr/>
        </p:nvSpPr>
        <p:spPr>
          <a:xfrm>
            <a:off x="8572500" y="5667375"/>
            <a:ext cx="2857500" cy="171450"/>
          </a:xfrm>
          <a:prstGeom prst="rect">
            <a:avLst/>
          </a:prstGeom>
          <a:noFill/>
          <a:ln w="0">
            <a:noFill/>
          </a:ln>
        </p:spPr>
        <p:txBody>
          <a:bodyPr wrap="square" lIns="19050" tIns="19050" rIns="19050" bIns="19050" anchor="ctr">
            <a:normAutofit fontScale="89744"/>
          </a:bodyPr>
          <a:lstStyle/>
          <a:p>
            <a:pPr algn="ctr">
              <a:defRPr sz="975" b="1">
                <a:solidFill>
                  <a:srgbClr val="18324B"/>
                </a:solidFill>
                <a:latin typeface="Arial" panose="020B0604020202020204"/>
                <a:ea typeface="Arial" panose="020B0604020202020204"/>
                <a:cs typeface="Arial" panose="020B0604020202020204"/>
              </a:defRPr>
            </a:pPr>
            <a:r>
              <a:rPr sz="975" b="1">
                <a:solidFill>
                  <a:srgbClr val="18324B"/>
                </a:solidFill>
                <a:latin typeface="Arial" panose="020B0604020202020204"/>
                <a:ea typeface="Arial" panose="020B0604020202020204"/>
                <a:cs typeface="Arial" panose="020B0604020202020204"/>
              </a:rPr>
              <a:t>Payment Provider (PSP)</a:t>
            </a:r>
            <a:endParaRPr sz="975" b="1">
              <a:solidFill>
                <a:srgbClr val="18324B"/>
              </a:solidFill>
              <a:latin typeface="Arial" panose="020B0604020202020204"/>
              <a:ea typeface="Arial" panose="020B0604020202020204"/>
              <a:cs typeface="Arial" panose="020B0604020202020204"/>
            </a:endParaRPr>
          </a:p>
        </p:txBody>
      </p:sp>
      <p:sp>
        <p:nvSpPr>
          <p:cNvPr id="96" name="矩形 95"/>
          <p:cNvSpPr>
            <a:spLocks noGrp="1"/>
          </p:cNvSpPr>
          <p:nvPr/>
        </p:nvSpPr>
        <p:spPr>
          <a:xfrm>
            <a:off x="8572500" y="5829300"/>
            <a:ext cx="2857500" cy="152400"/>
          </a:xfrm>
          <a:prstGeom prst="rect">
            <a:avLst/>
          </a:prstGeom>
          <a:noFill/>
          <a:ln w="0">
            <a:noFill/>
          </a:ln>
        </p:spPr>
        <p:txBody>
          <a:bodyPr wrap="square" lIns="19050" tIns="19050" rIns="19050" bIns="19050" anchor="ctr">
            <a:normAutofit/>
          </a:bodyPr>
          <a:lstStyle/>
          <a:p>
            <a:pPr algn="ctr">
              <a:defRPr sz="750" b="0">
                <a:solidFill>
                  <a:srgbClr val="536577"/>
                </a:solidFill>
                <a:latin typeface="Arial" panose="020B0604020202020204"/>
                <a:ea typeface="Arial" panose="020B0604020202020204"/>
                <a:cs typeface="Arial" panose="020B0604020202020204"/>
              </a:defRPr>
            </a:pPr>
            <a:r>
              <a:rPr sz="750" b="0">
                <a:solidFill>
                  <a:srgbClr val="536577"/>
                </a:solidFill>
                <a:latin typeface="Arial" panose="020B0604020202020204"/>
                <a:ea typeface="Arial" panose="020B0604020202020204"/>
                <a:cs typeface="Arial" panose="020B0604020202020204"/>
              </a:rPr>
              <a:t>Payment and status callback</a:t>
            </a:r>
            <a:endParaRPr sz="750" b="0">
              <a:solidFill>
                <a:srgbClr val="536577"/>
              </a:solidFill>
              <a:latin typeface="Arial" panose="020B0604020202020204"/>
              <a:ea typeface="Arial" panose="020B0604020202020204"/>
              <a:cs typeface="Arial" panose="020B0604020202020204"/>
            </a:endParaRPr>
          </a:p>
        </p:txBody>
      </p:sp>
      <p:sp>
        <p:nvSpPr>
          <p:cNvPr id="97" name="直接连接符 96"/>
          <p:cNvSpPr>
            <a:spLocks noGrp="1"/>
          </p:cNvSpPr>
          <p:nvPr/>
        </p:nvSpPr>
        <p:spPr>
          <a:xfrm>
            <a:off x="3381375" y="1962150"/>
            <a:ext cx="953" cy="3667125"/>
          </a:xfrm>
          <a:prstGeom prst="line">
            <a:avLst/>
          </a:prstGeom>
          <a:noFill/>
          <a:ln w="17145">
            <a:solidFill>
              <a:srgbClr val="B77A14"/>
            </a:solidFill>
            <a:prstDash val="dash"/>
          </a:ln>
        </p:spPr>
      </p:sp>
      <p:sp>
        <p:nvSpPr>
          <p:cNvPr id="98" name="直接连接符 97"/>
          <p:cNvSpPr>
            <a:spLocks noGrp="1"/>
          </p:cNvSpPr>
          <p:nvPr/>
        </p:nvSpPr>
        <p:spPr>
          <a:xfrm>
            <a:off x="6257925" y="3143250"/>
            <a:ext cx="953" cy="2486025"/>
          </a:xfrm>
          <a:prstGeom prst="line">
            <a:avLst/>
          </a:prstGeom>
          <a:noFill/>
          <a:ln w="17145">
            <a:solidFill>
              <a:srgbClr val="B77A14"/>
            </a:solidFill>
            <a:prstDash val="dash"/>
          </a:ln>
        </p:spPr>
      </p:sp>
      <p:sp>
        <p:nvSpPr>
          <p:cNvPr id="99" name="直接连接符 98"/>
          <p:cNvSpPr>
            <a:spLocks noGrp="1"/>
          </p:cNvSpPr>
          <p:nvPr/>
        </p:nvSpPr>
        <p:spPr>
          <a:xfrm>
            <a:off x="10820400" y="4972050"/>
            <a:ext cx="953" cy="657225"/>
          </a:xfrm>
          <a:prstGeom prst="line">
            <a:avLst/>
          </a:prstGeom>
          <a:noFill/>
          <a:ln w="17145">
            <a:solidFill>
              <a:srgbClr val="B77A14"/>
            </a:solidFill>
            <a:prstDash val="dash"/>
          </a:ln>
        </p:spPr>
      </p:sp>
      <p:sp>
        <p:nvSpPr>
          <p:cNvPr id="100" name="矩形 99"/>
          <p:cNvSpPr>
            <a:spLocks noGrp="1"/>
          </p:cNvSpPr>
          <p:nvPr/>
        </p:nvSpPr>
        <p:spPr>
          <a:xfrm>
            <a:off x="666750" y="6162675"/>
            <a:ext cx="10810875" cy="257175"/>
          </a:xfrm>
          <a:prstGeom prst="rect">
            <a:avLst/>
          </a:prstGeom>
          <a:noFill/>
          <a:ln w="0">
            <a:noFill/>
          </a:ln>
        </p:spPr>
        <p:txBody>
          <a:bodyPr wrap="square" lIns="19050" tIns="19050" rIns="19050" bIns="19050" anchor="ctr">
            <a:normAutofit/>
          </a:bodyPr>
          <a:lstStyle/>
          <a:p>
            <a:pPr algn="ctr">
              <a:defRPr sz="975" b="0">
                <a:solidFill>
                  <a:srgbClr val="536577"/>
                </a:solidFill>
                <a:latin typeface="Arial" panose="020B0604020202020204"/>
                <a:ea typeface="Arial" panose="020B0604020202020204"/>
                <a:cs typeface="Arial" panose="020B0604020202020204"/>
              </a:defRPr>
            </a:pPr>
            <a:r>
              <a:rPr sz="975" b="0">
                <a:solidFill>
                  <a:srgbClr val="536577"/>
                </a:solidFill>
                <a:latin typeface="Arial" panose="020B0604020202020204"/>
                <a:ea typeface="Arial" panose="020B0604020202020204"/>
                <a:cs typeface="Arial" panose="020B0604020202020204"/>
              </a:rPr>
              <a:t>External participants show system boundaries. The JavaScript Worker simulates service responses and PSP messages.</a:t>
            </a:r>
            <a:endParaRPr sz="975" b="0">
              <a:solidFill>
                <a:srgbClr val="536577"/>
              </a:solidFill>
              <a:latin typeface="Arial" panose="020B0604020202020204"/>
              <a:ea typeface="Arial" panose="020B0604020202020204"/>
              <a:cs typeface="Arial" panose="020B0604020202020204"/>
            </a:endParaRPr>
          </a:p>
        </p:txBody>
      </p:sp>
      <p:sp>
        <p:nvSpPr>
          <p:cNvPr id="101" name="矩形 100"/>
          <p:cNvSpPr>
            <a:spLocks noGrp="1"/>
          </p:cNvSpPr>
          <p:nvPr/>
        </p:nvSpPr>
        <p:spPr>
          <a:xfrm>
            <a:off x="666750" y="6429375"/>
            <a:ext cx="10810875" cy="228600"/>
          </a:xfrm>
          <a:prstGeom prst="rect">
            <a:avLst/>
          </a:prstGeom>
          <a:noFill/>
          <a:ln w="0">
            <a:noFill/>
          </a:ln>
        </p:spPr>
        <p:txBody>
          <a:bodyPr wrap="square" lIns="19050" tIns="19050" rIns="19050" bIns="19050" anchor="ctr">
            <a:normAutofit/>
          </a:bodyPr>
          <a:lstStyle/>
          <a:p>
            <a:pPr algn="ctr">
              <a:defRPr sz="975" b="1">
                <a:solidFill>
                  <a:srgbClr val="18324B"/>
                </a:solidFill>
                <a:latin typeface="Arial" panose="020B0604020202020204"/>
                <a:ea typeface="Arial" panose="020B0604020202020204"/>
                <a:cs typeface="Arial" panose="020B0604020202020204"/>
              </a:defRPr>
            </a:pPr>
            <a:r>
              <a:rPr sz="975" b="1">
                <a:solidFill>
                  <a:srgbClr val="18324B"/>
                </a:solidFill>
                <a:latin typeface="Arial" panose="020B0604020202020204"/>
                <a:ea typeface="Arial" panose="020B0604020202020204"/>
                <a:cs typeface="Arial" panose="020B0604020202020204"/>
              </a:rPr>
              <a:t>Model control: a missing confirmation enters investigation. A declined/cancelled retry requires explicit Finance approval.</a:t>
            </a:r>
            <a:endParaRPr sz="975" b="1">
              <a:solidFill>
                <a:srgbClr val="18324B"/>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 name="矩形 42"/>
          <p:cNvSpPr>
            <a:spLocks noGrp="1"/>
          </p:cNvSpPr>
          <p:nvPr/>
        </p:nvSpPr>
        <p:spPr>
          <a:xfrm>
            <a:off x="457200" y="257175"/>
            <a:ext cx="8572500" cy="447675"/>
          </a:xfrm>
          <a:prstGeom prst="rect">
            <a:avLst/>
          </a:prstGeom>
          <a:noFill/>
          <a:ln w="0">
            <a:noFill/>
          </a:ln>
        </p:spPr>
        <p:txBody>
          <a:bodyPr wrap="square" lIns="19050" tIns="19050" rIns="19050" bIns="19050" anchor="ctr">
            <a:normAutofit/>
          </a:bodyPr>
          <a:lstStyle/>
          <a:p>
            <a:pPr algn="l">
              <a:defRPr sz="2475" b="1">
                <a:solidFill>
                  <a:srgbClr val="18324B"/>
                </a:solidFill>
                <a:latin typeface="Arial" panose="020B0604020202020204"/>
                <a:ea typeface="Arial" panose="020B0604020202020204"/>
                <a:cs typeface="Arial" panose="020B0604020202020204"/>
              </a:defRPr>
            </a:pPr>
            <a:r>
              <a:rPr sz="2475" b="1">
                <a:solidFill>
                  <a:srgbClr val="18324B"/>
                </a:solidFill>
                <a:latin typeface="Arial" panose="020B0604020202020204"/>
                <a:ea typeface="Arial" panose="020B0604020202020204"/>
                <a:cs typeface="Arial" panose="020B0604020202020204"/>
              </a:rPr>
              <a:t>Measurable Acceptance Criteria</a:t>
            </a:r>
            <a:endParaRPr sz="2475" b="1">
              <a:solidFill>
                <a:srgbClr val="1832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76250" y="714375"/>
            <a:ext cx="8858250" cy="238125"/>
          </a:xfrm>
          <a:prstGeom prst="rect">
            <a:avLst/>
          </a:prstGeom>
          <a:noFill/>
          <a:ln w="0">
            <a:noFill/>
          </a:ln>
        </p:spPr>
        <p:txBody>
          <a:bodyPr wrap="square" lIns="19050" tIns="19050" rIns="19050" bIns="19050" anchor="ctr">
            <a:normAutofit/>
          </a:bodyPr>
          <a:lstStyle/>
          <a:p>
            <a:pPr algn="l">
              <a:defRPr sz="1200" b="0">
                <a:solidFill>
                  <a:srgbClr val="536577"/>
                </a:solidFill>
                <a:latin typeface="Arial" panose="020B0604020202020204"/>
                <a:ea typeface="Arial" panose="020B0604020202020204"/>
                <a:cs typeface="Arial" panose="020B0604020202020204"/>
              </a:defRPr>
            </a:pPr>
            <a:r>
              <a:rPr sz="1200" b="0">
                <a:solidFill>
                  <a:srgbClr val="536577"/>
                </a:solidFill>
                <a:latin typeface="Arial" panose="020B0604020202020204"/>
                <a:ea typeface="Arial" panose="020B0604020202020204"/>
                <a:cs typeface="Arial" panose="020B0604020202020204"/>
              </a:rPr>
              <a:t>Pass/fail targets for the operational BPMN and Worker</a:t>
            </a:r>
            <a:endParaRPr sz="1200" b="0">
              <a:solidFill>
                <a:srgbClr val="536577"/>
              </a:solidFill>
              <a:latin typeface="Arial" panose="020B0604020202020204"/>
              <a:ea typeface="Arial" panose="020B0604020202020204"/>
              <a:cs typeface="Arial" panose="020B0604020202020204"/>
            </a:endParaRPr>
          </a:p>
        </p:txBody>
      </p:sp>
      <p:sp>
        <p:nvSpPr>
          <p:cNvPr id="3" name="圆角矩形 2"/>
          <p:cNvSpPr>
            <a:spLocks noGrp="1"/>
          </p:cNvSpPr>
          <p:nvPr/>
        </p:nvSpPr>
        <p:spPr>
          <a:xfrm>
            <a:off x="9620250" y="323850"/>
            <a:ext cx="2114550" cy="400050"/>
          </a:xfrm>
          <a:prstGeom prst="roundRect">
            <a:avLst>
              <a:gd name="adj" fmla="val 38095"/>
            </a:avLst>
          </a:prstGeom>
          <a:solidFill>
            <a:srgbClr val="FFF4D8"/>
          </a:solidFill>
          <a:ln w="11430">
            <a:solidFill>
              <a:srgbClr val="B77A14"/>
            </a:solidFill>
            <a:prstDash val="solid"/>
          </a:ln>
        </p:spPr>
      </p:sp>
      <p:sp>
        <p:nvSpPr>
          <p:cNvPr id="4" name="矩形 3"/>
          <p:cNvSpPr>
            <a:spLocks noGrp="1"/>
          </p:cNvSpPr>
          <p:nvPr/>
        </p:nvSpPr>
        <p:spPr>
          <a:xfrm>
            <a:off x="9696450" y="381000"/>
            <a:ext cx="1962150" cy="285750"/>
          </a:xfrm>
          <a:prstGeom prst="rect">
            <a:avLst/>
          </a:prstGeom>
          <a:noFill/>
          <a:ln w="0">
            <a:noFill/>
          </a:ln>
        </p:spPr>
        <p:txBody>
          <a:bodyPr wrap="square" lIns="19050" tIns="19050" rIns="19050" bIns="19050" anchor="ctr">
            <a:normAutofit/>
          </a:bodyPr>
          <a:lstStyle/>
          <a:p>
            <a:pPr algn="ctr">
              <a:defRPr sz="900" b="1">
                <a:solidFill>
                  <a:srgbClr val="7A4E00"/>
                </a:solidFill>
                <a:latin typeface="Arial" panose="020B0604020202020204"/>
                <a:ea typeface="Arial" panose="020B0604020202020204"/>
                <a:cs typeface="Arial" panose="020B0604020202020204"/>
              </a:defRPr>
            </a:pPr>
            <a:r>
              <a:rPr sz="900" b="1">
                <a:solidFill>
                  <a:srgbClr val="7A4E00"/>
                </a:solidFill>
                <a:latin typeface="Arial" panose="020B0604020202020204"/>
                <a:ea typeface="Arial" panose="020B0604020202020204"/>
                <a:cs typeface="Arial" panose="020B0604020202020204"/>
              </a:rPr>
              <a:t>TARGETS, NOT TEST RESULTS</a:t>
            </a:r>
            <a:endParaRPr sz="900" b="1">
              <a:solidFill>
                <a:srgbClr val="7A4E00"/>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28650" y="1133475"/>
            <a:ext cx="628650" cy="228600"/>
          </a:xfrm>
          <a:prstGeom prst="rect">
            <a:avLst/>
          </a:prstGeom>
          <a:noFill/>
          <a:ln w="0">
            <a:noFill/>
          </a:ln>
        </p:spPr>
        <p:txBody>
          <a:bodyPr wrap="square" lIns="19050" tIns="19050" rIns="19050" bIns="19050" anchor="ctr">
            <a:normAutofit/>
          </a:bodyPr>
          <a:lstStyle/>
          <a:p>
            <a:pPr algn="l">
              <a:defRPr sz="900" b="1">
                <a:solidFill>
                  <a:srgbClr val="536577"/>
                </a:solidFill>
                <a:latin typeface="Arial" panose="020B0604020202020204"/>
                <a:ea typeface="Arial" panose="020B0604020202020204"/>
                <a:cs typeface="Arial" panose="020B0604020202020204"/>
              </a:defRPr>
            </a:pPr>
            <a:r>
              <a:rPr sz="900" b="1">
                <a:solidFill>
                  <a:srgbClr val="536577"/>
                </a:solidFill>
                <a:latin typeface="Arial" panose="020B0604020202020204"/>
                <a:ea typeface="Arial" panose="020B0604020202020204"/>
                <a:cs typeface="Arial" panose="020B0604020202020204"/>
              </a:rPr>
              <a:t>ID</a:t>
            </a:r>
            <a:endParaRPr sz="900" b="1">
              <a:solidFill>
                <a:srgbClr val="536577"/>
              </a:solidFill>
              <a:latin typeface="Arial" panose="020B0604020202020204"/>
              <a:ea typeface="Arial" panose="020B0604020202020204"/>
              <a:cs typeface="Arial" panose="020B0604020202020204"/>
            </a:endParaRPr>
          </a:p>
        </p:txBody>
      </p:sp>
      <p:sp>
        <p:nvSpPr>
          <p:cNvPr id="6" name="矩形 5"/>
          <p:cNvSpPr>
            <a:spLocks noGrp="1"/>
          </p:cNvSpPr>
          <p:nvPr/>
        </p:nvSpPr>
        <p:spPr>
          <a:xfrm>
            <a:off x="2381250" y="1133475"/>
            <a:ext cx="3429000" cy="228600"/>
          </a:xfrm>
          <a:prstGeom prst="rect">
            <a:avLst/>
          </a:prstGeom>
          <a:noFill/>
          <a:ln w="0">
            <a:noFill/>
          </a:ln>
        </p:spPr>
        <p:txBody>
          <a:bodyPr wrap="square" lIns="19050" tIns="19050" rIns="19050" bIns="19050" anchor="ctr">
            <a:normAutofit/>
          </a:bodyPr>
          <a:lstStyle/>
          <a:p>
            <a:pPr algn="l">
              <a:defRPr sz="900" b="1">
                <a:solidFill>
                  <a:srgbClr val="536577"/>
                </a:solidFill>
                <a:latin typeface="Arial" panose="020B0604020202020204"/>
                <a:ea typeface="Arial" panose="020B0604020202020204"/>
                <a:cs typeface="Arial" panose="020B0604020202020204"/>
              </a:defRPr>
            </a:pPr>
            <a:r>
              <a:rPr sz="900" b="1">
                <a:solidFill>
                  <a:srgbClr val="536577"/>
                </a:solidFill>
                <a:latin typeface="Arial" panose="020B0604020202020204"/>
                <a:ea typeface="Arial" panose="020B0604020202020204"/>
                <a:cs typeface="Arial" panose="020B0604020202020204"/>
              </a:rPr>
              <a:t>ACCEPTANCE TARGET</a:t>
            </a:r>
            <a:endParaRPr sz="900" b="1">
              <a:solidFill>
                <a:srgbClr val="536577"/>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143625" y="1133475"/>
            <a:ext cx="3333750" cy="228600"/>
          </a:xfrm>
          <a:prstGeom prst="rect">
            <a:avLst/>
          </a:prstGeom>
          <a:noFill/>
          <a:ln w="0">
            <a:noFill/>
          </a:ln>
        </p:spPr>
        <p:txBody>
          <a:bodyPr wrap="square" lIns="19050" tIns="19050" rIns="19050" bIns="19050" anchor="ctr">
            <a:normAutofit/>
          </a:bodyPr>
          <a:lstStyle/>
          <a:p>
            <a:pPr algn="l">
              <a:defRPr sz="900" b="1">
                <a:solidFill>
                  <a:srgbClr val="536577"/>
                </a:solidFill>
                <a:latin typeface="Arial" panose="020B0604020202020204"/>
                <a:ea typeface="Arial" panose="020B0604020202020204"/>
                <a:cs typeface="Arial" panose="020B0604020202020204"/>
              </a:defRPr>
            </a:pPr>
            <a:r>
              <a:rPr sz="900" b="1">
                <a:solidFill>
                  <a:srgbClr val="536577"/>
                </a:solidFill>
                <a:latin typeface="Arial" panose="020B0604020202020204"/>
                <a:ea typeface="Arial" panose="020B0604020202020204"/>
                <a:cs typeface="Arial" panose="020B0604020202020204"/>
              </a:rPr>
              <a:t>MEASURABLE PASS CONDITION</a:t>
            </a:r>
            <a:endParaRPr sz="900" b="1">
              <a:solidFill>
                <a:srgbClr val="536577"/>
              </a:solidFill>
              <a:latin typeface="Arial" panose="020B0604020202020204"/>
              <a:ea typeface="Arial" panose="020B0604020202020204"/>
              <a:cs typeface="Arial" panose="020B0604020202020204"/>
            </a:endParaRPr>
          </a:p>
        </p:txBody>
      </p:sp>
      <p:sp>
        <p:nvSpPr>
          <p:cNvPr id="8" name="矩形 7"/>
          <p:cNvSpPr>
            <a:spLocks noGrp="1"/>
          </p:cNvSpPr>
          <p:nvPr/>
        </p:nvSpPr>
        <p:spPr>
          <a:xfrm>
            <a:off x="9696450" y="1133475"/>
            <a:ext cx="1905000" cy="228600"/>
          </a:xfrm>
          <a:prstGeom prst="rect">
            <a:avLst/>
          </a:prstGeom>
          <a:noFill/>
          <a:ln w="0">
            <a:noFill/>
          </a:ln>
        </p:spPr>
        <p:txBody>
          <a:bodyPr wrap="square" lIns="19050" tIns="19050" rIns="19050" bIns="19050" anchor="ctr">
            <a:normAutofit/>
          </a:bodyPr>
          <a:lstStyle/>
          <a:p>
            <a:pPr algn="l">
              <a:defRPr sz="900" b="1">
                <a:solidFill>
                  <a:srgbClr val="536577"/>
                </a:solidFill>
                <a:latin typeface="Arial" panose="020B0604020202020204"/>
                <a:ea typeface="Arial" panose="020B0604020202020204"/>
                <a:cs typeface="Arial" panose="020B0604020202020204"/>
              </a:defRPr>
            </a:pPr>
            <a:r>
              <a:rPr sz="900" b="1">
                <a:solidFill>
                  <a:srgbClr val="536577"/>
                </a:solidFill>
                <a:latin typeface="Arial" panose="020B0604020202020204"/>
                <a:ea typeface="Arial" panose="020B0604020202020204"/>
                <a:cs typeface="Arial" panose="020B0604020202020204"/>
              </a:rPr>
              <a:t>AUDIT STATUS</a:t>
            </a:r>
            <a:endParaRPr sz="900" b="1">
              <a:solidFill>
                <a:srgbClr val="536577"/>
              </a:solidFill>
              <a:latin typeface="Arial" panose="020B0604020202020204"/>
              <a:ea typeface="Arial" panose="020B0604020202020204"/>
              <a:cs typeface="Arial" panose="020B0604020202020204"/>
            </a:endParaRPr>
          </a:p>
        </p:txBody>
      </p:sp>
      <p:sp>
        <p:nvSpPr>
          <p:cNvPr id="9" name="圆角矩形 8"/>
          <p:cNvSpPr>
            <a:spLocks noGrp="1"/>
          </p:cNvSpPr>
          <p:nvPr/>
        </p:nvSpPr>
        <p:spPr>
          <a:xfrm>
            <a:off x="457200" y="1457325"/>
            <a:ext cx="11277600" cy="685800"/>
          </a:xfrm>
          <a:prstGeom prst="roundRect">
            <a:avLst>
              <a:gd name="adj" fmla="val 12500"/>
            </a:avLst>
          </a:prstGeom>
          <a:solidFill>
            <a:srgbClr val="FFFFFF"/>
          </a:solidFill>
          <a:ln w="11430">
            <a:solidFill>
              <a:srgbClr val="C7D2DC"/>
            </a:solidFill>
            <a:prstDash val="solid"/>
          </a:ln>
        </p:spPr>
      </p:sp>
      <p:sp>
        <p:nvSpPr>
          <p:cNvPr id="10" name="矩形 9"/>
          <p:cNvSpPr>
            <a:spLocks noGrp="1"/>
          </p:cNvSpPr>
          <p:nvPr/>
        </p:nvSpPr>
        <p:spPr>
          <a:xfrm>
            <a:off x="628650" y="1533525"/>
            <a:ext cx="666750" cy="523875"/>
          </a:xfrm>
          <a:prstGeom prst="rect">
            <a:avLst/>
          </a:prstGeom>
          <a:noFill/>
          <a:ln w="0">
            <a:noFill/>
          </a:ln>
        </p:spPr>
        <p:txBody>
          <a:bodyPr wrap="square" lIns="19050" tIns="19050" rIns="19050" bIns="19050" anchor="ctr">
            <a:normAutofit/>
          </a:bodyPr>
          <a:lstStyle/>
          <a:p>
            <a:pPr algn="ctr">
              <a:defRPr sz="1275" b="1">
                <a:solidFill>
                  <a:srgbClr val="2F6690"/>
                </a:solidFill>
                <a:latin typeface="Arial" panose="020B0604020202020204"/>
                <a:ea typeface="Arial" panose="020B0604020202020204"/>
                <a:cs typeface="Arial" panose="020B0604020202020204"/>
              </a:defRPr>
            </a:pPr>
            <a:r>
              <a:rPr sz="1275" b="1">
                <a:solidFill>
                  <a:srgbClr val="2F6690"/>
                </a:solidFill>
                <a:latin typeface="Arial" panose="020B0604020202020204"/>
                <a:ea typeface="Arial" panose="020B0604020202020204"/>
                <a:cs typeface="Arial" panose="020B0604020202020204"/>
              </a:rPr>
              <a:t>AC-1</a:t>
            </a:r>
            <a:endParaRPr sz="1275" b="1">
              <a:solidFill>
                <a:srgbClr val="2F6690"/>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2381250" y="1514475"/>
            <a:ext cx="3333750" cy="552450"/>
          </a:xfrm>
          <a:prstGeom prst="rect">
            <a:avLst/>
          </a:prstGeom>
          <a:noFill/>
          <a:ln w="0">
            <a:noFill/>
          </a:ln>
        </p:spPr>
        <p:txBody>
          <a:bodyPr wrap="square" lIns="19050" tIns="19050" rIns="19050" bIns="19050" anchor="ctr">
            <a:normAutofit/>
          </a:bodyPr>
          <a:lstStyle/>
          <a:p>
            <a:pPr algn="l">
              <a:defRPr sz="1125" b="1">
                <a:solidFill>
                  <a:srgbClr val="18324B"/>
                </a:solidFill>
                <a:latin typeface="Arial" panose="020B0604020202020204"/>
                <a:ea typeface="Arial" panose="020B0604020202020204"/>
                <a:cs typeface="Arial" panose="020B0604020202020204"/>
              </a:defRPr>
            </a:pPr>
            <a:r>
              <a:rPr sz="1125" b="1">
                <a:solidFill>
                  <a:srgbClr val="18324B"/>
                </a:solidFill>
                <a:latin typeface="Arial" panose="020B0604020202020204"/>
                <a:ea typeface="Arial" panose="020B0604020202020204"/>
                <a:cs typeface="Arial" panose="020B0604020202020204"/>
              </a:rPr>
              <a:t>Deployment and forms</a:t>
            </a:r>
            <a:endParaRPr sz="1125" b="1">
              <a:solidFill>
                <a:srgbClr val="18324B"/>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6143625" y="1514475"/>
            <a:ext cx="3371850" cy="552450"/>
          </a:xfrm>
          <a:prstGeom prst="rect">
            <a:avLst/>
          </a:prstGeom>
          <a:noFill/>
          <a:ln w="0">
            <a:noFill/>
          </a:ln>
        </p:spPr>
        <p:txBody>
          <a:bodyPr wrap="square" lIns="19050" tIns="19050" rIns="19050" bIns="19050" anchor="ctr">
            <a:normAutofit/>
          </a:bodyPr>
          <a:lstStyle/>
          <a:p>
            <a:pPr algn="l">
              <a:defRPr sz="975" b="0">
                <a:solidFill>
                  <a:srgbClr val="18212B"/>
                </a:solidFill>
                <a:latin typeface="Arial" panose="020B0604020202020204"/>
                <a:ea typeface="Arial" panose="020B0604020202020204"/>
                <a:cs typeface="Arial" panose="020B0604020202020204"/>
              </a:defRPr>
            </a:pPr>
            <a:r>
              <a:rPr sz="975" b="0">
                <a:solidFill>
                  <a:srgbClr val="18212B"/>
                </a:solidFill>
                <a:latin typeface="Arial" panose="020B0604020202020204"/>
                <a:ea typeface="Arial" panose="020B0604020202020204"/>
                <a:cs typeface="Arial" panose="020B0604020202020204"/>
              </a:rPr>
              <a:t>One deployment creates Process_Treatment and exactly 7 expected forms.</a:t>
            </a:r>
            <a:endParaRPr sz="975" b="0">
              <a:solidFill>
                <a:srgbClr val="18212B"/>
              </a:solidFill>
              <a:latin typeface="Arial" panose="020B0604020202020204"/>
              <a:ea typeface="Arial" panose="020B0604020202020204"/>
              <a:cs typeface="Arial" panose="020B0604020202020204"/>
            </a:endParaRPr>
          </a:p>
        </p:txBody>
      </p:sp>
      <p:sp>
        <p:nvSpPr>
          <p:cNvPr id="13" name="圆角矩形 12"/>
          <p:cNvSpPr>
            <a:spLocks noGrp="1"/>
          </p:cNvSpPr>
          <p:nvPr/>
        </p:nvSpPr>
        <p:spPr>
          <a:xfrm>
            <a:off x="9696450" y="1590675"/>
            <a:ext cx="1847850" cy="419100"/>
          </a:xfrm>
          <a:prstGeom prst="roundRect">
            <a:avLst>
              <a:gd name="adj" fmla="val 20455"/>
            </a:avLst>
          </a:prstGeom>
          <a:solidFill>
            <a:srgbClr val="E4F3F1"/>
          </a:solidFill>
          <a:ln w="11430">
            <a:solidFill>
              <a:srgbClr val="2D766F"/>
            </a:solidFill>
            <a:prstDash val="solid"/>
          </a:ln>
        </p:spPr>
      </p:sp>
      <p:sp>
        <p:nvSpPr>
          <p:cNvPr id="14" name="矩形 13"/>
          <p:cNvSpPr>
            <a:spLocks noGrp="1"/>
          </p:cNvSpPr>
          <p:nvPr/>
        </p:nvSpPr>
        <p:spPr>
          <a:xfrm>
            <a:off x="9744075" y="1609725"/>
            <a:ext cx="1752600" cy="381000"/>
          </a:xfrm>
          <a:prstGeom prst="rect">
            <a:avLst/>
          </a:prstGeom>
          <a:noFill/>
          <a:ln w="0">
            <a:noFill/>
          </a:ln>
        </p:spPr>
        <p:txBody>
          <a:bodyPr wrap="square" lIns="19050" tIns="19050" rIns="19050" bIns="19050" anchor="ctr">
            <a:normAutofit/>
          </a:bodyPr>
          <a:lstStyle/>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DEPLOYED</a:t>
            </a:r>
            <a:endParaRPr sz="825" b="1">
              <a:solidFill>
                <a:srgbClr val="18212B"/>
              </a:solidFill>
              <a:latin typeface="Arial" panose="020B0604020202020204"/>
              <a:ea typeface="Arial" panose="020B0604020202020204"/>
              <a:cs typeface="Arial" panose="020B0604020202020204"/>
            </a:endParaRPr>
          </a:p>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C8 8.10 alpha5 / v3</a:t>
            </a:r>
            <a:endParaRPr sz="825" b="1">
              <a:solidFill>
                <a:srgbClr val="18212B"/>
              </a:solidFill>
              <a:latin typeface="Arial" panose="020B0604020202020204"/>
              <a:ea typeface="Arial" panose="020B0604020202020204"/>
              <a:cs typeface="Arial" panose="020B0604020202020204"/>
            </a:endParaRPr>
          </a:p>
        </p:txBody>
      </p:sp>
      <p:sp>
        <p:nvSpPr>
          <p:cNvPr id="15" name="圆角矩形 14"/>
          <p:cNvSpPr>
            <a:spLocks noGrp="1"/>
          </p:cNvSpPr>
          <p:nvPr/>
        </p:nvSpPr>
        <p:spPr>
          <a:xfrm>
            <a:off x="457200" y="2238375"/>
            <a:ext cx="11277600" cy="685800"/>
          </a:xfrm>
          <a:prstGeom prst="roundRect">
            <a:avLst>
              <a:gd name="adj" fmla="val 12500"/>
            </a:avLst>
          </a:prstGeom>
          <a:solidFill>
            <a:srgbClr val="F0F4F7"/>
          </a:solidFill>
          <a:ln w="11430">
            <a:solidFill>
              <a:srgbClr val="C7D2DC"/>
            </a:solidFill>
            <a:prstDash val="solid"/>
          </a:ln>
        </p:spPr>
      </p:sp>
      <p:sp>
        <p:nvSpPr>
          <p:cNvPr id="16" name="矩形 15"/>
          <p:cNvSpPr>
            <a:spLocks noGrp="1"/>
          </p:cNvSpPr>
          <p:nvPr/>
        </p:nvSpPr>
        <p:spPr>
          <a:xfrm>
            <a:off x="628650" y="2314575"/>
            <a:ext cx="666750" cy="523875"/>
          </a:xfrm>
          <a:prstGeom prst="rect">
            <a:avLst/>
          </a:prstGeom>
          <a:noFill/>
          <a:ln w="0">
            <a:noFill/>
          </a:ln>
        </p:spPr>
        <p:txBody>
          <a:bodyPr wrap="square" lIns="19050" tIns="19050" rIns="19050" bIns="19050" anchor="ctr">
            <a:normAutofit/>
          </a:bodyPr>
          <a:lstStyle/>
          <a:p>
            <a:pPr algn="ctr">
              <a:defRPr sz="1275" b="1">
                <a:solidFill>
                  <a:srgbClr val="2F6690"/>
                </a:solidFill>
                <a:latin typeface="Arial" panose="020B0604020202020204"/>
                <a:ea typeface="Arial" panose="020B0604020202020204"/>
                <a:cs typeface="Arial" panose="020B0604020202020204"/>
              </a:defRPr>
            </a:pPr>
            <a:r>
              <a:rPr sz="1275" b="1">
                <a:solidFill>
                  <a:srgbClr val="2F6690"/>
                </a:solidFill>
                <a:latin typeface="Arial" panose="020B0604020202020204"/>
                <a:ea typeface="Arial" panose="020B0604020202020204"/>
                <a:cs typeface="Arial" panose="020B0604020202020204"/>
              </a:rPr>
              <a:t>AC-2</a:t>
            </a:r>
            <a:endParaRPr sz="1275" b="1">
              <a:solidFill>
                <a:srgbClr val="2F6690"/>
              </a:solidFill>
              <a:latin typeface="Arial" panose="020B0604020202020204"/>
              <a:ea typeface="Arial" panose="020B0604020202020204"/>
              <a:cs typeface="Arial" panose="020B0604020202020204"/>
            </a:endParaRPr>
          </a:p>
        </p:txBody>
      </p:sp>
      <p:sp>
        <p:nvSpPr>
          <p:cNvPr id="17" name="矩形 16"/>
          <p:cNvSpPr>
            <a:spLocks noGrp="1"/>
          </p:cNvSpPr>
          <p:nvPr/>
        </p:nvSpPr>
        <p:spPr>
          <a:xfrm>
            <a:off x="2381250" y="2295525"/>
            <a:ext cx="3333750" cy="552450"/>
          </a:xfrm>
          <a:prstGeom prst="rect">
            <a:avLst/>
          </a:prstGeom>
          <a:noFill/>
          <a:ln w="0">
            <a:noFill/>
          </a:ln>
        </p:spPr>
        <p:txBody>
          <a:bodyPr wrap="square" lIns="19050" tIns="19050" rIns="19050" bIns="19050" anchor="ctr">
            <a:normAutofit/>
          </a:bodyPr>
          <a:lstStyle/>
          <a:p>
            <a:pPr algn="l">
              <a:defRPr sz="1125" b="1">
                <a:solidFill>
                  <a:srgbClr val="18324B"/>
                </a:solidFill>
                <a:latin typeface="Arial" panose="020B0604020202020204"/>
                <a:ea typeface="Arial" panose="020B0604020202020204"/>
                <a:cs typeface="Arial" panose="020B0604020202020204"/>
              </a:defRPr>
            </a:pPr>
            <a:r>
              <a:rPr sz="1125" b="1">
                <a:solidFill>
                  <a:srgbClr val="18324B"/>
                </a:solidFill>
                <a:latin typeface="Arial" panose="020B0604020202020204"/>
                <a:ea typeface="Arial" panose="020B0604020202020204"/>
                <a:cs typeface="Arial" panose="020B0604020202020204"/>
              </a:rPr>
              <a:t>Authorization and capacity</a:t>
            </a:r>
            <a:endParaRPr sz="1125" b="1">
              <a:solidFill>
                <a:srgbClr val="18324B"/>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6143625" y="2295525"/>
            <a:ext cx="3371850" cy="552450"/>
          </a:xfrm>
          <a:prstGeom prst="rect">
            <a:avLst/>
          </a:prstGeom>
          <a:noFill/>
          <a:ln w="0">
            <a:noFill/>
          </a:ln>
        </p:spPr>
        <p:txBody>
          <a:bodyPr wrap="square" lIns="19050" tIns="19050" rIns="19050" bIns="19050" anchor="ctr">
            <a:normAutofit/>
          </a:bodyPr>
          <a:lstStyle/>
          <a:p>
            <a:pPr algn="l">
              <a:defRPr sz="975" b="0">
                <a:solidFill>
                  <a:srgbClr val="18212B"/>
                </a:solidFill>
                <a:latin typeface="Arial" panose="020B0604020202020204"/>
                <a:ea typeface="Arial" panose="020B0604020202020204"/>
                <a:cs typeface="Arial" panose="020B0604020202020204"/>
              </a:defRPr>
            </a:pPr>
            <a:r>
              <a:rPr sz="975" b="0">
                <a:solidFill>
                  <a:srgbClr val="18212B"/>
                </a:solidFill>
                <a:latin typeface="Arial" panose="020B0604020202020204"/>
                <a:ea typeface="Arial" panose="020B0604020202020204"/>
                <a:cs typeface="Arial" panose="020B0604020202020204"/>
              </a:rPr>
              <a:t>Unauthorised path activates 0 downstream jobs. Capacity=false or EXTERNAL_UNAVAILABLE creates pending task + PT30M timer.</a:t>
            </a:r>
            <a:endParaRPr sz="975" b="0">
              <a:solidFill>
                <a:srgbClr val="18212B"/>
              </a:solidFill>
              <a:latin typeface="Arial" panose="020B0604020202020204"/>
              <a:ea typeface="Arial" panose="020B0604020202020204"/>
              <a:cs typeface="Arial" panose="020B0604020202020204"/>
            </a:endParaRPr>
          </a:p>
        </p:txBody>
      </p:sp>
      <p:sp>
        <p:nvSpPr>
          <p:cNvPr id="19" name="圆角矩形 18"/>
          <p:cNvSpPr>
            <a:spLocks noGrp="1"/>
          </p:cNvSpPr>
          <p:nvPr/>
        </p:nvSpPr>
        <p:spPr>
          <a:xfrm>
            <a:off x="9696450" y="2371725"/>
            <a:ext cx="1847850" cy="419100"/>
          </a:xfrm>
          <a:prstGeom prst="roundRect">
            <a:avLst>
              <a:gd name="adj" fmla="val 20455"/>
            </a:avLst>
          </a:prstGeom>
          <a:solidFill>
            <a:srgbClr val="FFF4D8"/>
          </a:solidFill>
          <a:ln w="11430">
            <a:solidFill>
              <a:srgbClr val="B77A14"/>
            </a:solidFill>
            <a:prstDash val="solid"/>
          </a:ln>
        </p:spPr>
      </p:sp>
      <p:sp>
        <p:nvSpPr>
          <p:cNvPr id="20" name="矩形 19"/>
          <p:cNvSpPr>
            <a:spLocks noGrp="1"/>
          </p:cNvSpPr>
          <p:nvPr/>
        </p:nvSpPr>
        <p:spPr>
          <a:xfrm>
            <a:off x="9744075" y="2390775"/>
            <a:ext cx="1752600" cy="381000"/>
          </a:xfrm>
          <a:prstGeom prst="rect">
            <a:avLst/>
          </a:prstGeom>
          <a:noFill/>
          <a:ln w="0">
            <a:noFill/>
          </a:ln>
        </p:spPr>
        <p:txBody>
          <a:bodyPr wrap="square" lIns="19050" tIns="19050" rIns="19050" bIns="19050" anchor="ctr">
            <a:normAutofit/>
          </a:bodyPr>
          <a:lstStyle/>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PARTLY STATIC</a:t>
            </a:r>
            <a:endParaRPr sz="825" b="1">
              <a:solidFill>
                <a:srgbClr val="18212B"/>
              </a:solidFill>
              <a:latin typeface="Arial" panose="020B0604020202020204"/>
              <a:ea typeface="Arial" panose="020B0604020202020204"/>
              <a:cs typeface="Arial" panose="020B0604020202020204"/>
            </a:endParaRPr>
          </a:p>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Live paths not run</a:t>
            </a:r>
            <a:endParaRPr sz="825" b="1">
              <a:solidFill>
                <a:srgbClr val="18212B"/>
              </a:solidFill>
              <a:latin typeface="Arial" panose="020B0604020202020204"/>
              <a:ea typeface="Arial" panose="020B0604020202020204"/>
              <a:cs typeface="Arial" panose="020B0604020202020204"/>
            </a:endParaRPr>
          </a:p>
        </p:txBody>
      </p:sp>
      <p:sp>
        <p:nvSpPr>
          <p:cNvPr id="21" name="圆角矩形 20"/>
          <p:cNvSpPr>
            <a:spLocks noGrp="1"/>
          </p:cNvSpPr>
          <p:nvPr/>
        </p:nvSpPr>
        <p:spPr>
          <a:xfrm>
            <a:off x="457200" y="3019425"/>
            <a:ext cx="11277600" cy="685800"/>
          </a:xfrm>
          <a:prstGeom prst="roundRect">
            <a:avLst>
              <a:gd name="adj" fmla="val 12500"/>
            </a:avLst>
          </a:prstGeom>
          <a:solidFill>
            <a:srgbClr val="FFFFFF"/>
          </a:solidFill>
          <a:ln w="11430">
            <a:solidFill>
              <a:srgbClr val="C7D2DC"/>
            </a:solidFill>
            <a:prstDash val="solid"/>
          </a:ln>
        </p:spPr>
      </p:sp>
      <p:sp>
        <p:nvSpPr>
          <p:cNvPr id="22" name="矩形 21"/>
          <p:cNvSpPr>
            <a:spLocks noGrp="1"/>
          </p:cNvSpPr>
          <p:nvPr/>
        </p:nvSpPr>
        <p:spPr>
          <a:xfrm>
            <a:off x="628650" y="3095625"/>
            <a:ext cx="666750" cy="523875"/>
          </a:xfrm>
          <a:prstGeom prst="rect">
            <a:avLst/>
          </a:prstGeom>
          <a:noFill/>
          <a:ln w="0">
            <a:noFill/>
          </a:ln>
        </p:spPr>
        <p:txBody>
          <a:bodyPr wrap="square" lIns="19050" tIns="19050" rIns="19050" bIns="19050" anchor="ctr">
            <a:normAutofit/>
          </a:bodyPr>
          <a:lstStyle/>
          <a:p>
            <a:pPr algn="ctr">
              <a:defRPr sz="1275" b="1">
                <a:solidFill>
                  <a:srgbClr val="2F6690"/>
                </a:solidFill>
                <a:latin typeface="Arial" panose="020B0604020202020204"/>
                <a:ea typeface="Arial" panose="020B0604020202020204"/>
                <a:cs typeface="Arial" panose="020B0604020202020204"/>
              </a:defRPr>
            </a:pPr>
            <a:r>
              <a:rPr sz="1275" b="1">
                <a:solidFill>
                  <a:srgbClr val="2F6690"/>
                </a:solidFill>
                <a:latin typeface="Arial" panose="020B0604020202020204"/>
                <a:ea typeface="Arial" panose="020B0604020202020204"/>
                <a:cs typeface="Arial" panose="020B0604020202020204"/>
              </a:rPr>
              <a:t>AC-3</a:t>
            </a:r>
            <a:endParaRPr sz="1275" b="1">
              <a:solidFill>
                <a:srgbClr val="2F6690"/>
              </a:solidFill>
              <a:latin typeface="Arial" panose="020B0604020202020204"/>
              <a:ea typeface="Arial" panose="020B0604020202020204"/>
              <a:cs typeface="Arial" panose="020B0604020202020204"/>
            </a:endParaRPr>
          </a:p>
        </p:txBody>
      </p:sp>
      <p:sp>
        <p:nvSpPr>
          <p:cNvPr id="23" name="矩形 22"/>
          <p:cNvSpPr>
            <a:spLocks noGrp="1"/>
          </p:cNvSpPr>
          <p:nvPr/>
        </p:nvSpPr>
        <p:spPr>
          <a:xfrm>
            <a:off x="2381250" y="3076575"/>
            <a:ext cx="3333750" cy="552450"/>
          </a:xfrm>
          <a:prstGeom prst="rect">
            <a:avLst/>
          </a:prstGeom>
          <a:noFill/>
          <a:ln w="0">
            <a:noFill/>
          </a:ln>
        </p:spPr>
        <p:txBody>
          <a:bodyPr wrap="square" lIns="19050" tIns="19050" rIns="19050" bIns="19050" anchor="ctr">
            <a:normAutofit/>
          </a:bodyPr>
          <a:lstStyle/>
          <a:p>
            <a:pPr algn="l">
              <a:defRPr sz="1125" b="1">
                <a:solidFill>
                  <a:srgbClr val="18324B"/>
                </a:solidFill>
                <a:latin typeface="Arial" panose="020B0604020202020204"/>
                <a:ea typeface="Arial" panose="020B0604020202020204"/>
                <a:cs typeface="Arial" panose="020B0604020202020204"/>
              </a:defRPr>
            </a:pPr>
            <a:r>
              <a:rPr sz="1125" b="1">
                <a:solidFill>
                  <a:srgbClr val="18324B"/>
                </a:solidFill>
                <a:latin typeface="Arial" panose="020B0604020202020204"/>
                <a:ea typeface="Arial" panose="020B0604020202020204"/>
                <a:cs typeface="Arial" panose="020B0604020202020204"/>
              </a:rPr>
              <a:t>Message correlation</a:t>
            </a:r>
            <a:endParaRPr sz="1125" b="1">
              <a:solidFill>
                <a:srgbClr val="18324B"/>
              </a:solidFill>
              <a:latin typeface="Arial" panose="020B0604020202020204"/>
              <a:ea typeface="Arial" panose="020B0604020202020204"/>
              <a:cs typeface="Arial" panose="020B0604020202020204"/>
            </a:endParaRPr>
          </a:p>
        </p:txBody>
      </p:sp>
      <p:sp>
        <p:nvSpPr>
          <p:cNvPr id="24" name="矩形 23"/>
          <p:cNvSpPr>
            <a:spLocks noGrp="1"/>
          </p:cNvSpPr>
          <p:nvPr/>
        </p:nvSpPr>
        <p:spPr>
          <a:xfrm>
            <a:off x="6143625" y="3076575"/>
            <a:ext cx="3371850" cy="552450"/>
          </a:xfrm>
          <a:prstGeom prst="rect">
            <a:avLst/>
          </a:prstGeom>
          <a:noFill/>
          <a:ln w="0">
            <a:noFill/>
          </a:ln>
        </p:spPr>
        <p:txBody>
          <a:bodyPr wrap="square" lIns="19050" tIns="19050" rIns="19050" bIns="19050" anchor="ctr">
            <a:normAutofit/>
          </a:bodyPr>
          <a:lstStyle/>
          <a:p>
            <a:pPr algn="l">
              <a:defRPr sz="975" b="0">
                <a:solidFill>
                  <a:srgbClr val="18212B"/>
                </a:solidFill>
                <a:latin typeface="Arial" panose="020B0604020202020204"/>
                <a:ea typeface="Arial" panose="020B0604020202020204"/>
                <a:cs typeface="Arial" panose="020B0604020202020204"/>
              </a:defRPr>
            </a:pPr>
            <a:r>
              <a:rPr sz="975" b="0">
                <a:solidFill>
                  <a:srgbClr val="18212B"/>
                </a:solidFill>
                <a:latin typeface="Arial" panose="020B0604020202020204"/>
                <a:ea typeface="Arial" panose="020B0604020202020204"/>
                <a:cs typeface="Arial" panose="020B0604020202020204"/>
              </a:rPr>
              <a:t>Exact message name and process-instance correlation key advance only the matching waiting instance.</a:t>
            </a:r>
            <a:endParaRPr sz="975" b="0">
              <a:solidFill>
                <a:srgbClr val="18212B"/>
              </a:solidFill>
              <a:latin typeface="Arial" panose="020B0604020202020204"/>
              <a:ea typeface="Arial" panose="020B0604020202020204"/>
              <a:cs typeface="Arial" panose="020B0604020202020204"/>
            </a:endParaRPr>
          </a:p>
        </p:txBody>
      </p:sp>
      <p:sp>
        <p:nvSpPr>
          <p:cNvPr id="25" name="圆角矩形 24"/>
          <p:cNvSpPr>
            <a:spLocks noGrp="1"/>
          </p:cNvSpPr>
          <p:nvPr/>
        </p:nvSpPr>
        <p:spPr>
          <a:xfrm>
            <a:off x="9696450" y="3152775"/>
            <a:ext cx="1847850" cy="419100"/>
          </a:xfrm>
          <a:prstGeom prst="roundRect">
            <a:avLst>
              <a:gd name="adj" fmla="val 20455"/>
            </a:avLst>
          </a:prstGeom>
          <a:solidFill>
            <a:srgbClr val="FFF4D8"/>
          </a:solidFill>
          <a:ln w="11430">
            <a:solidFill>
              <a:srgbClr val="B77A14"/>
            </a:solidFill>
            <a:prstDash val="solid"/>
          </a:ln>
        </p:spPr>
      </p:sp>
      <p:sp>
        <p:nvSpPr>
          <p:cNvPr id="26" name="矩形 25"/>
          <p:cNvSpPr>
            <a:spLocks noGrp="1"/>
          </p:cNvSpPr>
          <p:nvPr/>
        </p:nvSpPr>
        <p:spPr>
          <a:xfrm>
            <a:off x="9744075" y="3171825"/>
            <a:ext cx="1752600" cy="381000"/>
          </a:xfrm>
          <a:prstGeom prst="rect">
            <a:avLst/>
          </a:prstGeom>
          <a:noFill/>
          <a:ln w="0">
            <a:noFill/>
          </a:ln>
        </p:spPr>
        <p:txBody>
          <a:bodyPr wrap="square" lIns="19050" tIns="19050" rIns="19050" bIns="19050" anchor="ctr">
            <a:normAutofit/>
          </a:bodyPr>
          <a:lstStyle/>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STATIC MATCH</a:t>
            </a:r>
            <a:endParaRPr sz="825" b="1">
              <a:solidFill>
                <a:srgbClr val="18212B"/>
              </a:solidFill>
              <a:latin typeface="Arial" panose="020B0604020202020204"/>
              <a:ea typeface="Arial" panose="020B0604020202020204"/>
              <a:cs typeface="Arial" panose="020B0604020202020204"/>
            </a:endParaRPr>
          </a:p>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Live message test open</a:t>
            </a:r>
            <a:endParaRPr sz="825" b="1">
              <a:solidFill>
                <a:srgbClr val="18212B"/>
              </a:solidFill>
              <a:latin typeface="Arial" panose="020B0604020202020204"/>
              <a:ea typeface="Arial" panose="020B0604020202020204"/>
              <a:cs typeface="Arial" panose="020B0604020202020204"/>
            </a:endParaRPr>
          </a:p>
        </p:txBody>
      </p:sp>
      <p:sp>
        <p:nvSpPr>
          <p:cNvPr id="27" name="圆角矩形 26"/>
          <p:cNvSpPr>
            <a:spLocks noGrp="1"/>
          </p:cNvSpPr>
          <p:nvPr/>
        </p:nvSpPr>
        <p:spPr>
          <a:xfrm>
            <a:off x="457200" y="3800475"/>
            <a:ext cx="11277600" cy="685800"/>
          </a:xfrm>
          <a:prstGeom prst="roundRect">
            <a:avLst>
              <a:gd name="adj" fmla="val 12500"/>
            </a:avLst>
          </a:prstGeom>
          <a:solidFill>
            <a:srgbClr val="F0F4F7"/>
          </a:solidFill>
          <a:ln w="11430">
            <a:solidFill>
              <a:srgbClr val="C7D2DC"/>
            </a:solidFill>
            <a:prstDash val="solid"/>
          </a:ln>
        </p:spPr>
      </p:sp>
      <p:sp>
        <p:nvSpPr>
          <p:cNvPr id="28" name="矩形 27"/>
          <p:cNvSpPr>
            <a:spLocks noGrp="1"/>
          </p:cNvSpPr>
          <p:nvPr/>
        </p:nvSpPr>
        <p:spPr>
          <a:xfrm>
            <a:off x="628650" y="3876675"/>
            <a:ext cx="666750" cy="523875"/>
          </a:xfrm>
          <a:prstGeom prst="rect">
            <a:avLst/>
          </a:prstGeom>
          <a:noFill/>
          <a:ln w="0">
            <a:noFill/>
          </a:ln>
        </p:spPr>
        <p:txBody>
          <a:bodyPr wrap="square" lIns="19050" tIns="19050" rIns="19050" bIns="19050" anchor="ctr">
            <a:normAutofit/>
          </a:bodyPr>
          <a:lstStyle/>
          <a:p>
            <a:pPr algn="ctr">
              <a:defRPr sz="1275" b="1">
                <a:solidFill>
                  <a:srgbClr val="2F6690"/>
                </a:solidFill>
                <a:latin typeface="Arial" panose="020B0604020202020204"/>
                <a:ea typeface="Arial" panose="020B0604020202020204"/>
                <a:cs typeface="Arial" panose="020B0604020202020204"/>
              </a:defRPr>
            </a:pPr>
            <a:r>
              <a:rPr sz="1275" b="1">
                <a:solidFill>
                  <a:srgbClr val="2F6690"/>
                </a:solidFill>
                <a:latin typeface="Arial" panose="020B0604020202020204"/>
                <a:ea typeface="Arial" panose="020B0604020202020204"/>
                <a:cs typeface="Arial" panose="020B0604020202020204"/>
              </a:rPr>
              <a:t>AC-4</a:t>
            </a:r>
            <a:endParaRPr sz="1275" b="1">
              <a:solidFill>
                <a:srgbClr val="2F6690"/>
              </a:solidFill>
              <a:latin typeface="Arial" panose="020B0604020202020204"/>
              <a:ea typeface="Arial" panose="020B0604020202020204"/>
              <a:cs typeface="Arial" panose="020B0604020202020204"/>
            </a:endParaRPr>
          </a:p>
        </p:txBody>
      </p:sp>
      <p:sp>
        <p:nvSpPr>
          <p:cNvPr id="29" name="矩形 28"/>
          <p:cNvSpPr>
            <a:spLocks noGrp="1"/>
          </p:cNvSpPr>
          <p:nvPr/>
        </p:nvSpPr>
        <p:spPr>
          <a:xfrm>
            <a:off x="2381250" y="3857625"/>
            <a:ext cx="3333750" cy="552450"/>
          </a:xfrm>
          <a:prstGeom prst="rect">
            <a:avLst/>
          </a:prstGeom>
          <a:noFill/>
          <a:ln w="0">
            <a:noFill/>
          </a:ln>
        </p:spPr>
        <p:txBody>
          <a:bodyPr wrap="square" lIns="19050" tIns="19050" rIns="19050" bIns="19050" anchor="ctr">
            <a:normAutofit/>
          </a:bodyPr>
          <a:lstStyle/>
          <a:p>
            <a:pPr algn="l">
              <a:defRPr sz="1125" b="1">
                <a:solidFill>
                  <a:srgbClr val="18324B"/>
                </a:solidFill>
                <a:latin typeface="Arial" panose="020B0604020202020204"/>
                <a:ea typeface="Arial" panose="020B0604020202020204"/>
                <a:cs typeface="Arial" panose="020B0604020202020204"/>
              </a:defRPr>
            </a:pPr>
            <a:r>
              <a:rPr sz="1125" b="1">
                <a:solidFill>
                  <a:srgbClr val="18324B"/>
                </a:solidFill>
                <a:latin typeface="Arial" panose="020B0604020202020204"/>
                <a:ea typeface="Arial" panose="020B0604020202020204"/>
                <a:cs typeface="Arial" panose="020B0604020202020204"/>
              </a:rPr>
              <a:t>Payment safety</a:t>
            </a:r>
            <a:endParaRPr sz="1125" b="1">
              <a:solidFill>
                <a:srgbClr val="18324B"/>
              </a:solidFill>
              <a:latin typeface="Arial" panose="020B0604020202020204"/>
              <a:ea typeface="Arial" panose="020B0604020202020204"/>
              <a:cs typeface="Arial" panose="020B0604020202020204"/>
            </a:endParaRPr>
          </a:p>
        </p:txBody>
      </p:sp>
      <p:sp>
        <p:nvSpPr>
          <p:cNvPr id="30" name="矩形 29"/>
          <p:cNvSpPr>
            <a:spLocks noGrp="1"/>
          </p:cNvSpPr>
          <p:nvPr/>
        </p:nvSpPr>
        <p:spPr>
          <a:xfrm>
            <a:off x="6143625" y="3857625"/>
            <a:ext cx="3371850" cy="552450"/>
          </a:xfrm>
          <a:prstGeom prst="rect">
            <a:avLst/>
          </a:prstGeom>
          <a:noFill/>
          <a:ln w="0">
            <a:noFill/>
          </a:ln>
        </p:spPr>
        <p:txBody>
          <a:bodyPr wrap="square" lIns="19050" tIns="19050" rIns="19050" bIns="19050" anchor="ctr">
            <a:normAutofit/>
          </a:bodyPr>
          <a:lstStyle/>
          <a:p>
            <a:pPr algn="l">
              <a:defRPr sz="975" b="0">
                <a:solidFill>
                  <a:srgbClr val="18212B"/>
                </a:solidFill>
                <a:latin typeface="Arial" panose="020B0604020202020204"/>
                <a:ea typeface="Arial" panose="020B0604020202020204"/>
                <a:cs typeface="Arial" panose="020B0604020202020204"/>
              </a:defRPr>
            </a:pPr>
            <a:r>
              <a:rPr sz="975" b="0">
                <a:solidFill>
                  <a:srgbClr val="18212B"/>
                </a:solidFill>
                <a:latin typeface="Arial" panose="020B0604020202020204"/>
                <a:ea typeface="Arial" panose="020B0604020202020204"/>
                <a:cs typeface="Arial" panose="020B0604020202020204"/>
              </a:rPr>
              <a:t>Missing status never auto-recharges. Each declined/cancelled retry needs Finance approval and must stay within the confirmed attempt cap.</a:t>
            </a:r>
            <a:endParaRPr sz="975" b="0">
              <a:solidFill>
                <a:srgbClr val="18212B"/>
              </a:solidFill>
              <a:latin typeface="Arial" panose="020B0604020202020204"/>
              <a:ea typeface="Arial" panose="020B0604020202020204"/>
              <a:cs typeface="Arial" panose="020B0604020202020204"/>
            </a:endParaRPr>
          </a:p>
        </p:txBody>
      </p:sp>
      <p:sp>
        <p:nvSpPr>
          <p:cNvPr id="31" name="圆角矩形 30"/>
          <p:cNvSpPr>
            <a:spLocks noGrp="1"/>
          </p:cNvSpPr>
          <p:nvPr/>
        </p:nvSpPr>
        <p:spPr>
          <a:xfrm>
            <a:off x="9696450" y="3933825"/>
            <a:ext cx="1847850" cy="419100"/>
          </a:xfrm>
          <a:prstGeom prst="roundRect">
            <a:avLst>
              <a:gd name="adj" fmla="val 20455"/>
            </a:avLst>
          </a:prstGeom>
          <a:solidFill>
            <a:srgbClr val="F9E8EA"/>
          </a:solidFill>
          <a:ln w="11430">
            <a:solidFill>
              <a:srgbClr val="A84E59"/>
            </a:solidFill>
            <a:prstDash val="solid"/>
          </a:ln>
        </p:spPr>
      </p:sp>
      <p:sp>
        <p:nvSpPr>
          <p:cNvPr id="32" name="矩形 31"/>
          <p:cNvSpPr>
            <a:spLocks noGrp="1"/>
          </p:cNvSpPr>
          <p:nvPr/>
        </p:nvSpPr>
        <p:spPr>
          <a:xfrm>
            <a:off x="9744075" y="3952875"/>
            <a:ext cx="1752600" cy="381000"/>
          </a:xfrm>
          <a:prstGeom prst="rect">
            <a:avLst/>
          </a:prstGeom>
          <a:noFill/>
          <a:ln w="0">
            <a:noFill/>
          </a:ln>
        </p:spPr>
        <p:txBody>
          <a:bodyPr wrap="square" lIns="19050" tIns="19050" rIns="19050" bIns="19050" anchor="ctr">
            <a:normAutofit fontScale="99532"/>
          </a:bodyPr>
          <a:lstStyle/>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NOT RUN</a:t>
            </a:r>
            <a:endParaRPr sz="825" b="1">
              <a:solidFill>
                <a:srgbClr val="18212B"/>
              </a:solidFill>
              <a:latin typeface="Arial" panose="020B0604020202020204"/>
              <a:ea typeface="Arial" panose="020B0604020202020204"/>
              <a:cs typeface="Arial" panose="020B0604020202020204"/>
            </a:endParaRPr>
          </a:p>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PSP rules and retry cap to confirm</a:t>
            </a:r>
            <a:endParaRPr sz="825" b="1">
              <a:solidFill>
                <a:srgbClr val="18212B"/>
              </a:solidFill>
              <a:latin typeface="Arial" panose="020B0604020202020204"/>
              <a:ea typeface="Arial" panose="020B0604020202020204"/>
              <a:cs typeface="Arial" panose="020B0604020202020204"/>
            </a:endParaRPr>
          </a:p>
        </p:txBody>
      </p:sp>
      <p:sp>
        <p:nvSpPr>
          <p:cNvPr id="33" name="圆角矩形 32"/>
          <p:cNvSpPr>
            <a:spLocks noGrp="1"/>
          </p:cNvSpPr>
          <p:nvPr/>
        </p:nvSpPr>
        <p:spPr>
          <a:xfrm>
            <a:off x="457200" y="4581525"/>
            <a:ext cx="11277600" cy="685800"/>
          </a:xfrm>
          <a:prstGeom prst="roundRect">
            <a:avLst>
              <a:gd name="adj" fmla="val 12500"/>
            </a:avLst>
          </a:prstGeom>
          <a:solidFill>
            <a:srgbClr val="FFFFFF"/>
          </a:solidFill>
          <a:ln w="11430">
            <a:solidFill>
              <a:srgbClr val="C7D2DC"/>
            </a:solidFill>
            <a:prstDash val="solid"/>
          </a:ln>
        </p:spPr>
      </p:sp>
      <p:sp>
        <p:nvSpPr>
          <p:cNvPr id="34" name="矩形 33"/>
          <p:cNvSpPr>
            <a:spLocks noGrp="1"/>
          </p:cNvSpPr>
          <p:nvPr/>
        </p:nvSpPr>
        <p:spPr>
          <a:xfrm>
            <a:off x="628650" y="4657725"/>
            <a:ext cx="666750" cy="523875"/>
          </a:xfrm>
          <a:prstGeom prst="rect">
            <a:avLst/>
          </a:prstGeom>
          <a:noFill/>
          <a:ln w="0">
            <a:noFill/>
          </a:ln>
        </p:spPr>
        <p:txBody>
          <a:bodyPr wrap="square" lIns="19050" tIns="19050" rIns="19050" bIns="19050" anchor="ctr">
            <a:normAutofit/>
          </a:bodyPr>
          <a:lstStyle/>
          <a:p>
            <a:pPr algn="ctr">
              <a:defRPr sz="1275" b="1">
                <a:solidFill>
                  <a:srgbClr val="2F6690"/>
                </a:solidFill>
                <a:latin typeface="Arial" panose="020B0604020202020204"/>
                <a:ea typeface="Arial" panose="020B0604020202020204"/>
                <a:cs typeface="Arial" panose="020B0604020202020204"/>
              </a:defRPr>
            </a:pPr>
            <a:r>
              <a:rPr sz="1275" b="1">
                <a:solidFill>
                  <a:srgbClr val="2F6690"/>
                </a:solidFill>
                <a:latin typeface="Arial" panose="020B0604020202020204"/>
                <a:ea typeface="Arial" panose="020B0604020202020204"/>
                <a:cs typeface="Arial" panose="020B0604020202020204"/>
              </a:rPr>
              <a:t>AC-5</a:t>
            </a:r>
            <a:endParaRPr sz="1275" b="1">
              <a:solidFill>
                <a:srgbClr val="2F6690"/>
              </a:solidFill>
              <a:latin typeface="Arial" panose="020B0604020202020204"/>
              <a:ea typeface="Arial" panose="020B0604020202020204"/>
              <a:cs typeface="Arial" panose="020B0604020202020204"/>
            </a:endParaRPr>
          </a:p>
        </p:txBody>
      </p:sp>
      <p:sp>
        <p:nvSpPr>
          <p:cNvPr id="35" name="矩形 34"/>
          <p:cNvSpPr>
            <a:spLocks noGrp="1"/>
          </p:cNvSpPr>
          <p:nvPr/>
        </p:nvSpPr>
        <p:spPr>
          <a:xfrm>
            <a:off x="2381250" y="4638675"/>
            <a:ext cx="3333750" cy="552450"/>
          </a:xfrm>
          <a:prstGeom prst="rect">
            <a:avLst/>
          </a:prstGeom>
          <a:noFill/>
          <a:ln w="0">
            <a:noFill/>
          </a:ln>
        </p:spPr>
        <p:txBody>
          <a:bodyPr wrap="square" lIns="19050" tIns="19050" rIns="19050" bIns="19050" anchor="ctr">
            <a:normAutofit/>
          </a:bodyPr>
          <a:lstStyle/>
          <a:p>
            <a:pPr algn="l">
              <a:defRPr sz="1125" b="1">
                <a:solidFill>
                  <a:srgbClr val="18324B"/>
                </a:solidFill>
                <a:latin typeface="Arial" panose="020B0604020202020204"/>
                <a:ea typeface="Arial" panose="020B0604020202020204"/>
                <a:cs typeface="Arial" panose="020B0604020202020204"/>
              </a:defRPr>
            </a:pPr>
            <a:r>
              <a:rPr sz="1125" b="1">
                <a:solidFill>
                  <a:srgbClr val="18324B"/>
                </a:solidFill>
                <a:latin typeface="Arial" panose="020B0604020202020204"/>
                <a:ea typeface="Arial" panose="020B0604020202020204"/>
                <a:cs typeface="Arial" panose="020B0604020202020204"/>
              </a:rPr>
              <a:t>Worker execution</a:t>
            </a:r>
            <a:endParaRPr sz="1125" b="1">
              <a:solidFill>
                <a:srgbClr val="18324B"/>
              </a:solidFill>
              <a:latin typeface="Arial" panose="020B0604020202020204"/>
              <a:ea typeface="Arial" panose="020B0604020202020204"/>
              <a:cs typeface="Arial" panose="020B0604020202020204"/>
            </a:endParaRPr>
          </a:p>
        </p:txBody>
      </p:sp>
      <p:sp>
        <p:nvSpPr>
          <p:cNvPr id="36" name="矩形 35"/>
          <p:cNvSpPr>
            <a:spLocks noGrp="1"/>
          </p:cNvSpPr>
          <p:nvPr/>
        </p:nvSpPr>
        <p:spPr>
          <a:xfrm>
            <a:off x="6143625" y="4638675"/>
            <a:ext cx="3371850" cy="552450"/>
          </a:xfrm>
          <a:prstGeom prst="rect">
            <a:avLst/>
          </a:prstGeom>
          <a:noFill/>
          <a:ln w="0">
            <a:noFill/>
          </a:ln>
        </p:spPr>
        <p:txBody>
          <a:bodyPr wrap="square" lIns="19050" tIns="19050" rIns="19050" bIns="19050" anchor="ctr">
            <a:normAutofit/>
          </a:bodyPr>
          <a:lstStyle/>
          <a:p>
            <a:pPr algn="l">
              <a:defRPr sz="975" b="0">
                <a:solidFill>
                  <a:srgbClr val="18212B"/>
                </a:solidFill>
                <a:latin typeface="Arial" panose="020B0604020202020204"/>
                <a:ea typeface="Arial" panose="020B0604020202020204"/>
                <a:cs typeface="Arial" panose="020B0604020202020204"/>
              </a:defRPr>
            </a:pPr>
            <a:r>
              <a:rPr sz="975" b="0">
                <a:solidFill>
                  <a:srgbClr val="18212B"/>
                </a:solidFill>
                <a:latin typeface="Arial" panose="020B0604020202020204"/>
                <a:ea typeface="Arial" panose="020B0604020202020204"/>
                <a:cs typeface="Arial" panose="020B0604020202020204"/>
              </a:rPr>
              <a:t>All 4 BPMN job types are handled. Capacity BPMN error is caught; each successful job completes with expected variables.</a:t>
            </a:r>
            <a:endParaRPr sz="975" b="0">
              <a:solidFill>
                <a:srgbClr val="18212B"/>
              </a:solidFill>
              <a:latin typeface="Arial" panose="020B0604020202020204"/>
              <a:ea typeface="Arial" panose="020B0604020202020204"/>
              <a:cs typeface="Arial" panose="020B0604020202020204"/>
            </a:endParaRPr>
          </a:p>
        </p:txBody>
      </p:sp>
      <p:sp>
        <p:nvSpPr>
          <p:cNvPr id="37" name="圆角矩形 36"/>
          <p:cNvSpPr>
            <a:spLocks noGrp="1"/>
          </p:cNvSpPr>
          <p:nvPr/>
        </p:nvSpPr>
        <p:spPr>
          <a:xfrm>
            <a:off x="9696450" y="4714875"/>
            <a:ext cx="1847850" cy="419100"/>
          </a:xfrm>
          <a:prstGeom prst="roundRect">
            <a:avLst>
              <a:gd name="adj" fmla="val 20455"/>
            </a:avLst>
          </a:prstGeom>
          <a:solidFill>
            <a:srgbClr val="FFF4D8"/>
          </a:solidFill>
          <a:ln w="11430">
            <a:solidFill>
              <a:srgbClr val="B77A14"/>
            </a:solidFill>
            <a:prstDash val="solid"/>
          </a:ln>
        </p:spPr>
      </p:sp>
      <p:sp>
        <p:nvSpPr>
          <p:cNvPr id="38" name="矩形 37"/>
          <p:cNvSpPr>
            <a:spLocks noGrp="1"/>
          </p:cNvSpPr>
          <p:nvPr/>
        </p:nvSpPr>
        <p:spPr>
          <a:xfrm>
            <a:off x="9744075" y="4733925"/>
            <a:ext cx="1752600" cy="381000"/>
          </a:xfrm>
          <a:prstGeom prst="rect">
            <a:avLst/>
          </a:prstGeom>
          <a:noFill/>
          <a:ln w="0">
            <a:noFill/>
          </a:ln>
        </p:spPr>
        <p:txBody>
          <a:bodyPr wrap="square" lIns="19050" tIns="19050" rIns="19050" bIns="19050" anchor="ctr">
            <a:normAutofit/>
          </a:bodyPr>
          <a:lstStyle/>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SYNTAX CHECK PASS</a:t>
            </a:r>
            <a:endParaRPr sz="825" b="1">
              <a:solidFill>
                <a:srgbClr val="18212B"/>
              </a:solidFill>
              <a:latin typeface="Arial" panose="020B0604020202020204"/>
              <a:ea typeface="Arial" panose="020B0604020202020204"/>
              <a:cs typeface="Arial" panose="020B0604020202020204"/>
            </a:endParaRPr>
          </a:p>
          <a:p>
            <a:pPr algn="ctr">
              <a:defRPr sz="825" b="1">
                <a:solidFill>
                  <a:srgbClr val="18212B"/>
                </a:solidFill>
                <a:latin typeface="Arial" panose="020B0604020202020204"/>
                <a:ea typeface="Arial" panose="020B0604020202020204"/>
                <a:cs typeface="Arial" panose="020B0604020202020204"/>
              </a:defRPr>
            </a:pPr>
            <a:r>
              <a:rPr sz="825" b="1">
                <a:solidFill>
                  <a:srgbClr val="18212B"/>
                </a:solidFill>
                <a:latin typeface="Arial" panose="020B0604020202020204"/>
                <a:ea typeface="Arial" panose="020B0604020202020204"/>
                <a:cs typeface="Arial" panose="020B0604020202020204"/>
              </a:rPr>
              <a:t>E2E tests open</a:t>
            </a:r>
            <a:endParaRPr sz="825" b="1">
              <a:solidFill>
                <a:srgbClr val="18212B"/>
              </a:solidFill>
              <a:latin typeface="Arial" panose="020B0604020202020204"/>
              <a:ea typeface="Arial" panose="020B0604020202020204"/>
              <a:cs typeface="Arial" panose="020B0604020202020204"/>
            </a:endParaRPr>
          </a:p>
        </p:txBody>
      </p:sp>
      <p:sp>
        <p:nvSpPr>
          <p:cNvPr id="39" name="圆角矩形 38"/>
          <p:cNvSpPr>
            <a:spLocks noGrp="1"/>
          </p:cNvSpPr>
          <p:nvPr/>
        </p:nvSpPr>
        <p:spPr>
          <a:xfrm>
            <a:off x="457200" y="5476875"/>
            <a:ext cx="11277600" cy="838200"/>
          </a:xfrm>
          <a:prstGeom prst="roundRect">
            <a:avLst>
              <a:gd name="adj" fmla="val 11364"/>
            </a:avLst>
          </a:prstGeom>
          <a:solidFill>
            <a:srgbClr val="EDF2F6"/>
          </a:solidFill>
          <a:ln w="11430">
            <a:solidFill>
              <a:srgbClr val="C7D2DC"/>
            </a:solidFill>
            <a:prstDash val="solid"/>
          </a:ln>
        </p:spPr>
      </p:sp>
      <p:sp>
        <p:nvSpPr>
          <p:cNvPr id="40" name="矩形 39"/>
          <p:cNvSpPr>
            <a:spLocks noGrp="1"/>
          </p:cNvSpPr>
          <p:nvPr/>
        </p:nvSpPr>
        <p:spPr>
          <a:xfrm>
            <a:off x="628650" y="5581650"/>
            <a:ext cx="2476500" cy="228600"/>
          </a:xfrm>
          <a:prstGeom prst="rect">
            <a:avLst/>
          </a:prstGeom>
          <a:noFill/>
          <a:ln w="0">
            <a:noFill/>
          </a:ln>
        </p:spPr>
        <p:txBody>
          <a:bodyPr wrap="square" lIns="19050" tIns="19050" rIns="19050" bIns="19050" anchor="ctr">
            <a:normAutofit/>
          </a:bodyPr>
          <a:lstStyle/>
          <a:p>
            <a:pPr algn="l">
              <a:defRPr sz="1050" b="1">
                <a:solidFill>
                  <a:srgbClr val="18324B"/>
                </a:solidFill>
                <a:latin typeface="Arial" panose="020B0604020202020204"/>
                <a:ea typeface="Arial" panose="020B0604020202020204"/>
                <a:cs typeface="Arial" panose="020B0604020202020204"/>
              </a:defRPr>
            </a:pPr>
            <a:r>
              <a:rPr sz="1050" b="1">
                <a:solidFill>
                  <a:srgbClr val="18324B"/>
                </a:solidFill>
                <a:latin typeface="Arial" panose="020B0604020202020204"/>
                <a:ea typeface="Arial" panose="020B0604020202020204"/>
                <a:cs typeface="Arial" panose="020B0604020202020204"/>
              </a:rPr>
              <a:t>Confirm before final sign-off</a:t>
            </a:r>
            <a:endParaRPr sz="1050" b="1">
              <a:solidFill>
                <a:srgbClr val="18324B"/>
              </a:solidFill>
              <a:latin typeface="Arial" panose="020B0604020202020204"/>
              <a:ea typeface="Arial" panose="020B0604020202020204"/>
              <a:cs typeface="Arial" panose="020B0604020202020204"/>
            </a:endParaRPr>
          </a:p>
        </p:txBody>
      </p:sp>
      <p:sp>
        <p:nvSpPr>
          <p:cNvPr id="41" name="矩形 40"/>
          <p:cNvSpPr>
            <a:spLocks noGrp="1"/>
          </p:cNvSpPr>
          <p:nvPr/>
        </p:nvSpPr>
        <p:spPr>
          <a:xfrm>
            <a:off x="628650" y="5829300"/>
            <a:ext cx="10934700" cy="342900"/>
          </a:xfrm>
          <a:prstGeom prst="rect">
            <a:avLst/>
          </a:prstGeom>
          <a:noFill/>
          <a:ln w="0">
            <a:noFill/>
          </a:ln>
        </p:spPr>
        <p:txBody>
          <a:bodyPr wrap="square" lIns="19050" tIns="19050" rIns="19050" bIns="19050" anchor="ctr">
            <a:normAutofit/>
          </a:bodyPr>
          <a:lstStyle/>
          <a:p>
            <a:pPr algn="l">
              <a:defRPr sz="975" b="0">
                <a:solidFill>
                  <a:srgbClr val="18212B"/>
                </a:solidFill>
                <a:latin typeface="Arial" panose="020B0604020202020204"/>
                <a:ea typeface="Arial" panose="020B0604020202020204"/>
                <a:cs typeface="Arial" panose="020B0604020202020204"/>
              </a:defRPr>
            </a:pPr>
            <a:r>
              <a:rPr sz="975" b="0">
                <a:solidFill>
                  <a:srgbClr val="18212B"/>
                </a:solidFill>
                <a:latin typeface="Arial" panose="020B0604020202020204"/>
                <a:ea typeface="Arial" panose="020B0604020202020204"/>
                <a:cs typeface="Arial" panose="020B0604020202020204"/>
              </a:rPr>
              <a:t>30-minute retry policy • PSP decline/cancel meaning and idempotency • Finance retry authority and attempt cap • Whether a Java Message Handler is graded as mandatory</a:t>
            </a:r>
            <a:endParaRPr sz="975" b="0">
              <a:solidFill>
                <a:srgbClr val="18212B"/>
              </a:solidFill>
              <a:latin typeface="Arial" panose="020B0604020202020204"/>
              <a:ea typeface="Arial" panose="020B0604020202020204"/>
              <a:cs typeface="Arial" panose="020B0604020202020204"/>
            </a:endParaRPr>
          </a:p>
        </p:txBody>
      </p:sp>
      <p:sp>
        <p:nvSpPr>
          <p:cNvPr id="42" name="矩形 41"/>
          <p:cNvSpPr>
            <a:spLocks noGrp="1"/>
          </p:cNvSpPr>
          <p:nvPr/>
        </p:nvSpPr>
        <p:spPr>
          <a:xfrm>
            <a:off x="628650" y="6419850"/>
            <a:ext cx="10934700" cy="219075"/>
          </a:xfrm>
          <a:prstGeom prst="rect">
            <a:avLst/>
          </a:prstGeom>
          <a:noFill/>
          <a:ln w="0">
            <a:noFill/>
          </a:ln>
        </p:spPr>
        <p:txBody>
          <a:bodyPr wrap="square" lIns="19050" tIns="19050" rIns="19050" bIns="19050" anchor="ctr">
            <a:normAutofit/>
          </a:bodyPr>
          <a:lstStyle/>
          <a:p>
            <a:pPr algn="ctr">
              <a:defRPr sz="900" b="0">
                <a:solidFill>
                  <a:srgbClr val="536577"/>
                </a:solidFill>
                <a:latin typeface="Arial" panose="020B0604020202020204"/>
                <a:ea typeface="Arial" panose="020B0604020202020204"/>
                <a:cs typeface="Arial" panose="020B0604020202020204"/>
              </a:defRPr>
            </a:pPr>
            <a:r>
              <a:rPr sz="900" b="0">
                <a:solidFill>
                  <a:srgbClr val="536577"/>
                </a:solidFill>
                <a:latin typeface="Arial" panose="020B0604020202020204"/>
                <a:ea typeface="Arial" panose="020B0604020202020204"/>
                <a:cs typeface="Arial" panose="020B0604020202020204"/>
              </a:rPr>
              <a:t>Open rules are marked for Tutor / Stakeholder confirmation in the Acceptance Test Plan.</a:t>
            </a:r>
            <a:endParaRPr sz="900" b="0">
              <a:solidFill>
                <a:srgbClr val="536577"/>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33" name="workflow-title"/>
          <p:cNvSpPr>
            <a:spLocks noGrp="1"/>
          </p:cNvSpPr>
          <p:nvPr/>
        </p:nvSpPr>
        <p:spPr>
          <a:xfrm>
            <a:off x="685764" y="447830"/>
            <a:ext cx="10819836" cy="628617"/>
          </a:xfrm>
          <a:prstGeom prst="rect">
            <a:avLst/>
          </a:prstGeom>
          <a:noFill/>
          <a:ln w="0">
            <a:noFill/>
          </a:ln>
        </p:spPr>
        <p:txBody>
          <a:bodyPr>
            <a:normAutofit fontScale="82157"/>
          </a:bodyPr>
          <a:lstStyle/>
          <a:p>
            <a:pPr>
              <a:defRPr sz="3825" b="1">
                <a:solidFill>
                  <a:srgbClr val="F8FAFC"/>
                </a:solidFill>
                <a:latin typeface="Segoe UI" panose="020B0502040204020203"/>
                <a:ea typeface="Segoe UI" panose="020B0502040204020203"/>
                <a:cs typeface="Segoe UI" panose="020B0502040204020203"/>
              </a:defRPr>
            </a:pPr>
            <a:r>
              <a:rPr b="1">
                <a:solidFill>
                  <a:srgbClr val="F8FAFC"/>
                </a:solidFill>
                <a:latin typeface="Segoe UI" panose="020B0502040204020203"/>
                <a:ea typeface="Segoe UI" panose="020B0502040204020203"/>
                <a:cs typeface="Segoe UI" panose="020B0502040204020203"/>
              </a:rPr>
              <a:t>Chemotherapy cycle workflow</a:t>
            </a:r>
            <a:endParaRPr b="1">
              <a:solidFill>
                <a:srgbClr val="F8FAFC"/>
              </a:solidFill>
              <a:latin typeface="Segoe UI" panose="020B0502040204020203"/>
              <a:ea typeface="Segoe UI" panose="020B0502040204020203"/>
              <a:cs typeface="Segoe UI" panose="020B0502040204020203"/>
            </a:endParaRPr>
          </a:p>
        </p:txBody>
      </p:sp>
      <p:sp>
        <p:nvSpPr>
          <p:cNvPr id="2" name="workflow-summary"/>
          <p:cNvSpPr>
            <a:spLocks noGrp="1"/>
          </p:cNvSpPr>
          <p:nvPr/>
        </p:nvSpPr>
        <p:spPr>
          <a:xfrm>
            <a:off x="704813" y="1152644"/>
            <a:ext cx="10667444" cy="361931"/>
          </a:xfrm>
          <a:prstGeom prst="rect">
            <a:avLst/>
          </a:prstGeom>
          <a:noFill/>
          <a:ln w="0">
            <a:noFill/>
          </a:ln>
        </p:spPr>
        <p:txBody>
          <a:bodyPr>
            <a:normAutofit lnSpcReduction="20000"/>
          </a:bodyPr>
          <a:lstStyle/>
          <a:p>
            <a:pPr>
              <a:defRPr sz="1725" b="0">
                <a:solidFill>
                  <a:srgbClr val="AAB6C5"/>
                </a:solidFill>
                <a:latin typeface="Segoe UI" panose="020B0502040204020203"/>
                <a:ea typeface="Segoe UI" panose="020B0502040204020203"/>
                <a:cs typeface="Segoe UI" panose="020B0502040204020203"/>
              </a:defRPr>
            </a:pPr>
            <a:r>
              <a:rPr b="0">
                <a:solidFill>
                  <a:srgbClr val="AAB6C5"/>
                </a:solidFill>
                <a:latin typeface="Segoe UI" panose="020B0502040204020203"/>
                <a:ea typeface="Segoe UI" panose="020B0502040204020203"/>
                <a:cs typeface="Segoe UI" panose="020B0502040204020203"/>
              </a:rPr>
              <a:t>My contribution: executable Camunda 8 BPMN, nine forms and a Node.js mock worker</a:t>
            </a:r>
            <a:endParaRPr b="0">
              <a:solidFill>
                <a:srgbClr val="AAB6C5"/>
              </a:solidFill>
              <a:latin typeface="Segoe UI" panose="020B0502040204020203"/>
              <a:ea typeface="Segoe UI" panose="020B0502040204020203"/>
              <a:cs typeface="Segoe UI" panose="020B0502040204020203"/>
            </a:endParaRPr>
          </a:p>
        </p:txBody>
      </p:sp>
      <p:sp>
        <p:nvSpPr>
          <p:cNvPr id="3" name="title-rule"/>
          <p:cNvSpPr>
            <a:spLocks noGrp="1"/>
          </p:cNvSpPr>
          <p:nvPr/>
        </p:nvSpPr>
        <p:spPr>
          <a:xfrm>
            <a:off x="685764" y="1686016"/>
            <a:ext cx="10819836" cy="19049"/>
          </a:xfrm>
          <a:prstGeom prst="rect">
            <a:avLst/>
          </a:prstGeom>
          <a:solidFill>
            <a:srgbClr val="344256"/>
          </a:solidFill>
          <a:ln w="0">
            <a:noFill/>
          </a:ln>
        </p:spPr>
      </p:sp>
      <p:sp>
        <p:nvSpPr>
          <p:cNvPr id="4" name="title-accent"/>
          <p:cNvSpPr>
            <a:spLocks noGrp="1"/>
          </p:cNvSpPr>
          <p:nvPr/>
        </p:nvSpPr>
        <p:spPr>
          <a:xfrm>
            <a:off x="685764" y="1686016"/>
            <a:ext cx="1257235" cy="38098"/>
          </a:xfrm>
          <a:prstGeom prst="rect">
            <a:avLst/>
          </a:prstGeom>
          <a:solidFill>
            <a:srgbClr val="F28A3B"/>
          </a:solidFill>
          <a:ln w="0">
            <a:noFill/>
          </a:ln>
        </p:spPr>
      </p:sp>
      <p:sp>
        <p:nvSpPr>
          <p:cNvPr id="5" name="step-1-number"/>
          <p:cNvSpPr>
            <a:spLocks noGrp="1"/>
          </p:cNvSpPr>
          <p:nvPr/>
        </p:nvSpPr>
        <p:spPr>
          <a:xfrm>
            <a:off x="685764" y="1981275"/>
            <a:ext cx="1866803" cy="419078"/>
          </a:xfrm>
          <a:prstGeom prst="rect">
            <a:avLst/>
          </a:prstGeom>
          <a:noFill/>
          <a:ln w="0">
            <a:noFill/>
          </a:ln>
        </p:spPr>
        <p:txBody>
          <a:bodyPr>
            <a:normAutofit fontScale="82473"/>
          </a:bodyPr>
          <a:lstStyle/>
          <a:p>
            <a:pPr>
              <a:defRPr sz="2325"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01</a:t>
            </a:r>
            <a:endParaRPr b="1">
              <a:solidFill>
                <a:srgbClr val="F28A3B"/>
              </a:solidFill>
              <a:latin typeface="Segoe UI" panose="020B0502040204020203"/>
              <a:ea typeface="Segoe UI" panose="020B0502040204020203"/>
              <a:cs typeface="Segoe UI" panose="020B0502040204020203"/>
            </a:endParaRPr>
          </a:p>
        </p:txBody>
      </p:sp>
      <p:sp>
        <p:nvSpPr>
          <p:cNvPr id="6" name="step-1-label"/>
          <p:cNvSpPr>
            <a:spLocks noGrp="1"/>
          </p:cNvSpPr>
          <p:nvPr/>
        </p:nvSpPr>
        <p:spPr>
          <a:xfrm>
            <a:off x="685764" y="2476550"/>
            <a:ext cx="1971572" cy="380980"/>
          </a:xfrm>
          <a:prstGeom prst="rect">
            <a:avLst/>
          </a:prstGeom>
          <a:noFill/>
          <a:ln w="0">
            <a:noFill/>
          </a:ln>
        </p:spPr>
        <p:txBody>
          <a:bodyPr>
            <a:normAutofit fontScale="90000"/>
          </a:bodyPr>
          <a:lstStyle/>
          <a:p>
            <a:pPr>
              <a:defRPr sz="1875" b="1">
                <a:solidFill>
                  <a:srgbClr val="F8FAFC"/>
                </a:solidFill>
                <a:latin typeface="Segoe UI" panose="020B0502040204020203"/>
                <a:ea typeface="Segoe UI" panose="020B0502040204020203"/>
                <a:cs typeface="Segoe UI" panose="020B0502040204020203"/>
              </a:defRPr>
            </a:pPr>
            <a:r>
              <a:rPr b="1">
                <a:solidFill>
                  <a:srgbClr val="F8FAFC"/>
                </a:solidFill>
                <a:latin typeface="Segoe UI" panose="020B0502040204020203"/>
                <a:ea typeface="Segoe UI" panose="020B0502040204020203"/>
                <a:cs typeface="Segoe UI" panose="020B0502040204020203"/>
              </a:rPr>
              <a:t>Request</a:t>
            </a:r>
            <a:endParaRPr b="1">
              <a:solidFill>
                <a:srgbClr val="F8FAFC"/>
              </a:solidFill>
              <a:latin typeface="Segoe UI" panose="020B0502040204020203"/>
              <a:ea typeface="Segoe UI" panose="020B0502040204020203"/>
              <a:cs typeface="Segoe UI" panose="020B0502040204020203"/>
            </a:endParaRPr>
          </a:p>
        </p:txBody>
      </p:sp>
      <p:sp>
        <p:nvSpPr>
          <p:cNvPr id="7" name="step-1-detail"/>
          <p:cNvSpPr>
            <a:spLocks noGrp="1"/>
          </p:cNvSpPr>
          <p:nvPr/>
        </p:nvSpPr>
        <p:spPr>
          <a:xfrm>
            <a:off x="685764" y="2952775"/>
            <a:ext cx="1914425" cy="952450"/>
          </a:xfrm>
          <a:prstGeom prst="rect">
            <a:avLst/>
          </a:prstGeom>
          <a:noFill/>
          <a:ln w="0">
            <a:noFill/>
          </a:ln>
        </p:spPr>
        <p:txBody>
          <a:bodyPr>
            <a:normAutofit/>
          </a:bodyPr>
          <a:lstStyle/>
          <a:p>
            <a:pPr>
              <a:defRPr sz="1575" b="0">
                <a:solidFill>
                  <a:srgbClr val="AAB6C5"/>
                </a:solidFill>
                <a:latin typeface="Segoe UI" panose="020B0502040204020203"/>
                <a:ea typeface="Segoe UI" panose="020B0502040204020203"/>
                <a:cs typeface="Segoe UI" panose="020B0502040204020203"/>
              </a:defRPr>
            </a:pPr>
            <a:r>
              <a:rPr b="0">
                <a:solidFill>
                  <a:srgbClr val="AAB6C5"/>
                </a:solidFill>
                <a:latin typeface="Segoe UI" panose="020B0502040204020203"/>
                <a:ea typeface="Segoe UI" panose="020B0502040204020203"/>
                <a:cs typeface="Segoe UI" panose="020B0502040204020203"/>
              </a:rPr>
              <a:t>Classify cycle review or formal treatment change.</a:t>
            </a:r>
            <a:endParaRPr b="0">
              <a:solidFill>
                <a:srgbClr val="AAB6C5"/>
              </a:solidFill>
              <a:latin typeface="Segoe UI" panose="020B0502040204020203"/>
              <a:ea typeface="Segoe UI" panose="020B0502040204020203"/>
              <a:cs typeface="Segoe UI" panose="020B0502040204020203"/>
            </a:endParaRPr>
          </a:p>
        </p:txBody>
      </p:sp>
      <p:sp>
        <p:nvSpPr>
          <p:cNvPr id="8" name="step-divider-1"/>
          <p:cNvSpPr>
            <a:spLocks noGrp="1"/>
          </p:cNvSpPr>
          <p:nvPr/>
        </p:nvSpPr>
        <p:spPr>
          <a:xfrm>
            <a:off x="2695435" y="2000324"/>
            <a:ext cx="9525" cy="1923950"/>
          </a:xfrm>
          <a:prstGeom prst="rect">
            <a:avLst/>
          </a:prstGeom>
          <a:solidFill>
            <a:srgbClr val="344256"/>
          </a:solidFill>
          <a:ln w="0">
            <a:noFill/>
          </a:ln>
        </p:spPr>
      </p:sp>
      <p:sp>
        <p:nvSpPr>
          <p:cNvPr id="9" name="step-2-number"/>
          <p:cNvSpPr>
            <a:spLocks noGrp="1"/>
          </p:cNvSpPr>
          <p:nvPr/>
        </p:nvSpPr>
        <p:spPr>
          <a:xfrm>
            <a:off x="2847827" y="1981275"/>
            <a:ext cx="1866803" cy="419078"/>
          </a:xfrm>
          <a:prstGeom prst="rect">
            <a:avLst/>
          </a:prstGeom>
          <a:noFill/>
          <a:ln w="0">
            <a:noFill/>
          </a:ln>
        </p:spPr>
        <p:txBody>
          <a:bodyPr>
            <a:normAutofit fontScale="82473"/>
          </a:bodyPr>
          <a:lstStyle/>
          <a:p>
            <a:pPr>
              <a:defRPr sz="2325"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02</a:t>
            </a:r>
            <a:endParaRPr b="1">
              <a:solidFill>
                <a:srgbClr val="F28A3B"/>
              </a:solidFill>
              <a:latin typeface="Segoe UI" panose="020B0502040204020203"/>
              <a:ea typeface="Segoe UI" panose="020B0502040204020203"/>
              <a:cs typeface="Segoe UI" panose="020B0502040204020203"/>
            </a:endParaRPr>
          </a:p>
        </p:txBody>
      </p:sp>
      <p:sp>
        <p:nvSpPr>
          <p:cNvPr id="10" name="step-2-label"/>
          <p:cNvSpPr>
            <a:spLocks noGrp="1"/>
          </p:cNvSpPr>
          <p:nvPr/>
        </p:nvSpPr>
        <p:spPr>
          <a:xfrm>
            <a:off x="2847827" y="2476550"/>
            <a:ext cx="1971572" cy="380980"/>
          </a:xfrm>
          <a:prstGeom prst="rect">
            <a:avLst/>
          </a:prstGeom>
          <a:noFill/>
          <a:ln w="0">
            <a:noFill/>
          </a:ln>
        </p:spPr>
        <p:txBody>
          <a:bodyPr>
            <a:normAutofit fontScale="90000"/>
          </a:bodyPr>
          <a:lstStyle/>
          <a:p>
            <a:pPr>
              <a:defRPr sz="1875" b="1">
                <a:solidFill>
                  <a:srgbClr val="F8FAFC"/>
                </a:solidFill>
                <a:latin typeface="Segoe UI" panose="020B0502040204020203"/>
                <a:ea typeface="Segoe UI" panose="020B0502040204020203"/>
                <a:cs typeface="Segoe UI" panose="020B0502040204020203"/>
              </a:defRPr>
            </a:pPr>
            <a:r>
              <a:rPr b="1">
                <a:solidFill>
                  <a:srgbClr val="F8FAFC"/>
                </a:solidFill>
                <a:latin typeface="Segoe UI" panose="020B0502040204020203"/>
                <a:ea typeface="Segoe UI" panose="020B0502040204020203"/>
                <a:cs typeface="Segoe UI" panose="020B0502040204020203"/>
              </a:rPr>
              <a:t>Results</a:t>
            </a:r>
            <a:endParaRPr b="1">
              <a:solidFill>
                <a:srgbClr val="F8FAFC"/>
              </a:solidFill>
              <a:latin typeface="Segoe UI" panose="020B0502040204020203"/>
              <a:ea typeface="Segoe UI" panose="020B0502040204020203"/>
              <a:cs typeface="Segoe UI" panose="020B0502040204020203"/>
            </a:endParaRPr>
          </a:p>
        </p:txBody>
      </p:sp>
      <p:sp>
        <p:nvSpPr>
          <p:cNvPr id="11" name="step-2-detail"/>
          <p:cNvSpPr>
            <a:spLocks noGrp="1"/>
          </p:cNvSpPr>
          <p:nvPr/>
        </p:nvSpPr>
        <p:spPr>
          <a:xfrm>
            <a:off x="2847827" y="2952775"/>
            <a:ext cx="1914425" cy="952450"/>
          </a:xfrm>
          <a:prstGeom prst="rect">
            <a:avLst/>
          </a:prstGeom>
          <a:noFill/>
          <a:ln w="0">
            <a:noFill/>
          </a:ln>
        </p:spPr>
        <p:txBody>
          <a:bodyPr>
            <a:normAutofit/>
          </a:bodyPr>
          <a:lstStyle/>
          <a:p>
            <a:pPr>
              <a:defRPr sz="1575" b="0">
                <a:solidFill>
                  <a:srgbClr val="AAB6C5"/>
                </a:solidFill>
                <a:latin typeface="Segoe UI" panose="020B0502040204020203"/>
                <a:ea typeface="Segoe UI" panose="020B0502040204020203"/>
                <a:cs typeface="Segoe UI" panose="020B0502040204020203"/>
              </a:defRPr>
            </a:pPr>
            <a:r>
              <a:rPr b="0">
                <a:solidFill>
                  <a:srgbClr val="AAB6C5"/>
                </a:solidFill>
                <a:latin typeface="Segoe UI" panose="020B0502040204020203"/>
                <a:ea typeface="Segoe UI" panose="020B0502040204020203"/>
                <a:cs typeface="Segoe UI" panose="020B0502040204020203"/>
              </a:rPr>
              <a:t>Wait for required lab and imaging results.</a:t>
            </a:r>
            <a:endParaRPr b="0">
              <a:solidFill>
                <a:srgbClr val="AAB6C5"/>
              </a:solidFill>
              <a:latin typeface="Segoe UI" panose="020B0502040204020203"/>
              <a:ea typeface="Segoe UI" panose="020B0502040204020203"/>
              <a:cs typeface="Segoe UI" panose="020B0502040204020203"/>
            </a:endParaRPr>
          </a:p>
        </p:txBody>
      </p:sp>
      <p:sp>
        <p:nvSpPr>
          <p:cNvPr id="12" name="step-divider-2"/>
          <p:cNvSpPr>
            <a:spLocks noGrp="1"/>
          </p:cNvSpPr>
          <p:nvPr/>
        </p:nvSpPr>
        <p:spPr>
          <a:xfrm>
            <a:off x="4857497" y="2000324"/>
            <a:ext cx="9525" cy="1923950"/>
          </a:xfrm>
          <a:prstGeom prst="rect">
            <a:avLst/>
          </a:prstGeom>
          <a:solidFill>
            <a:srgbClr val="344256"/>
          </a:solidFill>
          <a:ln w="0">
            <a:noFill/>
          </a:ln>
        </p:spPr>
      </p:sp>
      <p:sp>
        <p:nvSpPr>
          <p:cNvPr id="13" name="step-3-number"/>
          <p:cNvSpPr>
            <a:spLocks noGrp="1"/>
          </p:cNvSpPr>
          <p:nvPr/>
        </p:nvSpPr>
        <p:spPr>
          <a:xfrm>
            <a:off x="5009889" y="1981275"/>
            <a:ext cx="1866803" cy="419078"/>
          </a:xfrm>
          <a:prstGeom prst="rect">
            <a:avLst/>
          </a:prstGeom>
          <a:noFill/>
          <a:ln w="0">
            <a:noFill/>
          </a:ln>
        </p:spPr>
        <p:txBody>
          <a:bodyPr>
            <a:normAutofit fontScale="82473"/>
          </a:bodyPr>
          <a:lstStyle/>
          <a:p>
            <a:pPr>
              <a:defRPr sz="2325" b="1">
                <a:solidFill>
                  <a:srgbClr val="75B7FF"/>
                </a:solidFill>
                <a:latin typeface="Segoe UI" panose="020B0502040204020203"/>
                <a:ea typeface="Segoe UI" panose="020B0502040204020203"/>
                <a:cs typeface="Segoe UI" panose="020B0502040204020203"/>
              </a:defRPr>
            </a:pPr>
            <a:r>
              <a:rPr b="1">
                <a:solidFill>
                  <a:srgbClr val="75B7FF"/>
                </a:solidFill>
                <a:latin typeface="Segoe UI" panose="020B0502040204020203"/>
                <a:ea typeface="Segoe UI" panose="020B0502040204020203"/>
                <a:cs typeface="Segoe UI" panose="020B0502040204020203"/>
              </a:rPr>
              <a:t>03</a:t>
            </a:r>
            <a:endParaRPr b="1">
              <a:solidFill>
                <a:srgbClr val="75B7FF"/>
              </a:solidFill>
              <a:latin typeface="Segoe UI" panose="020B0502040204020203"/>
              <a:ea typeface="Segoe UI" panose="020B0502040204020203"/>
              <a:cs typeface="Segoe UI" panose="020B0502040204020203"/>
            </a:endParaRPr>
          </a:p>
        </p:txBody>
      </p:sp>
      <p:sp>
        <p:nvSpPr>
          <p:cNvPr id="14" name="step-3-label"/>
          <p:cNvSpPr>
            <a:spLocks noGrp="1"/>
          </p:cNvSpPr>
          <p:nvPr/>
        </p:nvSpPr>
        <p:spPr>
          <a:xfrm>
            <a:off x="5009889" y="2476550"/>
            <a:ext cx="1971572" cy="380980"/>
          </a:xfrm>
          <a:prstGeom prst="rect">
            <a:avLst/>
          </a:prstGeom>
          <a:noFill/>
          <a:ln w="0">
            <a:noFill/>
          </a:ln>
        </p:spPr>
        <p:txBody>
          <a:bodyPr>
            <a:normAutofit fontScale="90000"/>
          </a:bodyPr>
          <a:lstStyle/>
          <a:p>
            <a:pPr>
              <a:defRPr sz="1875" b="1">
                <a:solidFill>
                  <a:srgbClr val="F8FAFC"/>
                </a:solidFill>
                <a:latin typeface="Segoe UI" panose="020B0502040204020203"/>
                <a:ea typeface="Segoe UI" panose="020B0502040204020203"/>
                <a:cs typeface="Segoe UI" panose="020B0502040204020203"/>
              </a:defRPr>
            </a:pPr>
            <a:r>
              <a:rPr b="1">
                <a:solidFill>
                  <a:srgbClr val="F8FAFC"/>
                </a:solidFill>
                <a:latin typeface="Segoe UI" panose="020B0502040204020203"/>
                <a:ea typeface="Segoe UI" panose="020B0502040204020203"/>
                <a:cs typeface="Segoe UI" panose="020B0502040204020203"/>
              </a:rPr>
              <a:t>Clinical review</a:t>
            </a:r>
            <a:endParaRPr b="1">
              <a:solidFill>
                <a:srgbClr val="F8FAFC"/>
              </a:solidFill>
              <a:latin typeface="Segoe UI" panose="020B0502040204020203"/>
              <a:ea typeface="Segoe UI" panose="020B0502040204020203"/>
              <a:cs typeface="Segoe UI" panose="020B0502040204020203"/>
            </a:endParaRPr>
          </a:p>
        </p:txBody>
      </p:sp>
      <p:sp>
        <p:nvSpPr>
          <p:cNvPr id="15" name="step-3-detail"/>
          <p:cNvSpPr>
            <a:spLocks noGrp="1"/>
          </p:cNvSpPr>
          <p:nvPr/>
        </p:nvSpPr>
        <p:spPr>
          <a:xfrm>
            <a:off x="5009889" y="2952775"/>
            <a:ext cx="1914425" cy="952450"/>
          </a:xfrm>
          <a:prstGeom prst="rect">
            <a:avLst/>
          </a:prstGeom>
          <a:noFill/>
          <a:ln w="0">
            <a:noFill/>
          </a:ln>
        </p:spPr>
        <p:txBody>
          <a:bodyPr>
            <a:normAutofit/>
          </a:bodyPr>
          <a:lstStyle/>
          <a:p>
            <a:pPr>
              <a:defRPr sz="1575" b="0">
                <a:solidFill>
                  <a:srgbClr val="AAB6C5"/>
                </a:solidFill>
                <a:latin typeface="Segoe UI" panose="020B0502040204020203"/>
                <a:ea typeface="Segoe UI" panose="020B0502040204020203"/>
                <a:cs typeface="Segoe UI" panose="020B0502040204020203"/>
              </a:defRPr>
            </a:pPr>
            <a:r>
              <a:rPr b="0">
                <a:solidFill>
                  <a:srgbClr val="AAB6C5"/>
                </a:solidFill>
                <a:latin typeface="Segoe UI" panose="020B0502040204020203"/>
                <a:ea typeface="Segoe UI" panose="020B0502040204020203"/>
                <a:cs typeface="Segoe UI" panose="020B0502040204020203"/>
              </a:rPr>
              <a:t>Clinician reviews findings and patient condition.</a:t>
            </a:r>
            <a:endParaRPr b="0">
              <a:solidFill>
                <a:srgbClr val="AAB6C5"/>
              </a:solidFill>
              <a:latin typeface="Segoe UI" panose="020B0502040204020203"/>
              <a:ea typeface="Segoe UI" panose="020B0502040204020203"/>
              <a:cs typeface="Segoe UI" panose="020B0502040204020203"/>
            </a:endParaRPr>
          </a:p>
        </p:txBody>
      </p:sp>
      <p:sp>
        <p:nvSpPr>
          <p:cNvPr id="16" name="step-divider-3"/>
          <p:cNvSpPr>
            <a:spLocks noGrp="1"/>
          </p:cNvSpPr>
          <p:nvPr/>
        </p:nvSpPr>
        <p:spPr>
          <a:xfrm>
            <a:off x="7019559" y="2000324"/>
            <a:ext cx="9525" cy="1923950"/>
          </a:xfrm>
          <a:prstGeom prst="rect">
            <a:avLst/>
          </a:prstGeom>
          <a:solidFill>
            <a:srgbClr val="344256"/>
          </a:solidFill>
          <a:ln w="0">
            <a:noFill/>
          </a:ln>
        </p:spPr>
      </p:sp>
      <p:sp>
        <p:nvSpPr>
          <p:cNvPr id="17" name="step-4-number"/>
          <p:cNvSpPr>
            <a:spLocks noGrp="1"/>
          </p:cNvSpPr>
          <p:nvPr/>
        </p:nvSpPr>
        <p:spPr>
          <a:xfrm>
            <a:off x="7171951" y="1981275"/>
            <a:ext cx="1866803" cy="419078"/>
          </a:xfrm>
          <a:prstGeom prst="rect">
            <a:avLst/>
          </a:prstGeom>
          <a:noFill/>
          <a:ln w="0">
            <a:noFill/>
          </a:ln>
        </p:spPr>
        <p:txBody>
          <a:bodyPr>
            <a:normAutofit fontScale="82473"/>
          </a:bodyPr>
          <a:lstStyle/>
          <a:p>
            <a:pPr>
              <a:defRPr sz="2325"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04</a:t>
            </a:r>
            <a:endParaRPr b="1">
              <a:solidFill>
                <a:srgbClr val="F28A3B"/>
              </a:solidFill>
              <a:latin typeface="Segoe UI" panose="020B0502040204020203"/>
              <a:ea typeface="Segoe UI" panose="020B0502040204020203"/>
              <a:cs typeface="Segoe UI" panose="020B0502040204020203"/>
            </a:endParaRPr>
          </a:p>
        </p:txBody>
      </p:sp>
      <p:sp>
        <p:nvSpPr>
          <p:cNvPr id="18" name="step-4-label"/>
          <p:cNvSpPr>
            <a:spLocks noGrp="1"/>
          </p:cNvSpPr>
          <p:nvPr/>
        </p:nvSpPr>
        <p:spPr>
          <a:xfrm>
            <a:off x="7171951" y="2476550"/>
            <a:ext cx="1971572" cy="380980"/>
          </a:xfrm>
          <a:prstGeom prst="rect">
            <a:avLst/>
          </a:prstGeom>
          <a:noFill/>
          <a:ln w="0">
            <a:noFill/>
          </a:ln>
        </p:spPr>
        <p:txBody>
          <a:bodyPr>
            <a:normAutofit fontScale="90000"/>
          </a:bodyPr>
          <a:lstStyle/>
          <a:p>
            <a:pPr>
              <a:defRPr sz="1875" b="1">
                <a:solidFill>
                  <a:srgbClr val="F8FAFC"/>
                </a:solidFill>
                <a:latin typeface="Segoe UI" panose="020B0502040204020203"/>
                <a:ea typeface="Segoe UI" panose="020B0502040204020203"/>
                <a:cs typeface="Segoe UI" panose="020B0502040204020203"/>
              </a:defRPr>
            </a:pPr>
            <a:r>
              <a:rPr b="1">
                <a:solidFill>
                  <a:srgbClr val="F8FAFC"/>
                </a:solidFill>
                <a:latin typeface="Segoe UI" panose="020B0502040204020203"/>
                <a:ea typeface="Segoe UI" panose="020B0502040204020203"/>
                <a:cs typeface="Segoe UI" panose="020B0502040204020203"/>
              </a:rPr>
              <a:t>Decision</a:t>
            </a:r>
            <a:endParaRPr b="1">
              <a:solidFill>
                <a:srgbClr val="F8FAFC"/>
              </a:solidFill>
              <a:latin typeface="Segoe UI" panose="020B0502040204020203"/>
              <a:ea typeface="Segoe UI" panose="020B0502040204020203"/>
              <a:cs typeface="Segoe UI" panose="020B0502040204020203"/>
            </a:endParaRPr>
          </a:p>
        </p:txBody>
      </p:sp>
      <p:sp>
        <p:nvSpPr>
          <p:cNvPr id="19" name="step-4-detail"/>
          <p:cNvSpPr>
            <a:spLocks noGrp="1"/>
          </p:cNvSpPr>
          <p:nvPr/>
        </p:nvSpPr>
        <p:spPr>
          <a:xfrm>
            <a:off x="7171951" y="2952775"/>
            <a:ext cx="1914425" cy="952450"/>
          </a:xfrm>
          <a:prstGeom prst="rect">
            <a:avLst/>
          </a:prstGeom>
          <a:noFill/>
          <a:ln w="0">
            <a:noFill/>
          </a:ln>
        </p:spPr>
        <p:txBody>
          <a:bodyPr>
            <a:normAutofit/>
          </a:bodyPr>
          <a:lstStyle/>
          <a:p>
            <a:pPr>
              <a:defRPr sz="1575" b="0">
                <a:solidFill>
                  <a:srgbClr val="AAB6C5"/>
                </a:solidFill>
                <a:latin typeface="Segoe UI" panose="020B0502040204020203"/>
                <a:ea typeface="Segoe UI" panose="020B0502040204020203"/>
                <a:cs typeface="Segoe UI" panose="020B0502040204020203"/>
              </a:defRPr>
            </a:pPr>
            <a:r>
              <a:rPr b="0">
                <a:solidFill>
                  <a:srgbClr val="AAB6C5"/>
                </a:solidFill>
                <a:latin typeface="Segoe UI" panose="020B0502040204020203"/>
                <a:ea typeface="Segoe UI" panose="020B0502040204020203"/>
                <a:cs typeface="Segoe UI" panose="020B0502040204020203"/>
              </a:rPr>
              <a:t>Continue, delay or change treatment.</a:t>
            </a:r>
            <a:endParaRPr b="0">
              <a:solidFill>
                <a:srgbClr val="AAB6C5"/>
              </a:solidFill>
              <a:latin typeface="Segoe UI" panose="020B0502040204020203"/>
              <a:ea typeface="Segoe UI" panose="020B0502040204020203"/>
              <a:cs typeface="Segoe UI" panose="020B0502040204020203"/>
            </a:endParaRPr>
          </a:p>
        </p:txBody>
      </p:sp>
      <p:sp>
        <p:nvSpPr>
          <p:cNvPr id="20" name="step-divider-4"/>
          <p:cNvSpPr>
            <a:spLocks noGrp="1"/>
          </p:cNvSpPr>
          <p:nvPr/>
        </p:nvSpPr>
        <p:spPr>
          <a:xfrm>
            <a:off x="9181622" y="2000324"/>
            <a:ext cx="9525" cy="1923950"/>
          </a:xfrm>
          <a:prstGeom prst="rect">
            <a:avLst/>
          </a:prstGeom>
          <a:solidFill>
            <a:srgbClr val="344256"/>
          </a:solidFill>
          <a:ln w="0">
            <a:noFill/>
          </a:ln>
        </p:spPr>
      </p:sp>
      <p:sp>
        <p:nvSpPr>
          <p:cNvPr id="21" name="step-5-number"/>
          <p:cNvSpPr>
            <a:spLocks noGrp="1"/>
          </p:cNvSpPr>
          <p:nvPr/>
        </p:nvSpPr>
        <p:spPr>
          <a:xfrm>
            <a:off x="9334014" y="1981275"/>
            <a:ext cx="1866803" cy="419078"/>
          </a:xfrm>
          <a:prstGeom prst="rect">
            <a:avLst/>
          </a:prstGeom>
          <a:noFill/>
          <a:ln w="0">
            <a:noFill/>
          </a:ln>
        </p:spPr>
        <p:txBody>
          <a:bodyPr>
            <a:normAutofit fontScale="82473"/>
          </a:bodyPr>
          <a:lstStyle/>
          <a:p>
            <a:pPr>
              <a:defRPr sz="2325"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05</a:t>
            </a:r>
            <a:endParaRPr b="1">
              <a:solidFill>
                <a:srgbClr val="F28A3B"/>
              </a:solidFill>
              <a:latin typeface="Segoe UI" panose="020B0502040204020203"/>
              <a:ea typeface="Segoe UI" panose="020B0502040204020203"/>
              <a:cs typeface="Segoe UI" panose="020B0502040204020203"/>
            </a:endParaRPr>
          </a:p>
        </p:txBody>
      </p:sp>
      <p:sp>
        <p:nvSpPr>
          <p:cNvPr id="22" name="step-5-label"/>
          <p:cNvSpPr>
            <a:spLocks noGrp="1"/>
          </p:cNvSpPr>
          <p:nvPr/>
        </p:nvSpPr>
        <p:spPr>
          <a:xfrm>
            <a:off x="9334014" y="2476550"/>
            <a:ext cx="1971572" cy="380980"/>
          </a:xfrm>
          <a:prstGeom prst="rect">
            <a:avLst/>
          </a:prstGeom>
          <a:noFill/>
          <a:ln w="0">
            <a:noFill/>
          </a:ln>
        </p:spPr>
        <p:txBody>
          <a:bodyPr>
            <a:normAutofit fontScale="90000"/>
          </a:bodyPr>
          <a:lstStyle/>
          <a:p>
            <a:pPr>
              <a:defRPr sz="1875" b="1">
                <a:solidFill>
                  <a:srgbClr val="F8FAFC"/>
                </a:solidFill>
                <a:latin typeface="Segoe UI" panose="020B0502040204020203"/>
                <a:ea typeface="Segoe UI" panose="020B0502040204020203"/>
                <a:cs typeface="Segoe UI" panose="020B0502040204020203"/>
              </a:defRPr>
            </a:pPr>
            <a:r>
              <a:rPr b="1">
                <a:solidFill>
                  <a:srgbClr val="F8FAFC"/>
                </a:solidFill>
                <a:latin typeface="Segoe UI" panose="020B0502040204020203"/>
                <a:ea typeface="Segoe UI" panose="020B0502040204020203"/>
                <a:cs typeface="Segoe UI" panose="020B0502040204020203"/>
              </a:rPr>
              <a:t>Follow-through</a:t>
            </a:r>
            <a:endParaRPr b="1">
              <a:solidFill>
                <a:srgbClr val="F8FAFC"/>
              </a:solidFill>
              <a:latin typeface="Segoe UI" panose="020B0502040204020203"/>
              <a:ea typeface="Segoe UI" panose="020B0502040204020203"/>
              <a:cs typeface="Segoe UI" panose="020B0502040204020203"/>
            </a:endParaRPr>
          </a:p>
        </p:txBody>
      </p:sp>
      <p:sp>
        <p:nvSpPr>
          <p:cNvPr id="23" name="step-5-detail"/>
          <p:cNvSpPr>
            <a:spLocks noGrp="1"/>
          </p:cNvSpPr>
          <p:nvPr/>
        </p:nvSpPr>
        <p:spPr>
          <a:xfrm>
            <a:off x="9334014" y="2952775"/>
            <a:ext cx="1914425" cy="952450"/>
          </a:xfrm>
          <a:prstGeom prst="rect">
            <a:avLst/>
          </a:prstGeom>
          <a:noFill/>
          <a:ln w="0">
            <a:noFill/>
          </a:ln>
        </p:spPr>
        <p:txBody>
          <a:bodyPr>
            <a:normAutofit fontScale="89682" lnSpcReduction="10000"/>
          </a:bodyPr>
          <a:lstStyle/>
          <a:p>
            <a:pPr>
              <a:defRPr sz="1575" b="0">
                <a:solidFill>
                  <a:srgbClr val="AAB6C5"/>
                </a:solidFill>
                <a:latin typeface="Segoe UI" panose="020B0502040204020203"/>
                <a:ea typeface="Segoe UI" panose="020B0502040204020203"/>
                <a:cs typeface="Segoe UI" panose="020B0502040204020203"/>
              </a:defRPr>
            </a:pPr>
            <a:r>
              <a:rPr b="0">
                <a:solidFill>
                  <a:srgbClr val="AAB6C5"/>
                </a:solidFill>
                <a:latin typeface="Segoe UI" panose="020B0502040204020203"/>
                <a:ea typeface="Segoe UI" panose="020B0502040204020203"/>
                <a:cs typeface="Segoe UI" panose="020B0502040204020203"/>
              </a:rPr>
              <a:t>Schedule, review funding if needed, then notify the patient.</a:t>
            </a:r>
            <a:endParaRPr b="0">
              <a:solidFill>
                <a:srgbClr val="AAB6C5"/>
              </a:solidFill>
              <a:latin typeface="Segoe UI" panose="020B0502040204020203"/>
              <a:ea typeface="Segoe UI" panose="020B0502040204020203"/>
              <a:cs typeface="Segoe UI" panose="020B0502040204020203"/>
            </a:endParaRPr>
          </a:p>
        </p:txBody>
      </p:sp>
      <p:sp>
        <p:nvSpPr>
          <p:cNvPr id="24" name="exceptions-rule"/>
          <p:cNvSpPr>
            <a:spLocks noGrp="1"/>
          </p:cNvSpPr>
          <p:nvPr/>
        </p:nvSpPr>
        <p:spPr>
          <a:xfrm>
            <a:off x="685764" y="4095715"/>
            <a:ext cx="10819836" cy="9525"/>
          </a:xfrm>
          <a:prstGeom prst="rect">
            <a:avLst/>
          </a:prstGeom>
          <a:solidFill>
            <a:srgbClr val="344256"/>
          </a:solidFill>
          <a:ln w="0">
            <a:noFill/>
          </a:ln>
        </p:spPr>
      </p:sp>
      <p:sp>
        <p:nvSpPr>
          <p:cNvPr id="25" name="exceptions-heading"/>
          <p:cNvSpPr>
            <a:spLocks noGrp="1"/>
          </p:cNvSpPr>
          <p:nvPr/>
        </p:nvSpPr>
        <p:spPr>
          <a:xfrm>
            <a:off x="685764" y="4267156"/>
            <a:ext cx="3809802" cy="266686"/>
          </a:xfrm>
          <a:prstGeom prst="rect">
            <a:avLst/>
          </a:prstGeom>
          <a:noFill/>
          <a:ln w="0">
            <a:noFill/>
          </a:ln>
        </p:spPr>
        <p:txBody>
          <a:bodyPr>
            <a:normAutofit fontScale="70702"/>
          </a:bodyPr>
          <a:lstStyle/>
          <a:p>
            <a:pPr>
              <a:defRPr sz="1425"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EXCEPTION CONTROLS</a:t>
            </a:r>
            <a:endParaRPr b="1">
              <a:solidFill>
                <a:srgbClr val="F28A3B"/>
              </a:solidFill>
              <a:latin typeface="Segoe UI" panose="020B0502040204020203"/>
              <a:ea typeface="Segoe UI" panose="020B0502040204020203"/>
              <a:cs typeface="Segoe UI" panose="020B0502040204020203"/>
            </a:endParaRPr>
          </a:p>
        </p:txBody>
      </p:sp>
      <p:sp>
        <p:nvSpPr>
          <p:cNvPr id="26" name="exception-1-label"/>
          <p:cNvSpPr>
            <a:spLocks noGrp="1"/>
          </p:cNvSpPr>
          <p:nvPr/>
        </p:nvSpPr>
        <p:spPr>
          <a:xfrm>
            <a:off x="685764" y="4648137"/>
            <a:ext cx="2095391" cy="295260"/>
          </a:xfrm>
          <a:prstGeom prst="rect">
            <a:avLst/>
          </a:prstGeom>
          <a:noFill/>
          <a:ln w="0">
            <a:noFill/>
          </a:ln>
        </p:spPr>
        <p:txBody>
          <a:bodyPr>
            <a:normAutofit fontScale="93860" lnSpcReduction="20000"/>
          </a:bodyPr>
          <a:lstStyle/>
          <a:p>
            <a:pPr>
              <a:defRPr sz="1425"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MISSING RESULTS</a:t>
            </a:r>
            <a:endParaRPr b="1">
              <a:solidFill>
                <a:srgbClr val="F28A3B"/>
              </a:solidFill>
              <a:latin typeface="Segoe UI" panose="020B0502040204020203"/>
              <a:ea typeface="Segoe UI" panose="020B0502040204020203"/>
              <a:cs typeface="Segoe UI" panose="020B0502040204020203"/>
            </a:endParaRPr>
          </a:p>
        </p:txBody>
      </p:sp>
      <p:sp>
        <p:nvSpPr>
          <p:cNvPr id="27" name="exception-1-detail"/>
          <p:cNvSpPr>
            <a:spLocks noGrp="1"/>
          </p:cNvSpPr>
          <p:nvPr/>
        </p:nvSpPr>
        <p:spPr>
          <a:xfrm>
            <a:off x="2857351" y="4648137"/>
            <a:ext cx="8572054" cy="295260"/>
          </a:xfrm>
          <a:prstGeom prst="rect">
            <a:avLst/>
          </a:prstGeom>
          <a:noFill/>
          <a:ln w="0">
            <a:noFill/>
          </a:ln>
        </p:spPr>
        <p:txBody>
          <a:bodyPr>
            <a:normAutofit fontScale="89167" lnSpcReduction="20000"/>
          </a:bodyPr>
          <a:lstStyle/>
          <a:p>
            <a:pPr>
              <a:defRPr sz="1500" b="0">
                <a:solidFill>
                  <a:srgbClr val="F8FAFC"/>
                </a:solidFill>
                <a:latin typeface="Segoe UI" panose="020B0502040204020203"/>
                <a:ea typeface="Segoe UI" panose="020B0502040204020203"/>
                <a:cs typeface="Segoe UI" panose="020B0502040204020203"/>
              </a:defRPr>
            </a:pPr>
            <a:r>
              <a:rPr b="0">
                <a:solidFill>
                  <a:srgbClr val="F8FAFC"/>
                </a:solidFill>
                <a:latin typeface="Segoe UI" panose="020B0502040204020203"/>
                <a:ea typeface="Segoe UI" panose="020B0502040204020203"/>
                <a:cs typeface="Segoe UI" panose="020B0502040204020203"/>
              </a:rPr>
              <a:t>Keep the case pending and retry. Clinical review waits for all required results.</a:t>
            </a:r>
            <a:endParaRPr b="0">
              <a:solidFill>
                <a:srgbClr val="F8FAFC"/>
              </a:solidFill>
              <a:latin typeface="Segoe UI" panose="020B0502040204020203"/>
              <a:ea typeface="Segoe UI" panose="020B0502040204020203"/>
              <a:cs typeface="Segoe UI" panose="020B0502040204020203"/>
            </a:endParaRPr>
          </a:p>
        </p:txBody>
      </p:sp>
      <p:sp>
        <p:nvSpPr>
          <p:cNvPr id="28" name="exception-2-label"/>
          <p:cNvSpPr>
            <a:spLocks noGrp="1"/>
          </p:cNvSpPr>
          <p:nvPr/>
        </p:nvSpPr>
        <p:spPr>
          <a:xfrm>
            <a:off x="685764" y="5057690"/>
            <a:ext cx="2095391" cy="295260"/>
          </a:xfrm>
          <a:prstGeom prst="rect">
            <a:avLst/>
          </a:prstGeom>
          <a:noFill/>
          <a:ln w="0">
            <a:noFill/>
          </a:ln>
        </p:spPr>
        <p:txBody>
          <a:bodyPr>
            <a:normAutofit fontScale="93860" lnSpcReduction="20000"/>
          </a:bodyPr>
          <a:lstStyle/>
          <a:p>
            <a:pPr>
              <a:defRPr sz="1425" b="1">
                <a:solidFill>
                  <a:srgbClr val="75B7FF"/>
                </a:solidFill>
                <a:latin typeface="Segoe UI" panose="020B0502040204020203"/>
                <a:ea typeface="Segoe UI" panose="020B0502040204020203"/>
                <a:cs typeface="Segoe UI" panose="020B0502040204020203"/>
              </a:defRPr>
            </a:pPr>
            <a:r>
              <a:rPr b="1">
                <a:solidFill>
                  <a:srgbClr val="75B7FF"/>
                </a:solidFill>
                <a:latin typeface="Segoe UI" panose="020B0502040204020203"/>
                <a:ea typeface="Segoe UI" panose="020B0502040204020203"/>
                <a:cs typeface="Segoe UI" panose="020B0502040204020203"/>
              </a:rPr>
              <a:t>NO FORMAL REQUEST</a:t>
            </a:r>
            <a:endParaRPr b="1">
              <a:solidFill>
                <a:srgbClr val="75B7FF"/>
              </a:solidFill>
              <a:latin typeface="Segoe UI" panose="020B0502040204020203"/>
              <a:ea typeface="Segoe UI" panose="020B0502040204020203"/>
              <a:cs typeface="Segoe UI" panose="020B0502040204020203"/>
            </a:endParaRPr>
          </a:p>
        </p:txBody>
      </p:sp>
      <p:sp>
        <p:nvSpPr>
          <p:cNvPr id="29" name="exception-2-detail"/>
          <p:cNvSpPr>
            <a:spLocks noGrp="1"/>
          </p:cNvSpPr>
          <p:nvPr/>
        </p:nvSpPr>
        <p:spPr>
          <a:xfrm>
            <a:off x="2857351" y="5057690"/>
            <a:ext cx="8572054" cy="295260"/>
          </a:xfrm>
          <a:prstGeom prst="rect">
            <a:avLst/>
          </a:prstGeom>
          <a:noFill/>
          <a:ln w="0">
            <a:noFill/>
          </a:ln>
        </p:spPr>
        <p:txBody>
          <a:bodyPr>
            <a:normAutofit fontScale="89167" lnSpcReduction="20000"/>
          </a:bodyPr>
          <a:lstStyle/>
          <a:p>
            <a:pPr>
              <a:defRPr sz="1500" b="0">
                <a:solidFill>
                  <a:srgbClr val="F8FAFC"/>
                </a:solidFill>
                <a:latin typeface="Segoe UI" panose="020B0502040204020203"/>
                <a:ea typeface="Segoe UI" panose="020B0502040204020203"/>
                <a:cs typeface="Segoe UI" panose="020B0502040204020203"/>
              </a:defRPr>
            </a:pPr>
            <a:r>
              <a:rPr b="0">
                <a:solidFill>
                  <a:srgbClr val="F8FAFC"/>
                </a:solidFill>
                <a:latin typeface="Segoe UI" panose="020B0502040204020203"/>
                <a:ea typeface="Segoe UI" panose="020B0502040204020203"/>
                <a:cs typeface="Segoe UI" panose="020B0502040204020203"/>
              </a:rPr>
              <a:t>Reject the treatment change and leave the schedule unchanged.</a:t>
            </a:r>
            <a:endParaRPr b="0">
              <a:solidFill>
                <a:srgbClr val="F8FAFC"/>
              </a:solidFill>
              <a:latin typeface="Segoe UI" panose="020B0502040204020203"/>
              <a:ea typeface="Segoe UI" panose="020B0502040204020203"/>
              <a:cs typeface="Segoe UI" panose="020B0502040204020203"/>
            </a:endParaRPr>
          </a:p>
        </p:txBody>
      </p:sp>
      <p:sp>
        <p:nvSpPr>
          <p:cNvPr id="30" name="exception-3-label"/>
          <p:cNvSpPr>
            <a:spLocks noGrp="1"/>
          </p:cNvSpPr>
          <p:nvPr/>
        </p:nvSpPr>
        <p:spPr>
          <a:xfrm>
            <a:off x="685764" y="5467244"/>
            <a:ext cx="2095391" cy="295260"/>
          </a:xfrm>
          <a:prstGeom prst="rect">
            <a:avLst/>
          </a:prstGeom>
          <a:noFill/>
          <a:ln w="0">
            <a:noFill/>
          </a:ln>
        </p:spPr>
        <p:txBody>
          <a:bodyPr>
            <a:normAutofit fontScale="93860" lnSpcReduction="20000"/>
          </a:bodyPr>
          <a:lstStyle/>
          <a:p>
            <a:pPr>
              <a:defRPr sz="1425"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URGENT DELAY</a:t>
            </a:r>
            <a:endParaRPr b="1">
              <a:solidFill>
                <a:srgbClr val="F28A3B"/>
              </a:solidFill>
              <a:latin typeface="Segoe UI" panose="020B0502040204020203"/>
              <a:ea typeface="Segoe UI" panose="020B0502040204020203"/>
              <a:cs typeface="Segoe UI" panose="020B0502040204020203"/>
            </a:endParaRPr>
          </a:p>
        </p:txBody>
      </p:sp>
      <p:sp>
        <p:nvSpPr>
          <p:cNvPr id="31" name="exception-3-detail"/>
          <p:cNvSpPr>
            <a:spLocks noGrp="1"/>
          </p:cNvSpPr>
          <p:nvPr/>
        </p:nvSpPr>
        <p:spPr>
          <a:xfrm>
            <a:off x="2857351" y="5467244"/>
            <a:ext cx="8572054" cy="295260"/>
          </a:xfrm>
          <a:prstGeom prst="rect">
            <a:avLst/>
          </a:prstGeom>
          <a:noFill/>
          <a:ln w="0">
            <a:noFill/>
          </a:ln>
        </p:spPr>
        <p:txBody>
          <a:bodyPr>
            <a:normAutofit fontScale="89167" lnSpcReduction="20000"/>
          </a:bodyPr>
          <a:lstStyle/>
          <a:p>
            <a:pPr>
              <a:defRPr sz="1500" b="0">
                <a:solidFill>
                  <a:srgbClr val="F8FAFC"/>
                </a:solidFill>
                <a:latin typeface="Segoe UI" panose="020B0502040204020203"/>
                <a:ea typeface="Segoe UI" panose="020B0502040204020203"/>
                <a:cs typeface="Segoe UI" panose="020B0502040204020203"/>
              </a:defRPr>
            </a:pPr>
            <a:r>
              <a:rPr b="0">
                <a:solidFill>
                  <a:srgbClr val="F8FAFC"/>
                </a:solidFill>
                <a:latin typeface="Segoe UI" panose="020B0502040204020203"/>
                <a:ea typeface="Segoe UI" panose="020B0502040204020203"/>
                <a:cs typeface="Segoe UI" panose="020B0502040204020203"/>
              </a:rPr>
              <a:t>Maintain the safety hold until follow-up authorisation is complete.</a:t>
            </a:r>
            <a:endParaRPr b="0">
              <a:solidFill>
                <a:srgbClr val="F8FAFC"/>
              </a:solidFill>
              <a:latin typeface="Segoe UI" panose="020B0502040204020203"/>
              <a:ea typeface="Segoe UI" panose="020B0502040204020203"/>
              <a:cs typeface="Segoe UI" panose="020B0502040204020203"/>
            </a:endParaRPr>
          </a:p>
        </p:txBody>
      </p:sp>
      <p:sp>
        <p:nvSpPr>
          <p:cNvPr id="32" name="human-decision-note"/>
          <p:cNvSpPr>
            <a:spLocks noGrp="1"/>
          </p:cNvSpPr>
          <p:nvPr/>
        </p:nvSpPr>
        <p:spPr>
          <a:xfrm>
            <a:off x="685764" y="6038714"/>
            <a:ext cx="6190928" cy="285735"/>
          </a:xfrm>
          <a:prstGeom prst="rect">
            <a:avLst/>
          </a:prstGeom>
          <a:noFill/>
          <a:ln w="0">
            <a:noFill/>
          </a:ln>
        </p:spPr>
        <p:txBody>
          <a:bodyPr>
            <a:normAutofit fontScale="79474"/>
          </a:bodyPr>
          <a:lstStyle/>
          <a:p>
            <a:pPr>
              <a:defRPr sz="1425" b="0">
                <a:solidFill>
                  <a:srgbClr val="AAB6C5"/>
                </a:solidFill>
                <a:latin typeface="Segoe UI" panose="020B0502040204020203"/>
                <a:ea typeface="Segoe UI" panose="020B0502040204020203"/>
                <a:cs typeface="Segoe UI" panose="020B0502040204020203"/>
              </a:defRPr>
            </a:pPr>
            <a:r>
              <a:rPr b="0">
                <a:solidFill>
                  <a:srgbClr val="AAB6C5"/>
                </a:solidFill>
                <a:latin typeface="Segoe UI" panose="020B0502040204020203"/>
                <a:ea typeface="Segoe UI" panose="020B0502040204020203"/>
                <a:cs typeface="Segoe UI" panose="020B0502040204020203"/>
              </a:rPr>
              <a:t>Clinical decisions remain with human tasks.</a:t>
            </a:r>
            <a:endParaRPr b="0">
              <a:solidFill>
                <a:srgbClr val="AAB6C5"/>
              </a:solidFill>
              <a:latin typeface="Segoe UI" panose="020B0502040204020203"/>
              <a:ea typeface="Segoe UI" panose="020B0502040204020203"/>
              <a:cs typeface="Segoe UI" panose="020B050204020402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3" name="validation-title"/>
          <p:cNvSpPr>
            <a:spLocks noGrp="1"/>
          </p:cNvSpPr>
          <p:nvPr/>
        </p:nvSpPr>
        <p:spPr>
          <a:xfrm>
            <a:off x="685764" y="457355"/>
            <a:ext cx="10819836" cy="609568"/>
          </a:xfrm>
          <a:prstGeom prst="rect">
            <a:avLst/>
          </a:prstGeom>
          <a:noFill/>
          <a:ln w="0">
            <a:noFill/>
          </a:ln>
        </p:spPr>
        <p:txBody>
          <a:bodyPr>
            <a:normAutofit fontScale="80667"/>
          </a:bodyPr>
          <a:lstStyle/>
          <a:p>
            <a:pPr>
              <a:defRPr sz="3750" b="1">
                <a:solidFill>
                  <a:srgbClr val="18273B"/>
                </a:solidFill>
                <a:latin typeface="Segoe UI" panose="020B0502040204020203"/>
                <a:ea typeface="Segoe UI" panose="020B0502040204020203"/>
                <a:cs typeface="Segoe UI" panose="020B0502040204020203"/>
              </a:defRPr>
            </a:pPr>
            <a:r>
              <a:rPr b="1">
                <a:solidFill>
                  <a:srgbClr val="18273B"/>
                </a:solidFill>
                <a:latin typeface="Segoe UI" panose="020B0502040204020203"/>
                <a:ea typeface="Segoe UI" panose="020B0502040204020203"/>
                <a:cs typeface="Segoe UI" panose="020B0502040204020203"/>
              </a:rPr>
              <a:t>Local validation evidence</a:t>
            </a:r>
            <a:endParaRPr b="1">
              <a:solidFill>
                <a:srgbClr val="18273B"/>
              </a:solidFill>
              <a:latin typeface="Segoe UI" panose="020B0502040204020203"/>
              <a:ea typeface="Segoe UI" panose="020B0502040204020203"/>
              <a:cs typeface="Segoe UI" panose="020B0502040204020203"/>
            </a:endParaRPr>
          </a:p>
        </p:txBody>
      </p:sp>
      <p:sp>
        <p:nvSpPr>
          <p:cNvPr id="2" name="validation-subtitle"/>
          <p:cNvSpPr>
            <a:spLocks noGrp="1"/>
          </p:cNvSpPr>
          <p:nvPr/>
        </p:nvSpPr>
        <p:spPr>
          <a:xfrm>
            <a:off x="704813" y="1133595"/>
            <a:ext cx="10476954" cy="352407"/>
          </a:xfrm>
          <a:prstGeom prst="rect">
            <a:avLst/>
          </a:prstGeom>
          <a:noFill/>
          <a:ln w="0">
            <a:noFill/>
          </a:ln>
        </p:spPr>
        <p:txBody>
          <a:bodyPr>
            <a:normAutofit fontScale="89275"/>
          </a:bodyPr>
          <a:lstStyle/>
          <a:p>
            <a:pPr>
              <a:defRPr sz="1725" b="0">
                <a:solidFill>
                  <a:srgbClr val="657181"/>
                </a:solidFill>
                <a:latin typeface="Segoe UI" panose="020B0502040204020203"/>
                <a:ea typeface="Segoe UI" panose="020B0502040204020203"/>
                <a:cs typeface="Segoe UI" panose="020B0502040204020203"/>
              </a:defRPr>
            </a:pPr>
            <a:r>
              <a:rPr b="0">
                <a:solidFill>
                  <a:srgbClr val="657181"/>
                </a:solidFill>
                <a:latin typeface="Segoe UI" panose="020B0502040204020203"/>
                <a:ea typeface="Segoe UI" panose="020B0502040204020203"/>
                <a:cs typeface="Segoe UI" panose="020B0502040204020203"/>
              </a:rPr>
              <a:t>Model checks and two local Tasklist end-to-end scenarios</a:t>
            </a:r>
            <a:endParaRPr b="0">
              <a:solidFill>
                <a:srgbClr val="657181"/>
              </a:solidFill>
              <a:latin typeface="Segoe UI" panose="020B0502040204020203"/>
              <a:ea typeface="Segoe UI" panose="020B0502040204020203"/>
              <a:cs typeface="Segoe UI" panose="020B0502040204020203"/>
            </a:endParaRPr>
          </a:p>
        </p:txBody>
      </p:sp>
      <p:sp>
        <p:nvSpPr>
          <p:cNvPr id="3" name="validation-title-rule"/>
          <p:cNvSpPr>
            <a:spLocks noGrp="1"/>
          </p:cNvSpPr>
          <p:nvPr/>
        </p:nvSpPr>
        <p:spPr>
          <a:xfrm>
            <a:off x="685764" y="1686016"/>
            <a:ext cx="10819836" cy="19049"/>
          </a:xfrm>
          <a:prstGeom prst="rect">
            <a:avLst/>
          </a:prstGeom>
          <a:solidFill>
            <a:srgbClr val="D6D0C4"/>
          </a:solidFill>
          <a:ln w="0">
            <a:noFill/>
          </a:ln>
        </p:spPr>
      </p:sp>
      <p:sp>
        <p:nvSpPr>
          <p:cNvPr id="4" name="metric-48"/>
          <p:cNvSpPr>
            <a:spLocks noGrp="1"/>
          </p:cNvSpPr>
          <p:nvPr/>
        </p:nvSpPr>
        <p:spPr>
          <a:xfrm>
            <a:off x="685764" y="1914604"/>
            <a:ext cx="2628763" cy="1104842"/>
          </a:xfrm>
          <a:prstGeom prst="rect">
            <a:avLst/>
          </a:prstGeom>
          <a:noFill/>
          <a:ln w="0">
            <a:noFill/>
          </a:ln>
        </p:spPr>
        <p:txBody>
          <a:bodyPr>
            <a:normAutofit fontScale="69167"/>
          </a:bodyPr>
          <a:lstStyle/>
          <a:p>
            <a:pPr>
              <a:defRPr sz="8400"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48</a:t>
            </a:r>
            <a:endParaRPr b="1">
              <a:solidFill>
                <a:srgbClr val="F28A3B"/>
              </a:solidFill>
              <a:latin typeface="Segoe UI" panose="020B0502040204020203"/>
              <a:ea typeface="Segoe UI" panose="020B0502040204020203"/>
              <a:cs typeface="Segoe UI" panose="020B0502040204020203"/>
            </a:endParaRPr>
          </a:p>
        </p:txBody>
      </p:sp>
      <p:sp>
        <p:nvSpPr>
          <p:cNvPr id="5" name="metric-48-label"/>
          <p:cNvSpPr>
            <a:spLocks noGrp="1"/>
          </p:cNvSpPr>
          <p:nvPr/>
        </p:nvSpPr>
        <p:spPr>
          <a:xfrm>
            <a:off x="761960" y="3009922"/>
            <a:ext cx="3028792" cy="333358"/>
          </a:xfrm>
          <a:prstGeom prst="rect">
            <a:avLst/>
          </a:prstGeom>
          <a:noFill/>
          <a:ln w="0">
            <a:noFill/>
          </a:ln>
        </p:spPr>
        <p:txBody>
          <a:bodyPr>
            <a:normAutofit fontScale="90000"/>
          </a:bodyPr>
          <a:lstStyle/>
          <a:p>
            <a:pPr>
              <a:defRPr sz="1575" b="1">
                <a:solidFill>
                  <a:srgbClr val="18273B"/>
                </a:solidFill>
                <a:latin typeface="Segoe UI" panose="020B0502040204020203"/>
                <a:ea typeface="Segoe UI" panose="020B0502040204020203"/>
                <a:cs typeface="Segoe UI" panose="020B0502040204020203"/>
              </a:defRPr>
            </a:pPr>
            <a:r>
              <a:rPr b="1">
                <a:solidFill>
                  <a:srgbClr val="18273B"/>
                </a:solidFill>
                <a:latin typeface="Segoe UI" panose="020B0502040204020203"/>
                <a:ea typeface="Segoe UI" panose="020B0502040204020203"/>
                <a:cs typeface="Segoe UI" panose="020B0502040204020203"/>
              </a:rPr>
              <a:t>MODEL CHECKS PASSED</a:t>
            </a:r>
            <a:endParaRPr b="1">
              <a:solidFill>
                <a:srgbClr val="18273B"/>
              </a:solidFill>
              <a:latin typeface="Segoe UI" panose="020B0502040204020203"/>
              <a:ea typeface="Segoe UI" panose="020B0502040204020203"/>
              <a:cs typeface="Segoe UI" panose="020B0502040204020203"/>
            </a:endParaRPr>
          </a:p>
        </p:txBody>
      </p:sp>
      <p:sp>
        <p:nvSpPr>
          <p:cNvPr id="6" name="metric-48-detail"/>
          <p:cNvSpPr>
            <a:spLocks noGrp="1"/>
          </p:cNvSpPr>
          <p:nvPr/>
        </p:nvSpPr>
        <p:spPr>
          <a:xfrm>
            <a:off x="761960" y="3390902"/>
            <a:ext cx="2762106" cy="295260"/>
          </a:xfrm>
          <a:prstGeom prst="rect">
            <a:avLst/>
          </a:prstGeom>
          <a:noFill/>
          <a:ln w="0">
            <a:noFill/>
          </a:ln>
        </p:spPr>
        <p:txBody>
          <a:bodyPr>
            <a:normAutofit fontScale="74921"/>
          </a:bodyPr>
          <a:lstStyle/>
          <a:p>
            <a:pPr>
              <a:defRPr sz="1575" b="0">
                <a:solidFill>
                  <a:srgbClr val="263449"/>
                </a:solidFill>
                <a:latin typeface="Segoe UI" panose="020B0502040204020203"/>
                <a:ea typeface="Segoe UI" panose="020B0502040204020203"/>
                <a:cs typeface="Segoe UI" panose="020B0502040204020203"/>
              </a:defRPr>
            </a:pPr>
            <a:r>
              <a:rPr b="0">
                <a:solidFill>
                  <a:srgbClr val="263449"/>
                </a:solidFill>
                <a:latin typeface="Segoe UI" panose="020B0502040204020203"/>
                <a:ea typeface="Segoe UI" panose="020B0502040204020203"/>
                <a:cs typeface="Segoe UI" panose="020B0502040204020203"/>
              </a:rPr>
              <a:t>0 failed</a:t>
            </a:r>
            <a:endParaRPr b="0">
              <a:solidFill>
                <a:srgbClr val="263449"/>
              </a:solidFill>
              <a:latin typeface="Segoe UI" panose="020B0502040204020203"/>
              <a:ea typeface="Segoe UI" panose="020B0502040204020203"/>
              <a:cs typeface="Segoe UI" panose="020B0502040204020203"/>
            </a:endParaRPr>
          </a:p>
        </p:txBody>
      </p:sp>
      <p:sp>
        <p:nvSpPr>
          <p:cNvPr id="7" name="metric-divider"/>
          <p:cNvSpPr>
            <a:spLocks noGrp="1"/>
          </p:cNvSpPr>
          <p:nvPr/>
        </p:nvSpPr>
        <p:spPr>
          <a:xfrm>
            <a:off x="3714557" y="1962226"/>
            <a:ext cx="19049" cy="1742984"/>
          </a:xfrm>
          <a:prstGeom prst="rect">
            <a:avLst/>
          </a:prstGeom>
          <a:solidFill>
            <a:srgbClr val="D6D0C4"/>
          </a:solidFill>
          <a:ln w="0">
            <a:noFill/>
          </a:ln>
        </p:spPr>
      </p:sp>
      <p:sp>
        <p:nvSpPr>
          <p:cNvPr id="8" name="metric-0"/>
          <p:cNvSpPr>
            <a:spLocks noGrp="1"/>
          </p:cNvSpPr>
          <p:nvPr/>
        </p:nvSpPr>
        <p:spPr>
          <a:xfrm>
            <a:off x="4171733" y="2000324"/>
            <a:ext cx="838156" cy="666715"/>
          </a:xfrm>
          <a:prstGeom prst="rect">
            <a:avLst/>
          </a:prstGeom>
          <a:noFill/>
          <a:ln w="0">
            <a:noFill/>
          </a:ln>
        </p:spPr>
        <p:txBody>
          <a:bodyPr>
            <a:normAutofit fontScale="71183"/>
          </a:bodyPr>
          <a:lstStyle/>
          <a:p>
            <a:pPr>
              <a:defRPr sz="4650" b="1">
                <a:solidFill>
                  <a:srgbClr val="18273B"/>
                </a:solidFill>
                <a:latin typeface="Segoe UI" panose="020B0502040204020203"/>
                <a:ea typeface="Segoe UI" panose="020B0502040204020203"/>
                <a:cs typeface="Segoe UI" panose="020B0502040204020203"/>
              </a:defRPr>
            </a:pPr>
            <a:r>
              <a:rPr b="1">
                <a:solidFill>
                  <a:srgbClr val="18273B"/>
                </a:solidFill>
                <a:latin typeface="Segoe UI" panose="020B0502040204020203"/>
                <a:ea typeface="Segoe UI" panose="020B0502040204020203"/>
                <a:cs typeface="Segoe UI" panose="020B0502040204020203"/>
              </a:rPr>
              <a:t>0</a:t>
            </a:r>
            <a:endParaRPr b="1">
              <a:solidFill>
                <a:srgbClr val="18273B"/>
              </a:solidFill>
              <a:latin typeface="Segoe UI" panose="020B0502040204020203"/>
              <a:ea typeface="Segoe UI" panose="020B0502040204020203"/>
              <a:cs typeface="Segoe UI" panose="020B0502040204020203"/>
            </a:endParaRPr>
          </a:p>
        </p:txBody>
      </p:sp>
      <p:sp>
        <p:nvSpPr>
          <p:cNvPr id="9" name="metric-0-label"/>
          <p:cNvSpPr>
            <a:spLocks noGrp="1"/>
          </p:cNvSpPr>
          <p:nvPr/>
        </p:nvSpPr>
        <p:spPr>
          <a:xfrm>
            <a:off x="5047987" y="2152716"/>
            <a:ext cx="6019486" cy="371456"/>
          </a:xfrm>
          <a:prstGeom prst="rect">
            <a:avLst/>
          </a:prstGeom>
          <a:noFill/>
          <a:ln w="0">
            <a:noFill/>
          </a:ln>
        </p:spPr>
        <p:txBody>
          <a:bodyPr>
            <a:normAutofit lnSpcReduction="20000"/>
          </a:bodyPr>
          <a:lstStyle/>
          <a:p>
            <a:pPr>
              <a:defRPr sz="1800" b="0">
                <a:solidFill>
                  <a:srgbClr val="263449"/>
                </a:solidFill>
                <a:latin typeface="Segoe UI" panose="020B0502040204020203"/>
                <a:ea typeface="Segoe UI" panose="020B0502040204020203"/>
                <a:cs typeface="Segoe UI" panose="020B0502040204020203"/>
              </a:defRPr>
            </a:pPr>
            <a:r>
              <a:rPr b="0">
                <a:solidFill>
                  <a:srgbClr val="263449"/>
                </a:solidFill>
                <a:latin typeface="Segoe UI" panose="020B0502040204020203"/>
                <a:ea typeface="Segoe UI" panose="020B0502040204020203"/>
                <a:cs typeface="Segoe UI" panose="020B0502040204020203"/>
              </a:rPr>
              <a:t>Camunda Modeler errors or warnings</a:t>
            </a:r>
            <a:endParaRPr b="0">
              <a:solidFill>
                <a:srgbClr val="263449"/>
              </a:solidFill>
              <a:latin typeface="Segoe UI" panose="020B0502040204020203"/>
              <a:ea typeface="Segoe UI" panose="020B0502040204020203"/>
              <a:cs typeface="Segoe UI" panose="020B0502040204020203"/>
            </a:endParaRPr>
          </a:p>
        </p:txBody>
      </p:sp>
      <p:sp>
        <p:nvSpPr>
          <p:cNvPr id="10" name="metric-2"/>
          <p:cNvSpPr>
            <a:spLocks noGrp="1"/>
          </p:cNvSpPr>
          <p:nvPr/>
        </p:nvSpPr>
        <p:spPr>
          <a:xfrm>
            <a:off x="4171733" y="2848005"/>
            <a:ext cx="838156" cy="666715"/>
          </a:xfrm>
          <a:prstGeom prst="rect">
            <a:avLst/>
          </a:prstGeom>
          <a:noFill/>
          <a:ln w="0">
            <a:noFill/>
          </a:ln>
        </p:spPr>
        <p:txBody>
          <a:bodyPr>
            <a:normAutofit fontScale="71183"/>
          </a:bodyPr>
          <a:lstStyle/>
          <a:p>
            <a:pPr>
              <a:defRPr sz="4650" b="1">
                <a:solidFill>
                  <a:srgbClr val="75B7FF"/>
                </a:solidFill>
                <a:latin typeface="Segoe UI" panose="020B0502040204020203"/>
                <a:ea typeface="Segoe UI" panose="020B0502040204020203"/>
                <a:cs typeface="Segoe UI" panose="020B0502040204020203"/>
              </a:defRPr>
            </a:pPr>
            <a:r>
              <a:rPr b="1">
                <a:solidFill>
                  <a:srgbClr val="75B7FF"/>
                </a:solidFill>
                <a:latin typeface="Segoe UI" panose="020B0502040204020203"/>
                <a:ea typeface="Segoe UI" panose="020B0502040204020203"/>
                <a:cs typeface="Segoe UI" panose="020B0502040204020203"/>
              </a:rPr>
              <a:t>2</a:t>
            </a:r>
            <a:endParaRPr b="1">
              <a:solidFill>
                <a:srgbClr val="75B7FF"/>
              </a:solidFill>
              <a:latin typeface="Segoe UI" panose="020B0502040204020203"/>
              <a:ea typeface="Segoe UI" panose="020B0502040204020203"/>
              <a:cs typeface="Segoe UI" panose="020B0502040204020203"/>
            </a:endParaRPr>
          </a:p>
        </p:txBody>
      </p:sp>
      <p:sp>
        <p:nvSpPr>
          <p:cNvPr id="11" name="metric-2-label"/>
          <p:cNvSpPr>
            <a:spLocks noGrp="1"/>
          </p:cNvSpPr>
          <p:nvPr/>
        </p:nvSpPr>
        <p:spPr>
          <a:xfrm>
            <a:off x="5047987" y="3000397"/>
            <a:ext cx="6019486" cy="371456"/>
          </a:xfrm>
          <a:prstGeom prst="rect">
            <a:avLst/>
          </a:prstGeom>
          <a:noFill/>
          <a:ln w="0">
            <a:noFill/>
          </a:ln>
        </p:spPr>
        <p:txBody>
          <a:bodyPr>
            <a:normAutofit lnSpcReduction="20000"/>
          </a:bodyPr>
          <a:lstStyle/>
          <a:p>
            <a:pPr>
              <a:defRPr sz="1800" b="0">
                <a:solidFill>
                  <a:srgbClr val="263449"/>
                </a:solidFill>
                <a:latin typeface="Segoe UI" panose="020B0502040204020203"/>
                <a:ea typeface="Segoe UI" panose="020B0502040204020203"/>
                <a:cs typeface="Segoe UI" panose="020B0502040204020203"/>
              </a:defRPr>
            </a:pPr>
            <a:r>
              <a:rPr b="0">
                <a:solidFill>
                  <a:srgbClr val="263449"/>
                </a:solidFill>
                <a:latin typeface="Segoe UI" panose="020B0502040204020203"/>
                <a:ea typeface="Segoe UI" panose="020B0502040204020203"/>
                <a:cs typeface="Segoe UI" panose="020B0502040204020203"/>
              </a:rPr>
              <a:t>Tasklist end-to-end scenarios completed</a:t>
            </a:r>
            <a:endParaRPr b="0">
              <a:solidFill>
                <a:srgbClr val="263449"/>
              </a:solidFill>
              <a:latin typeface="Segoe UI" panose="020B0502040204020203"/>
              <a:ea typeface="Segoe UI" panose="020B0502040204020203"/>
              <a:cs typeface="Segoe UI" panose="020B0502040204020203"/>
            </a:endParaRPr>
          </a:p>
        </p:txBody>
      </p:sp>
      <p:sp>
        <p:nvSpPr>
          <p:cNvPr id="12" name="evidence-rule"/>
          <p:cNvSpPr>
            <a:spLocks noGrp="1"/>
          </p:cNvSpPr>
          <p:nvPr/>
        </p:nvSpPr>
        <p:spPr>
          <a:xfrm>
            <a:off x="685764" y="3962372"/>
            <a:ext cx="10819836" cy="19049"/>
          </a:xfrm>
          <a:prstGeom prst="rect">
            <a:avLst/>
          </a:prstGeom>
          <a:solidFill>
            <a:srgbClr val="D6D0C4"/>
          </a:solidFill>
          <a:ln w="0">
            <a:noFill/>
          </a:ln>
        </p:spPr>
      </p:sp>
      <p:sp>
        <p:nvSpPr>
          <p:cNvPr id="13" name="completed-heading"/>
          <p:cNvSpPr>
            <a:spLocks noGrp="1"/>
          </p:cNvSpPr>
          <p:nvPr/>
        </p:nvSpPr>
        <p:spPr>
          <a:xfrm>
            <a:off x="685764" y="4229058"/>
            <a:ext cx="3809802" cy="304784"/>
          </a:xfrm>
          <a:prstGeom prst="rect">
            <a:avLst/>
          </a:prstGeom>
          <a:noFill/>
          <a:ln w="0">
            <a:noFill/>
          </a:ln>
        </p:spPr>
        <p:txBody>
          <a:bodyPr>
            <a:normAutofit fontScale="83333"/>
          </a:bodyPr>
          <a:lstStyle/>
          <a:p>
            <a:pPr>
              <a:defRPr sz="1500"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COMPLETED</a:t>
            </a:r>
            <a:endParaRPr b="1">
              <a:solidFill>
                <a:srgbClr val="F28A3B"/>
              </a:solidFill>
              <a:latin typeface="Segoe UI" panose="020B0502040204020203"/>
              <a:ea typeface="Segoe UI" panose="020B0502040204020203"/>
              <a:cs typeface="Segoe UI" panose="020B0502040204020203"/>
            </a:endParaRPr>
          </a:p>
        </p:txBody>
      </p:sp>
      <p:sp>
        <p:nvSpPr>
          <p:cNvPr id="14" name="completed-standard-title"/>
          <p:cNvSpPr>
            <a:spLocks noGrp="1"/>
          </p:cNvSpPr>
          <p:nvPr/>
        </p:nvSpPr>
        <p:spPr>
          <a:xfrm>
            <a:off x="685764" y="4648137"/>
            <a:ext cx="5428967" cy="295260"/>
          </a:xfrm>
          <a:prstGeom prst="rect">
            <a:avLst/>
          </a:prstGeom>
          <a:noFill/>
          <a:ln w="0">
            <a:noFill/>
          </a:ln>
        </p:spPr>
        <p:txBody>
          <a:bodyPr>
            <a:normAutofit fontScale="67536"/>
          </a:bodyPr>
          <a:lstStyle/>
          <a:p>
            <a:pPr>
              <a:defRPr sz="1725" b="1">
                <a:solidFill>
                  <a:srgbClr val="18273B"/>
                </a:solidFill>
                <a:latin typeface="Segoe UI" panose="020B0502040204020203"/>
                <a:ea typeface="Segoe UI" panose="020B0502040204020203"/>
                <a:cs typeface="Segoe UI" panose="020B0502040204020203"/>
              </a:defRPr>
            </a:pPr>
            <a:r>
              <a:rPr b="1">
                <a:solidFill>
                  <a:srgbClr val="18273B"/>
                </a:solidFill>
                <a:latin typeface="Segoe UI" panose="020B0502040204020203"/>
                <a:ea typeface="Segoe UI" panose="020B0502040204020203"/>
                <a:cs typeface="Segoe UI" panose="020B0502040204020203"/>
              </a:rPr>
              <a:t>Standard cycle review</a:t>
            </a:r>
            <a:endParaRPr b="1">
              <a:solidFill>
                <a:srgbClr val="18273B"/>
              </a:solidFill>
              <a:latin typeface="Segoe UI" panose="020B0502040204020203"/>
              <a:ea typeface="Segoe UI" panose="020B0502040204020203"/>
              <a:cs typeface="Segoe UI" panose="020B0502040204020203"/>
            </a:endParaRPr>
          </a:p>
        </p:txBody>
      </p:sp>
      <p:sp>
        <p:nvSpPr>
          <p:cNvPr id="15" name="completed-standard-detail"/>
          <p:cNvSpPr>
            <a:spLocks noGrp="1"/>
          </p:cNvSpPr>
          <p:nvPr/>
        </p:nvSpPr>
        <p:spPr>
          <a:xfrm>
            <a:off x="685764" y="4981494"/>
            <a:ext cx="5714702" cy="514323"/>
          </a:xfrm>
          <a:prstGeom prst="rect">
            <a:avLst/>
          </a:prstGeom>
          <a:noFill/>
          <a:ln w="0">
            <a:noFill/>
          </a:ln>
        </p:spPr>
        <p:txBody>
          <a:bodyPr>
            <a:normAutofit/>
          </a:bodyPr>
          <a:lstStyle/>
          <a:p>
            <a:pPr>
              <a:defRPr sz="1500" b="0">
                <a:solidFill>
                  <a:srgbClr val="263449"/>
                </a:solidFill>
                <a:latin typeface="Segoe UI" panose="020B0502040204020203"/>
                <a:ea typeface="Segoe UI" panose="020B0502040204020203"/>
                <a:cs typeface="Segoe UI" panose="020B0502040204020203"/>
              </a:defRPr>
            </a:pPr>
            <a:r>
              <a:rPr b="0">
                <a:solidFill>
                  <a:srgbClr val="263449"/>
                </a:solidFill>
                <a:latin typeface="Segoe UI" panose="020B0502040204020203"/>
                <a:ea typeface="Segoe UI" panose="020B0502040204020203"/>
                <a:cs typeface="Segoe UI" panose="020B0502040204020203"/>
              </a:rPr>
              <a:t>Mock results returned, schedule updated and patient notice sent.</a:t>
            </a:r>
            <a:endParaRPr b="0">
              <a:solidFill>
                <a:srgbClr val="263449"/>
              </a:solidFill>
              <a:latin typeface="Segoe UI" panose="020B0502040204020203"/>
              <a:ea typeface="Segoe UI" panose="020B0502040204020203"/>
              <a:cs typeface="Segoe UI" panose="020B0502040204020203"/>
            </a:endParaRPr>
          </a:p>
        </p:txBody>
      </p:sp>
      <p:sp>
        <p:nvSpPr>
          <p:cNvPr id="16" name="completed-change-title"/>
          <p:cNvSpPr>
            <a:spLocks noGrp="1"/>
          </p:cNvSpPr>
          <p:nvPr/>
        </p:nvSpPr>
        <p:spPr>
          <a:xfrm>
            <a:off x="685764" y="5533915"/>
            <a:ext cx="6190928" cy="304784"/>
          </a:xfrm>
          <a:prstGeom prst="rect">
            <a:avLst/>
          </a:prstGeom>
          <a:noFill/>
          <a:ln w="0">
            <a:noFill/>
          </a:ln>
        </p:spPr>
        <p:txBody>
          <a:bodyPr>
            <a:normAutofit fontScale="74848"/>
          </a:bodyPr>
          <a:lstStyle/>
          <a:p>
            <a:pPr>
              <a:defRPr sz="1650" b="1">
                <a:solidFill>
                  <a:srgbClr val="18273B"/>
                </a:solidFill>
                <a:latin typeface="Segoe UI" panose="020B0502040204020203"/>
                <a:ea typeface="Segoe UI" panose="020B0502040204020203"/>
                <a:cs typeface="Segoe UI" panose="020B0502040204020203"/>
              </a:defRPr>
            </a:pPr>
            <a:r>
              <a:rPr b="1">
                <a:solidFill>
                  <a:srgbClr val="18273B"/>
                </a:solidFill>
                <a:latin typeface="Segoe UI" panose="020B0502040204020203"/>
                <a:ea typeface="Segoe UI" panose="020B0502040204020203"/>
                <a:cs typeface="Segoe UI" panose="020B0502040204020203"/>
              </a:rPr>
              <a:t>Treatment change without a formal request</a:t>
            </a:r>
            <a:endParaRPr b="1">
              <a:solidFill>
                <a:srgbClr val="18273B"/>
              </a:solidFill>
              <a:latin typeface="Segoe UI" panose="020B0502040204020203"/>
              <a:ea typeface="Segoe UI" panose="020B0502040204020203"/>
              <a:cs typeface="Segoe UI" panose="020B0502040204020203"/>
            </a:endParaRPr>
          </a:p>
        </p:txBody>
      </p:sp>
      <p:sp>
        <p:nvSpPr>
          <p:cNvPr id="17" name="completed-change-detail"/>
          <p:cNvSpPr>
            <a:spLocks noGrp="1"/>
          </p:cNvSpPr>
          <p:nvPr/>
        </p:nvSpPr>
        <p:spPr>
          <a:xfrm>
            <a:off x="685764" y="5876798"/>
            <a:ext cx="5714702" cy="295260"/>
          </a:xfrm>
          <a:prstGeom prst="rect">
            <a:avLst/>
          </a:prstGeom>
          <a:noFill/>
          <a:ln w="0">
            <a:noFill/>
          </a:ln>
        </p:spPr>
        <p:txBody>
          <a:bodyPr>
            <a:normAutofit fontScale="89167" lnSpcReduction="20000"/>
          </a:bodyPr>
          <a:lstStyle/>
          <a:p>
            <a:pPr>
              <a:defRPr sz="1500" b="0">
                <a:solidFill>
                  <a:srgbClr val="263449"/>
                </a:solidFill>
                <a:latin typeface="Segoe UI" panose="020B0502040204020203"/>
                <a:ea typeface="Segoe UI" panose="020B0502040204020203"/>
                <a:cs typeface="Segoe UI" panose="020B0502040204020203"/>
              </a:defRPr>
            </a:pPr>
            <a:r>
              <a:rPr b="0">
                <a:solidFill>
                  <a:srgbClr val="263449"/>
                </a:solidFill>
                <a:latin typeface="Segoe UI" panose="020B0502040204020203"/>
                <a:ea typeface="Segoe UI" panose="020B0502040204020203"/>
                <a:cs typeface="Segoe UI" panose="020B0502040204020203"/>
              </a:rPr>
              <a:t>Rejected, with no schedule update.</a:t>
            </a:r>
            <a:endParaRPr b="0">
              <a:solidFill>
                <a:srgbClr val="263449"/>
              </a:solidFill>
              <a:latin typeface="Segoe UI" panose="020B0502040204020203"/>
              <a:ea typeface="Segoe UI" panose="020B0502040204020203"/>
              <a:cs typeface="Segoe UI" panose="020B0502040204020203"/>
            </a:endParaRPr>
          </a:p>
        </p:txBody>
      </p:sp>
      <p:sp>
        <p:nvSpPr>
          <p:cNvPr id="18" name="next-test-divider"/>
          <p:cNvSpPr>
            <a:spLocks noGrp="1"/>
          </p:cNvSpPr>
          <p:nvPr/>
        </p:nvSpPr>
        <p:spPr>
          <a:xfrm>
            <a:off x="7124329" y="4267156"/>
            <a:ext cx="28574" cy="1838229"/>
          </a:xfrm>
          <a:prstGeom prst="rect">
            <a:avLst/>
          </a:prstGeom>
          <a:solidFill>
            <a:srgbClr val="F28A3B"/>
          </a:solidFill>
          <a:ln w="0">
            <a:noFill/>
          </a:ln>
        </p:spPr>
      </p:sp>
      <p:sp>
        <p:nvSpPr>
          <p:cNvPr id="19" name="next-test-heading"/>
          <p:cNvSpPr>
            <a:spLocks noGrp="1"/>
          </p:cNvSpPr>
          <p:nvPr/>
        </p:nvSpPr>
        <p:spPr>
          <a:xfrm>
            <a:off x="7410064" y="4229058"/>
            <a:ext cx="3619311" cy="304784"/>
          </a:xfrm>
          <a:prstGeom prst="rect">
            <a:avLst/>
          </a:prstGeom>
          <a:noFill/>
          <a:ln w="0">
            <a:noFill/>
          </a:ln>
        </p:spPr>
        <p:txBody>
          <a:bodyPr>
            <a:normAutofit fontScale="83333"/>
          </a:bodyPr>
          <a:lstStyle/>
          <a:p>
            <a:pPr>
              <a:defRPr sz="1500" b="1">
                <a:solidFill>
                  <a:srgbClr val="F28A3B"/>
                </a:solidFill>
                <a:latin typeface="Segoe UI" panose="020B0502040204020203"/>
                <a:ea typeface="Segoe UI" panose="020B0502040204020203"/>
                <a:cs typeface="Segoe UI" panose="020B0502040204020203"/>
              </a:defRPr>
            </a:pPr>
            <a:r>
              <a:rPr b="1">
                <a:solidFill>
                  <a:srgbClr val="F28A3B"/>
                </a:solidFill>
                <a:latin typeface="Segoe UI" panose="020B0502040204020203"/>
                <a:ea typeface="Segoe UI" panose="020B0502040204020203"/>
                <a:cs typeface="Segoe UI" panose="020B0502040204020203"/>
              </a:rPr>
              <a:t>NEXT TEST</a:t>
            </a:r>
            <a:endParaRPr b="1">
              <a:solidFill>
                <a:srgbClr val="F28A3B"/>
              </a:solidFill>
              <a:latin typeface="Segoe UI" panose="020B0502040204020203"/>
              <a:ea typeface="Segoe UI" panose="020B0502040204020203"/>
              <a:cs typeface="Segoe UI" panose="020B0502040204020203"/>
            </a:endParaRPr>
          </a:p>
        </p:txBody>
      </p:sp>
      <p:sp>
        <p:nvSpPr>
          <p:cNvPr id="20" name="next-test-title"/>
          <p:cNvSpPr>
            <a:spLocks noGrp="1"/>
          </p:cNvSpPr>
          <p:nvPr/>
        </p:nvSpPr>
        <p:spPr>
          <a:xfrm>
            <a:off x="7410064" y="4648137"/>
            <a:ext cx="3905047" cy="323833"/>
          </a:xfrm>
          <a:prstGeom prst="rect">
            <a:avLst/>
          </a:prstGeom>
          <a:noFill/>
          <a:ln w="0">
            <a:noFill/>
          </a:ln>
        </p:spPr>
        <p:txBody>
          <a:bodyPr>
            <a:normAutofit fontScale="78406"/>
          </a:bodyPr>
          <a:lstStyle/>
          <a:p>
            <a:pPr>
              <a:defRPr sz="1725" b="1">
                <a:solidFill>
                  <a:srgbClr val="18273B"/>
                </a:solidFill>
                <a:latin typeface="Segoe UI" panose="020B0502040204020203"/>
                <a:ea typeface="Segoe UI" panose="020B0502040204020203"/>
                <a:cs typeface="Segoe UI" panose="020B0502040204020203"/>
              </a:defRPr>
            </a:pPr>
            <a:r>
              <a:rPr b="1">
                <a:solidFill>
                  <a:srgbClr val="18273B"/>
                </a:solidFill>
                <a:latin typeface="Segoe UI" panose="020B0502040204020203"/>
                <a:ea typeface="Segoe UI" panose="020B0502040204020203"/>
                <a:cs typeface="Segoe UI" panose="020B0502040204020203"/>
              </a:rPr>
              <a:t>Urgent-delay walkthrough</a:t>
            </a:r>
            <a:endParaRPr b="1">
              <a:solidFill>
                <a:srgbClr val="18273B"/>
              </a:solidFill>
              <a:latin typeface="Segoe UI" panose="020B0502040204020203"/>
              <a:ea typeface="Segoe UI" panose="020B0502040204020203"/>
              <a:cs typeface="Segoe UI" panose="020B0502040204020203"/>
            </a:endParaRPr>
          </a:p>
        </p:txBody>
      </p:sp>
      <p:sp>
        <p:nvSpPr>
          <p:cNvPr id="21" name="next-test-detail"/>
          <p:cNvSpPr>
            <a:spLocks noGrp="1"/>
          </p:cNvSpPr>
          <p:nvPr/>
        </p:nvSpPr>
        <p:spPr>
          <a:xfrm>
            <a:off x="7410064" y="5029117"/>
            <a:ext cx="3905047" cy="1000073"/>
          </a:xfrm>
          <a:prstGeom prst="rect">
            <a:avLst/>
          </a:prstGeom>
          <a:noFill/>
          <a:ln w="0">
            <a:noFill/>
          </a:ln>
        </p:spPr>
        <p:txBody>
          <a:bodyPr>
            <a:normAutofit/>
          </a:bodyPr>
          <a:lstStyle/>
          <a:p>
            <a:pPr>
              <a:defRPr sz="1500" b="0">
                <a:solidFill>
                  <a:srgbClr val="263449"/>
                </a:solidFill>
                <a:latin typeface="Segoe UI" panose="020B0502040204020203"/>
                <a:ea typeface="Segoe UI" panose="020B0502040204020203"/>
                <a:cs typeface="Segoe UI" panose="020B0502040204020203"/>
              </a:defRPr>
            </a:pPr>
            <a:r>
              <a:rPr b="0">
                <a:solidFill>
                  <a:srgbClr val="263449"/>
                </a:solidFill>
                <a:latin typeface="Segoe UI" panose="020B0502040204020203"/>
                <a:ea typeface="Segoe UI" panose="020B0502040204020203"/>
                <a:cs typeface="Segoe UI" panose="020B0502040204020203"/>
              </a:rPr>
              <a:t>Model checks cover the safety hold and follow-up authorisation. The Tasklist end-to-end walkthrough is still pending.</a:t>
            </a:r>
            <a:endParaRPr b="0">
              <a:solidFill>
                <a:srgbClr val="263449"/>
              </a:solidFill>
              <a:latin typeface="Segoe UI" panose="020B0502040204020203"/>
              <a:ea typeface="Segoe UI" panose="020B0502040204020203"/>
              <a:cs typeface="Segoe UI" panose="020B0502040204020203"/>
            </a:endParaRPr>
          </a:p>
        </p:txBody>
      </p:sp>
      <p:sp>
        <p:nvSpPr>
          <p:cNvPr id="22" name="scope-note"/>
          <p:cNvSpPr>
            <a:spLocks noGrp="1"/>
          </p:cNvSpPr>
          <p:nvPr/>
        </p:nvSpPr>
        <p:spPr>
          <a:xfrm>
            <a:off x="685764" y="6419694"/>
            <a:ext cx="10572199" cy="266686"/>
          </a:xfrm>
          <a:prstGeom prst="rect">
            <a:avLst/>
          </a:prstGeom>
          <a:noFill/>
          <a:ln w="0">
            <a:noFill/>
          </a:ln>
        </p:spPr>
        <p:txBody>
          <a:bodyPr>
            <a:normAutofit fontScale="75185"/>
          </a:bodyPr>
          <a:lstStyle/>
          <a:p>
            <a:pPr>
              <a:defRPr sz="1350" b="0">
                <a:solidFill>
                  <a:srgbClr val="657181"/>
                </a:solidFill>
                <a:latin typeface="Segoe UI" panose="020B0502040204020203"/>
                <a:ea typeface="Segoe UI" panose="020B0502040204020203"/>
                <a:cs typeface="Segoe UI" panose="020B0502040204020203"/>
              </a:defRPr>
            </a:pPr>
            <a:r>
              <a:rPr b="0">
                <a:solidFill>
                  <a:srgbClr val="657181"/>
                </a:solidFill>
                <a:latin typeface="Segoe UI" panose="020B0502040204020203"/>
                <a:ea typeface="Segoe UI" panose="020B0502040204020203"/>
                <a:cs typeface="Segoe UI" panose="020B0502040204020203"/>
              </a:rPr>
              <a:t>Demo worker only. No real patient data or hospital-system integration.</a:t>
            </a:r>
            <a:endParaRPr b="0">
              <a:solidFill>
                <a:srgbClr val="657181"/>
              </a:solidFill>
              <a:latin typeface="Segoe UI" panose="020B0502040204020203"/>
              <a:ea typeface="Segoe UI" panose="020B0502040204020203"/>
              <a:cs typeface="Segoe UI" panose="020B050204020402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矩形 26"/>
          <p:cNvSpPr>
            <a:spLocks noGrp="1"/>
          </p:cNvSpPr>
          <p:nvPr/>
        </p:nvSpPr>
        <p:spPr>
          <a:xfrm>
            <a:off x="571500" y="381000"/>
            <a:ext cx="11049000" cy="552450"/>
          </a:xfrm>
          <a:prstGeom prst="rect">
            <a:avLst/>
          </a:prstGeom>
          <a:noFill/>
          <a:ln w="0">
            <a:noFill/>
          </a:ln>
        </p:spPr>
        <p:txBody>
          <a:bodyPr>
            <a:noAutofit/>
          </a:bodyPr>
          <a:lstStyle/>
          <a:p>
            <a:pPr>
              <a:defRPr sz="3150" b="1">
                <a:solidFill>
                  <a:srgbClr val="19364B"/>
                </a:solidFill>
                <a:latin typeface="Arial" panose="020B0604020202020204"/>
                <a:ea typeface="Arial" panose="020B0604020202020204"/>
                <a:cs typeface="Arial" panose="020B0604020202020204"/>
              </a:defRPr>
            </a:pPr>
            <a:r>
              <a:rPr sz="3150" b="1">
                <a:solidFill>
                  <a:srgbClr val="19364B"/>
                </a:solidFill>
                <a:latin typeface="Arial" panose="020B0604020202020204"/>
                <a:ea typeface="Arial" panose="020B0604020202020204"/>
                <a:cs typeface="Arial" panose="020B0604020202020204"/>
              </a:rPr>
              <a:t>Clinic Letter workflow</a:t>
            </a:r>
            <a:endParaRPr sz="3150" b="1">
              <a:solidFill>
                <a:srgbClr val="1936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590550" y="1000125"/>
            <a:ext cx="11049000" cy="381000"/>
          </a:xfrm>
          <a:prstGeom prst="rect">
            <a:avLst/>
          </a:prstGeom>
          <a:noFill/>
          <a:ln w="0">
            <a:noFill/>
          </a:ln>
        </p:spPr>
        <p:txBody>
          <a:bodyPr>
            <a:noAutofit/>
          </a:bodyPr>
          <a:lstStyle/>
          <a:p>
            <a:pPr>
              <a:defRPr sz="1650" b="0">
                <a:solidFill>
                  <a:srgbClr val="587080"/>
                </a:solidFill>
                <a:latin typeface="Arial" panose="020B0604020202020204"/>
                <a:ea typeface="Arial" panose="020B0604020202020204"/>
                <a:cs typeface="Arial" panose="020B0604020202020204"/>
              </a:defRPr>
            </a:pPr>
            <a:r>
              <a:rPr sz="1650" b="0">
                <a:solidFill>
                  <a:srgbClr val="587080"/>
                </a:solidFill>
                <a:latin typeface="Arial" panose="020B0604020202020204"/>
                <a:ea typeface="Arial" panose="020B0604020202020204"/>
                <a:cs typeface="Arial" panose="020B0604020202020204"/>
              </a:rPr>
              <a:t>My contribution: BPMN model, four forms and a Java demo worker</a:t>
            </a:r>
            <a:endParaRPr sz="1650" b="0">
              <a:solidFill>
                <a:srgbClr val="587080"/>
              </a:solidFill>
              <a:latin typeface="Arial" panose="020B0604020202020204"/>
              <a:ea typeface="Arial" panose="020B0604020202020204"/>
              <a:cs typeface="Arial" panose="020B0604020202020204"/>
            </a:endParaRPr>
          </a:p>
        </p:txBody>
      </p:sp>
      <p:sp>
        <p:nvSpPr>
          <p:cNvPr id="3" name="矩形 2"/>
          <p:cNvSpPr>
            <a:spLocks noGrp="1"/>
          </p:cNvSpPr>
          <p:nvPr/>
        </p:nvSpPr>
        <p:spPr>
          <a:xfrm>
            <a:off x="590550" y="1543050"/>
            <a:ext cx="11010900" cy="19050"/>
          </a:xfrm>
          <a:prstGeom prst="rect">
            <a:avLst/>
          </a:prstGeom>
          <a:solidFill>
            <a:srgbClr val="CCD9E0"/>
          </a:solidFill>
          <a:ln w="9525">
            <a:solidFill>
              <a:srgbClr val="CCD9E0"/>
            </a:solidFill>
          </a:ln>
        </p:spPr>
      </p:sp>
      <p:sp>
        <p:nvSpPr>
          <p:cNvPr id="4" name="矩形 3"/>
          <p:cNvSpPr>
            <a:spLocks noGrp="1"/>
          </p:cNvSpPr>
          <p:nvPr/>
        </p:nvSpPr>
        <p:spPr>
          <a:xfrm>
            <a:off x="11125200" y="6372225"/>
            <a:ext cx="476250" cy="238125"/>
          </a:xfrm>
          <a:prstGeom prst="rect">
            <a:avLst/>
          </a:prstGeom>
          <a:noFill/>
          <a:ln w="0">
            <a:noFill/>
          </a:ln>
        </p:spPr>
        <p:txBody>
          <a:bodyPr>
            <a:noAutofit/>
          </a:bodyPr>
          <a:lstStyle/>
          <a:p>
            <a:pPr>
              <a:defRPr sz="1200" b="0">
                <a:solidFill>
                  <a:srgbClr val="587080"/>
                </a:solidFill>
                <a:latin typeface="Arial" panose="020B0604020202020204"/>
                <a:ea typeface="Arial" panose="020B0604020202020204"/>
                <a:cs typeface="Arial" panose="020B0604020202020204"/>
              </a:defRPr>
            </a:pPr>
            <a:r>
              <a:rPr sz="1200" b="0">
                <a:solidFill>
                  <a:srgbClr val="587080"/>
                </a:solidFill>
                <a:latin typeface="Arial" panose="020B0604020202020204"/>
                <a:ea typeface="Arial" panose="020B0604020202020204"/>
                <a:cs typeface="Arial" panose="020B0604020202020204"/>
              </a:rPr>
              <a:t>01</a:t>
            </a:r>
            <a:endParaRPr sz="1200" b="0">
              <a:solidFill>
                <a:srgbClr val="587080"/>
              </a:solidFill>
              <a:latin typeface="Arial" panose="020B0604020202020204"/>
              <a:ea typeface="Arial" panose="020B0604020202020204"/>
              <a:cs typeface="Arial" panose="020B0604020202020204"/>
            </a:endParaRPr>
          </a:p>
        </p:txBody>
      </p:sp>
      <p:sp>
        <p:nvSpPr>
          <p:cNvPr id="5" name="矩形 4"/>
          <p:cNvSpPr>
            <a:spLocks noGrp="1"/>
          </p:cNvSpPr>
          <p:nvPr/>
        </p:nvSpPr>
        <p:spPr>
          <a:xfrm>
            <a:off x="590550" y="1847850"/>
            <a:ext cx="2047875" cy="285750"/>
          </a:xfrm>
          <a:prstGeom prst="rect">
            <a:avLst/>
          </a:prstGeom>
          <a:noFill/>
          <a:ln w="0">
            <a:noFill/>
          </a:ln>
        </p:spPr>
        <p:txBody>
          <a:bodyPr>
            <a:noAutofit/>
          </a:bodyPr>
          <a:lstStyle/>
          <a:p>
            <a:pPr>
              <a:defRPr sz="1350" b="1">
                <a:solidFill>
                  <a:srgbClr val="00868B"/>
                </a:solidFill>
                <a:latin typeface="Arial" panose="020B0604020202020204"/>
                <a:ea typeface="Arial" panose="020B0604020202020204"/>
                <a:cs typeface="Arial" panose="020B0604020202020204"/>
              </a:defRPr>
            </a:pPr>
            <a:r>
              <a:rPr sz="1350" b="1">
                <a:solidFill>
                  <a:srgbClr val="00868B"/>
                </a:solidFill>
                <a:latin typeface="Arial" panose="020B0604020202020204"/>
                <a:ea typeface="Arial" panose="020B0604020202020204"/>
                <a:cs typeface="Arial" panose="020B0604020202020204"/>
              </a:rPr>
              <a:t>START</a:t>
            </a:r>
            <a:endParaRPr sz="1350" b="1">
              <a:solidFill>
                <a:srgbClr val="00868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590550" y="2238375"/>
            <a:ext cx="2019300" cy="952500"/>
          </a:xfrm>
          <a:prstGeom prst="rect">
            <a:avLst/>
          </a:prstGeom>
          <a:solidFill>
            <a:srgbClr val="FFFFFF"/>
          </a:solidFill>
          <a:ln w="9525">
            <a:solidFill>
              <a:srgbClr val="00868B"/>
            </a:solidFill>
          </a:ln>
        </p:spPr>
      </p:sp>
      <p:sp>
        <p:nvSpPr>
          <p:cNvPr id="7" name="矩形 6"/>
          <p:cNvSpPr>
            <a:spLocks noGrp="1"/>
          </p:cNvSpPr>
          <p:nvPr/>
        </p:nvSpPr>
        <p:spPr>
          <a:xfrm>
            <a:off x="666750" y="2438400"/>
            <a:ext cx="1866900" cy="666750"/>
          </a:xfrm>
          <a:prstGeom prst="rect">
            <a:avLst/>
          </a:prstGeom>
          <a:noFill/>
          <a:ln w="0">
            <a:noFill/>
          </a:ln>
        </p:spPr>
        <p:txBody>
          <a:bodyPr>
            <a:noAutofit/>
          </a:bodyPr>
          <a:lstStyle/>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Consultation</a:t>
            </a:r>
            <a:endParaRPr sz="1725" b="1">
              <a:solidFill>
                <a:srgbClr val="19364B"/>
              </a:solidFill>
              <a:latin typeface="Arial" panose="020B0604020202020204"/>
              <a:ea typeface="Arial" panose="020B0604020202020204"/>
              <a:cs typeface="Arial" panose="020B0604020202020204"/>
            </a:endParaRPr>
          </a:p>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completed</a:t>
            </a:r>
            <a:endParaRPr sz="1725" b="1">
              <a:solidFill>
                <a:srgbClr val="19364B"/>
              </a:solidFill>
              <a:latin typeface="Arial" panose="020B0604020202020204"/>
              <a:ea typeface="Arial" panose="020B0604020202020204"/>
              <a:cs typeface="Arial" panose="020B0604020202020204"/>
            </a:endParaRPr>
          </a:p>
        </p:txBody>
      </p:sp>
      <p:sp>
        <p:nvSpPr>
          <p:cNvPr id="8" name="右箭头 7"/>
          <p:cNvSpPr>
            <a:spLocks noGrp="1"/>
          </p:cNvSpPr>
          <p:nvPr/>
        </p:nvSpPr>
        <p:spPr>
          <a:xfrm>
            <a:off x="2609850" y="2647950"/>
            <a:ext cx="228600" cy="142875"/>
          </a:xfrm>
          <a:prstGeom prst="rightArrow">
            <a:avLst/>
          </a:prstGeom>
          <a:solidFill>
            <a:srgbClr val="00868B"/>
          </a:solidFill>
          <a:ln w="0">
            <a:noFill/>
          </a:ln>
        </p:spPr>
      </p:sp>
      <p:sp>
        <p:nvSpPr>
          <p:cNvPr id="9" name="矩形 8"/>
          <p:cNvSpPr>
            <a:spLocks noGrp="1"/>
          </p:cNvSpPr>
          <p:nvPr/>
        </p:nvSpPr>
        <p:spPr>
          <a:xfrm>
            <a:off x="2838450" y="1847850"/>
            <a:ext cx="2047875" cy="285750"/>
          </a:xfrm>
          <a:prstGeom prst="rect">
            <a:avLst/>
          </a:prstGeom>
          <a:noFill/>
          <a:ln w="0">
            <a:noFill/>
          </a:ln>
        </p:spPr>
        <p:txBody>
          <a:bodyPr>
            <a:noAutofit/>
          </a:bodyPr>
          <a:lstStyle/>
          <a:p>
            <a:pPr>
              <a:defRPr sz="1350" b="1">
                <a:solidFill>
                  <a:srgbClr val="00868B"/>
                </a:solidFill>
                <a:latin typeface="Arial" panose="020B0604020202020204"/>
                <a:ea typeface="Arial" panose="020B0604020202020204"/>
                <a:cs typeface="Arial" panose="020B0604020202020204"/>
              </a:defRPr>
            </a:pPr>
            <a:r>
              <a:rPr sz="1350" b="1">
                <a:solidFill>
                  <a:srgbClr val="00868B"/>
                </a:solidFill>
                <a:latin typeface="Arial" panose="020B0604020202020204"/>
                <a:ea typeface="Arial" panose="020B0604020202020204"/>
                <a:cs typeface="Arial" panose="020B0604020202020204"/>
              </a:rPr>
              <a:t>CONSULTANT</a:t>
            </a:r>
            <a:endParaRPr sz="1350" b="1">
              <a:solidFill>
                <a:srgbClr val="00868B"/>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2838450" y="2238375"/>
            <a:ext cx="2019300" cy="952500"/>
          </a:xfrm>
          <a:prstGeom prst="rect">
            <a:avLst/>
          </a:prstGeom>
          <a:solidFill>
            <a:srgbClr val="FFFFFF"/>
          </a:solidFill>
          <a:ln w="9525">
            <a:solidFill>
              <a:srgbClr val="00868B"/>
            </a:solidFill>
          </a:ln>
        </p:spPr>
      </p:sp>
      <p:sp>
        <p:nvSpPr>
          <p:cNvPr id="11" name="矩形 10"/>
          <p:cNvSpPr>
            <a:spLocks noGrp="1"/>
          </p:cNvSpPr>
          <p:nvPr/>
        </p:nvSpPr>
        <p:spPr>
          <a:xfrm>
            <a:off x="2914650" y="2438400"/>
            <a:ext cx="1866900" cy="666750"/>
          </a:xfrm>
          <a:prstGeom prst="rect">
            <a:avLst/>
          </a:prstGeom>
          <a:noFill/>
          <a:ln w="0">
            <a:noFill/>
          </a:ln>
        </p:spPr>
        <p:txBody>
          <a:bodyPr>
            <a:noAutofit/>
          </a:bodyPr>
          <a:lstStyle/>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Draft clinic</a:t>
            </a:r>
            <a:endParaRPr sz="1725" b="1">
              <a:solidFill>
                <a:srgbClr val="19364B"/>
              </a:solidFill>
              <a:latin typeface="Arial" panose="020B0604020202020204"/>
              <a:ea typeface="Arial" panose="020B0604020202020204"/>
              <a:cs typeface="Arial" panose="020B0604020202020204"/>
            </a:endParaRPr>
          </a:p>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letter</a:t>
            </a:r>
            <a:endParaRPr sz="1725" b="1">
              <a:solidFill>
                <a:srgbClr val="19364B"/>
              </a:solidFill>
              <a:latin typeface="Arial" panose="020B0604020202020204"/>
              <a:ea typeface="Arial" panose="020B0604020202020204"/>
              <a:cs typeface="Arial" panose="020B0604020202020204"/>
            </a:endParaRPr>
          </a:p>
        </p:txBody>
      </p:sp>
      <p:sp>
        <p:nvSpPr>
          <p:cNvPr id="12" name="右箭头 11"/>
          <p:cNvSpPr>
            <a:spLocks noGrp="1"/>
          </p:cNvSpPr>
          <p:nvPr/>
        </p:nvSpPr>
        <p:spPr>
          <a:xfrm>
            <a:off x="4857750" y="2647950"/>
            <a:ext cx="228600" cy="142875"/>
          </a:xfrm>
          <a:prstGeom prst="rightArrow">
            <a:avLst/>
          </a:prstGeom>
          <a:solidFill>
            <a:srgbClr val="00868B"/>
          </a:solidFill>
          <a:ln w="0">
            <a:noFill/>
          </a:ln>
        </p:spPr>
      </p:sp>
      <p:sp>
        <p:nvSpPr>
          <p:cNvPr id="13" name="矩形 12"/>
          <p:cNvSpPr>
            <a:spLocks noGrp="1"/>
          </p:cNvSpPr>
          <p:nvPr/>
        </p:nvSpPr>
        <p:spPr>
          <a:xfrm>
            <a:off x="5086350" y="1847850"/>
            <a:ext cx="2047875" cy="285750"/>
          </a:xfrm>
          <a:prstGeom prst="rect">
            <a:avLst/>
          </a:prstGeom>
          <a:noFill/>
          <a:ln w="0">
            <a:noFill/>
          </a:ln>
        </p:spPr>
        <p:txBody>
          <a:bodyPr>
            <a:noAutofit/>
          </a:bodyPr>
          <a:lstStyle/>
          <a:p>
            <a:pPr>
              <a:defRPr sz="1350" b="1">
                <a:solidFill>
                  <a:srgbClr val="00868B"/>
                </a:solidFill>
                <a:latin typeface="Arial" panose="020B0604020202020204"/>
                <a:ea typeface="Arial" panose="020B0604020202020204"/>
                <a:cs typeface="Arial" panose="020B0604020202020204"/>
              </a:defRPr>
            </a:pPr>
            <a:r>
              <a:rPr sz="1350" b="1">
                <a:solidFill>
                  <a:srgbClr val="00868B"/>
                </a:solidFill>
                <a:latin typeface="Arial" panose="020B0604020202020204"/>
                <a:ea typeface="Arial" panose="020B0604020202020204"/>
                <a:cs typeface="Arial" panose="020B0604020202020204"/>
              </a:rPr>
              <a:t>CONSULTANT</a:t>
            </a:r>
            <a:endParaRPr sz="1350" b="1">
              <a:solidFill>
                <a:srgbClr val="00868B"/>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5086350" y="2238375"/>
            <a:ext cx="2019300" cy="952500"/>
          </a:xfrm>
          <a:prstGeom prst="rect">
            <a:avLst/>
          </a:prstGeom>
          <a:solidFill>
            <a:srgbClr val="FFFFFF"/>
          </a:solidFill>
          <a:ln w="9525">
            <a:solidFill>
              <a:srgbClr val="00868B"/>
            </a:solidFill>
          </a:ln>
        </p:spPr>
      </p:sp>
      <p:sp>
        <p:nvSpPr>
          <p:cNvPr id="15" name="矩形 14"/>
          <p:cNvSpPr>
            <a:spLocks noGrp="1"/>
          </p:cNvSpPr>
          <p:nvPr/>
        </p:nvSpPr>
        <p:spPr>
          <a:xfrm>
            <a:off x="5162550" y="2438400"/>
            <a:ext cx="1866900" cy="666750"/>
          </a:xfrm>
          <a:prstGeom prst="rect">
            <a:avLst/>
          </a:prstGeom>
          <a:noFill/>
          <a:ln w="0">
            <a:noFill/>
          </a:ln>
        </p:spPr>
        <p:txBody>
          <a:bodyPr>
            <a:noAutofit/>
          </a:bodyPr>
          <a:lstStyle/>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Clinically</a:t>
            </a:r>
            <a:endParaRPr sz="1725" b="1">
              <a:solidFill>
                <a:srgbClr val="19364B"/>
              </a:solidFill>
              <a:latin typeface="Arial" panose="020B0604020202020204"/>
              <a:ea typeface="Arial" panose="020B0604020202020204"/>
              <a:cs typeface="Arial" panose="020B0604020202020204"/>
            </a:endParaRPr>
          </a:p>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approve</a:t>
            </a:r>
            <a:endParaRPr sz="1725" b="1">
              <a:solidFill>
                <a:srgbClr val="19364B"/>
              </a:solidFill>
              <a:latin typeface="Arial" panose="020B0604020202020204"/>
              <a:ea typeface="Arial" panose="020B0604020202020204"/>
              <a:cs typeface="Arial" panose="020B0604020202020204"/>
            </a:endParaRPr>
          </a:p>
        </p:txBody>
      </p:sp>
      <p:sp>
        <p:nvSpPr>
          <p:cNvPr id="16" name="右箭头 15"/>
          <p:cNvSpPr>
            <a:spLocks noGrp="1"/>
          </p:cNvSpPr>
          <p:nvPr/>
        </p:nvSpPr>
        <p:spPr>
          <a:xfrm>
            <a:off x="7105650" y="2647950"/>
            <a:ext cx="228600" cy="142875"/>
          </a:xfrm>
          <a:prstGeom prst="rightArrow">
            <a:avLst/>
          </a:prstGeom>
          <a:solidFill>
            <a:srgbClr val="00868B"/>
          </a:solidFill>
          <a:ln w="0">
            <a:noFill/>
          </a:ln>
        </p:spPr>
      </p:sp>
      <p:sp>
        <p:nvSpPr>
          <p:cNvPr id="17" name="矩形 16"/>
          <p:cNvSpPr>
            <a:spLocks noGrp="1"/>
          </p:cNvSpPr>
          <p:nvPr/>
        </p:nvSpPr>
        <p:spPr>
          <a:xfrm>
            <a:off x="7334250" y="1847850"/>
            <a:ext cx="2047875" cy="285750"/>
          </a:xfrm>
          <a:prstGeom prst="rect">
            <a:avLst/>
          </a:prstGeom>
          <a:noFill/>
          <a:ln w="0">
            <a:noFill/>
          </a:ln>
        </p:spPr>
        <p:txBody>
          <a:bodyPr>
            <a:noAutofit/>
          </a:bodyPr>
          <a:lstStyle/>
          <a:p>
            <a:pPr>
              <a:defRPr sz="1350" b="1">
                <a:solidFill>
                  <a:srgbClr val="00868B"/>
                </a:solidFill>
                <a:latin typeface="Arial" panose="020B0604020202020204"/>
                <a:ea typeface="Arial" panose="020B0604020202020204"/>
                <a:cs typeface="Arial" panose="020B0604020202020204"/>
              </a:defRPr>
            </a:pPr>
            <a:r>
              <a:rPr sz="1350" b="1">
                <a:solidFill>
                  <a:srgbClr val="00868B"/>
                </a:solidFill>
                <a:latin typeface="Arial" panose="020B0604020202020204"/>
                <a:ea typeface="Arial" panose="020B0604020202020204"/>
                <a:cs typeface="Arial" panose="020B0604020202020204"/>
              </a:rPr>
              <a:t>SECRETARY</a:t>
            </a:r>
            <a:endParaRPr sz="1350" b="1">
              <a:solidFill>
                <a:srgbClr val="00868B"/>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7334250" y="2238375"/>
            <a:ext cx="2019300" cy="952500"/>
          </a:xfrm>
          <a:prstGeom prst="rect">
            <a:avLst/>
          </a:prstGeom>
          <a:solidFill>
            <a:srgbClr val="FFFFFF"/>
          </a:solidFill>
          <a:ln w="9525">
            <a:solidFill>
              <a:srgbClr val="00868B"/>
            </a:solidFill>
          </a:ln>
        </p:spPr>
      </p:sp>
      <p:sp>
        <p:nvSpPr>
          <p:cNvPr id="19" name="矩形 18"/>
          <p:cNvSpPr>
            <a:spLocks noGrp="1"/>
          </p:cNvSpPr>
          <p:nvPr/>
        </p:nvSpPr>
        <p:spPr>
          <a:xfrm>
            <a:off x="7410450" y="2438400"/>
            <a:ext cx="1866900" cy="666750"/>
          </a:xfrm>
          <a:prstGeom prst="rect">
            <a:avLst/>
          </a:prstGeom>
          <a:noFill/>
          <a:ln w="0">
            <a:noFill/>
          </a:ln>
        </p:spPr>
        <p:txBody>
          <a:bodyPr>
            <a:noAutofit/>
          </a:bodyPr>
          <a:lstStyle/>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Recipients +</a:t>
            </a:r>
            <a:endParaRPr sz="1725" b="1">
              <a:solidFill>
                <a:srgbClr val="19364B"/>
              </a:solidFill>
              <a:latin typeface="Arial" panose="020B0604020202020204"/>
              <a:ea typeface="Arial" panose="020B0604020202020204"/>
              <a:cs typeface="Arial" panose="020B0604020202020204"/>
            </a:endParaRPr>
          </a:p>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admin checks</a:t>
            </a:r>
            <a:endParaRPr sz="1725" b="1">
              <a:solidFill>
                <a:srgbClr val="19364B"/>
              </a:solidFill>
              <a:latin typeface="Arial" panose="020B0604020202020204"/>
              <a:ea typeface="Arial" panose="020B0604020202020204"/>
              <a:cs typeface="Arial" panose="020B0604020202020204"/>
            </a:endParaRPr>
          </a:p>
        </p:txBody>
      </p:sp>
      <p:sp>
        <p:nvSpPr>
          <p:cNvPr id="20" name="右箭头 19"/>
          <p:cNvSpPr>
            <a:spLocks noGrp="1"/>
          </p:cNvSpPr>
          <p:nvPr/>
        </p:nvSpPr>
        <p:spPr>
          <a:xfrm>
            <a:off x="9353550" y="2647950"/>
            <a:ext cx="228600" cy="142875"/>
          </a:xfrm>
          <a:prstGeom prst="rightArrow">
            <a:avLst/>
          </a:prstGeom>
          <a:solidFill>
            <a:srgbClr val="00868B"/>
          </a:solidFill>
          <a:ln w="0">
            <a:noFill/>
          </a:ln>
        </p:spPr>
      </p:sp>
      <p:sp>
        <p:nvSpPr>
          <p:cNvPr id="21" name="矩形 20"/>
          <p:cNvSpPr>
            <a:spLocks noGrp="1"/>
          </p:cNvSpPr>
          <p:nvPr/>
        </p:nvSpPr>
        <p:spPr>
          <a:xfrm>
            <a:off x="9582150" y="1847850"/>
            <a:ext cx="2047875" cy="285750"/>
          </a:xfrm>
          <a:prstGeom prst="rect">
            <a:avLst/>
          </a:prstGeom>
          <a:noFill/>
          <a:ln w="0">
            <a:noFill/>
          </a:ln>
        </p:spPr>
        <p:txBody>
          <a:bodyPr>
            <a:noAutofit/>
          </a:bodyPr>
          <a:lstStyle/>
          <a:p>
            <a:pPr>
              <a:defRPr sz="1350" b="1">
                <a:solidFill>
                  <a:srgbClr val="00868B"/>
                </a:solidFill>
                <a:latin typeface="Arial" panose="020B0604020202020204"/>
                <a:ea typeface="Arial" panose="020B0604020202020204"/>
                <a:cs typeface="Arial" panose="020B0604020202020204"/>
              </a:defRPr>
            </a:pPr>
            <a:r>
              <a:rPr sz="1350" b="1">
                <a:solidFill>
                  <a:srgbClr val="00868B"/>
                </a:solidFill>
                <a:latin typeface="Arial" panose="020B0604020202020204"/>
                <a:ea typeface="Arial" panose="020B0604020202020204"/>
                <a:cs typeface="Arial" panose="020B0604020202020204"/>
              </a:rPr>
              <a:t>JAVA WORKER</a:t>
            </a:r>
            <a:endParaRPr sz="1350" b="1">
              <a:solidFill>
                <a:srgbClr val="00868B"/>
              </a:solidFill>
              <a:latin typeface="Arial" panose="020B0604020202020204"/>
              <a:ea typeface="Arial" panose="020B0604020202020204"/>
              <a:cs typeface="Arial" panose="020B0604020202020204"/>
            </a:endParaRPr>
          </a:p>
        </p:txBody>
      </p:sp>
      <p:sp>
        <p:nvSpPr>
          <p:cNvPr id="22" name="矩形 21"/>
          <p:cNvSpPr>
            <a:spLocks noGrp="1"/>
          </p:cNvSpPr>
          <p:nvPr/>
        </p:nvSpPr>
        <p:spPr>
          <a:xfrm>
            <a:off x="9582150" y="2238375"/>
            <a:ext cx="2019300" cy="952500"/>
          </a:xfrm>
          <a:prstGeom prst="rect">
            <a:avLst/>
          </a:prstGeom>
          <a:solidFill>
            <a:srgbClr val="FFFFFF"/>
          </a:solidFill>
          <a:ln w="9525">
            <a:solidFill>
              <a:srgbClr val="00868B"/>
            </a:solidFill>
          </a:ln>
        </p:spPr>
      </p:sp>
      <p:sp>
        <p:nvSpPr>
          <p:cNvPr id="23" name="矩形 22"/>
          <p:cNvSpPr>
            <a:spLocks noGrp="1"/>
          </p:cNvSpPr>
          <p:nvPr/>
        </p:nvSpPr>
        <p:spPr>
          <a:xfrm>
            <a:off x="9658350" y="2438400"/>
            <a:ext cx="1866900" cy="666750"/>
          </a:xfrm>
          <a:prstGeom prst="rect">
            <a:avLst/>
          </a:prstGeom>
          <a:noFill/>
          <a:ln w="0">
            <a:noFill/>
          </a:ln>
        </p:spPr>
        <p:txBody>
          <a:bodyPr>
            <a:noAutofit/>
          </a:bodyPr>
          <a:lstStyle/>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Simulated</a:t>
            </a:r>
            <a:endParaRPr sz="1725" b="1">
              <a:solidFill>
                <a:srgbClr val="19364B"/>
              </a:solidFill>
              <a:latin typeface="Arial" panose="020B0604020202020204"/>
              <a:ea typeface="Arial" panose="020B0604020202020204"/>
              <a:cs typeface="Arial" panose="020B0604020202020204"/>
            </a:endParaRPr>
          </a:p>
          <a:p>
            <a:pPr>
              <a:defRPr sz="1725" b="1">
                <a:solidFill>
                  <a:srgbClr val="19364B"/>
                </a:solidFill>
                <a:latin typeface="Arial" panose="020B0604020202020204"/>
                <a:ea typeface="Arial" panose="020B0604020202020204"/>
                <a:cs typeface="Arial" panose="020B0604020202020204"/>
              </a:defRPr>
            </a:pPr>
            <a:r>
              <a:rPr sz="1725" b="1">
                <a:solidFill>
                  <a:srgbClr val="19364B"/>
                </a:solidFill>
                <a:latin typeface="Arial" panose="020B0604020202020204"/>
                <a:ea typeface="Arial" panose="020B0604020202020204"/>
                <a:cs typeface="Arial" panose="020B0604020202020204"/>
              </a:rPr>
              <a:t>dispatch</a:t>
            </a:r>
            <a:endParaRPr sz="1725" b="1">
              <a:solidFill>
                <a:srgbClr val="19364B"/>
              </a:solidFill>
              <a:latin typeface="Arial" panose="020B0604020202020204"/>
              <a:ea typeface="Arial" panose="020B0604020202020204"/>
              <a:cs typeface="Arial" panose="020B0604020202020204"/>
            </a:endParaRPr>
          </a:p>
        </p:txBody>
      </p:sp>
      <p:sp>
        <p:nvSpPr>
          <p:cNvPr id="24" name="矩形 23"/>
          <p:cNvSpPr>
            <a:spLocks noGrp="1"/>
          </p:cNvSpPr>
          <p:nvPr/>
        </p:nvSpPr>
        <p:spPr>
          <a:xfrm>
            <a:off x="590550" y="3486150"/>
            <a:ext cx="10953750" cy="381000"/>
          </a:xfrm>
          <a:prstGeom prst="rect">
            <a:avLst/>
          </a:prstGeom>
          <a:noFill/>
          <a:ln w="0">
            <a:noFill/>
          </a:ln>
        </p:spPr>
        <p:txBody>
          <a:bodyPr>
            <a:noAutofit/>
          </a:bodyPr>
          <a:lstStyle/>
          <a:p>
            <a:pPr>
              <a:defRPr sz="2025" b="1">
                <a:solidFill>
                  <a:srgbClr val="00868B"/>
                </a:solidFill>
                <a:latin typeface="Arial" panose="020B0604020202020204"/>
                <a:ea typeface="Arial" panose="020B0604020202020204"/>
                <a:cs typeface="Arial" panose="020B0604020202020204"/>
              </a:defRPr>
            </a:pPr>
            <a:r>
              <a:rPr sz="2025" b="1">
                <a:solidFill>
                  <a:srgbClr val="00868B"/>
                </a:solidFill>
                <a:latin typeface="Arial" panose="020B0604020202020204"/>
                <a:ea typeface="Arial" panose="020B0604020202020204"/>
                <a:cs typeface="Arial" panose="020B0604020202020204"/>
              </a:rPr>
              <a:t>Dispatch requires clinical approval AND both administrative checks.</a:t>
            </a:r>
            <a:endParaRPr sz="2025" b="1">
              <a:solidFill>
                <a:srgbClr val="00868B"/>
              </a:solidFill>
              <a:latin typeface="Arial" panose="020B0604020202020204"/>
              <a:ea typeface="Arial" panose="020B0604020202020204"/>
              <a:cs typeface="Arial" panose="020B0604020202020204"/>
            </a:endParaRPr>
          </a:p>
        </p:txBody>
      </p:sp>
      <p:sp>
        <p:nvSpPr>
          <p:cNvPr id="25" name="矩形 24"/>
          <p:cNvSpPr>
            <a:spLocks noGrp="1"/>
          </p:cNvSpPr>
          <p:nvPr/>
        </p:nvSpPr>
        <p:spPr>
          <a:xfrm>
            <a:off x="590550" y="4400550"/>
            <a:ext cx="10668000" cy="457200"/>
          </a:xfrm>
          <a:prstGeom prst="rect">
            <a:avLst/>
          </a:prstGeom>
          <a:noFill/>
          <a:ln w="0">
            <a:noFill/>
          </a:ln>
        </p:spPr>
        <p:txBody>
          <a:bodyPr>
            <a:noAutofit/>
          </a:bodyPr>
          <a:lstStyle/>
          <a:p>
            <a:pPr>
              <a:defRPr sz="2250" b="1">
                <a:solidFill>
                  <a:srgbClr val="19364B"/>
                </a:solidFill>
                <a:latin typeface="Arial" panose="020B0604020202020204"/>
                <a:ea typeface="Arial" panose="020B0604020202020204"/>
                <a:cs typeface="Arial" panose="020B0604020202020204"/>
              </a:defRPr>
            </a:pPr>
            <a:r>
              <a:rPr sz="2250" b="1">
                <a:solidFill>
                  <a:srgbClr val="19364B"/>
                </a:solidFill>
                <a:latin typeface="Arial" panose="020B0604020202020204"/>
                <a:ea typeface="Arial" panose="020B0604020202020204"/>
                <a:cs typeface="Arial" panose="020B0604020202020204"/>
              </a:rPr>
              <a:t>Clinical decisions stay with the Consultant.</a:t>
            </a:r>
            <a:endParaRPr sz="2250" b="1">
              <a:solidFill>
                <a:srgbClr val="19364B"/>
              </a:solidFill>
              <a:latin typeface="Arial" panose="020B0604020202020204"/>
              <a:ea typeface="Arial" panose="020B0604020202020204"/>
              <a:cs typeface="Arial" panose="020B0604020202020204"/>
            </a:endParaRPr>
          </a:p>
        </p:txBody>
      </p:sp>
      <p:sp>
        <p:nvSpPr>
          <p:cNvPr id="26" name="矩形 25"/>
          <p:cNvSpPr>
            <a:spLocks noGrp="1"/>
          </p:cNvSpPr>
          <p:nvPr/>
        </p:nvSpPr>
        <p:spPr>
          <a:xfrm>
            <a:off x="590550" y="5114925"/>
            <a:ext cx="10668000" cy="457200"/>
          </a:xfrm>
          <a:prstGeom prst="rect">
            <a:avLst/>
          </a:prstGeom>
          <a:noFill/>
          <a:ln w="0">
            <a:noFill/>
          </a:ln>
        </p:spPr>
        <p:txBody>
          <a:bodyPr>
            <a:noAutofit/>
          </a:bodyPr>
          <a:lstStyle/>
          <a:p>
            <a:pPr>
              <a:defRPr sz="2250" b="0">
                <a:solidFill>
                  <a:srgbClr val="587080"/>
                </a:solidFill>
                <a:latin typeface="Arial" panose="020B0604020202020204"/>
                <a:ea typeface="Arial" panose="020B0604020202020204"/>
                <a:cs typeface="Arial" panose="020B0604020202020204"/>
              </a:defRPr>
            </a:pPr>
            <a:r>
              <a:rPr sz="2250" b="0">
                <a:solidFill>
                  <a:srgbClr val="587080"/>
                </a:solidFill>
                <a:latin typeface="Arial" panose="020B0604020202020204"/>
                <a:ea typeface="Arial" panose="020B0604020202020204"/>
                <a:cs typeface="Arial" panose="020B0604020202020204"/>
              </a:rPr>
              <a:t>Successful dispatch cancels remaining monitoring.</a:t>
            </a:r>
            <a:endParaRPr sz="2250" b="0">
              <a:solidFill>
                <a:srgbClr val="587080"/>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a:spLocks noGrp="1"/>
          </p:cNvSpPr>
          <p:nvPr/>
        </p:nvSpPr>
        <p:spPr>
          <a:xfrm>
            <a:off x="571500" y="381000"/>
            <a:ext cx="11049000" cy="552450"/>
          </a:xfrm>
          <a:prstGeom prst="rect">
            <a:avLst/>
          </a:prstGeom>
          <a:noFill/>
          <a:ln w="0">
            <a:noFill/>
          </a:ln>
        </p:spPr>
        <p:txBody>
          <a:bodyPr>
            <a:noAutofit/>
          </a:bodyPr>
          <a:lstStyle/>
          <a:p>
            <a:pPr>
              <a:defRPr sz="3150" b="1">
                <a:solidFill>
                  <a:srgbClr val="19364B"/>
                </a:solidFill>
                <a:latin typeface="Arial" panose="020B0604020202020204"/>
                <a:ea typeface="Arial" panose="020B0604020202020204"/>
                <a:cs typeface="Arial" panose="020B0604020202020204"/>
              </a:defRPr>
            </a:pPr>
            <a:r>
              <a:rPr sz="3150" b="1">
                <a:solidFill>
                  <a:srgbClr val="19364B"/>
                </a:solidFill>
                <a:latin typeface="Arial" panose="020B0604020202020204"/>
                <a:ea typeface="Arial" panose="020B0604020202020204"/>
                <a:cs typeface="Arial" panose="020B0604020202020204"/>
              </a:rPr>
              <a:t>Rework and delay monitoring</a:t>
            </a:r>
            <a:endParaRPr sz="3150" b="1">
              <a:solidFill>
                <a:srgbClr val="1936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590550" y="1000125"/>
            <a:ext cx="11049000" cy="381000"/>
          </a:xfrm>
          <a:prstGeom prst="rect">
            <a:avLst/>
          </a:prstGeom>
          <a:noFill/>
          <a:ln w="0">
            <a:noFill/>
          </a:ln>
        </p:spPr>
        <p:txBody>
          <a:bodyPr>
            <a:noAutofit/>
          </a:bodyPr>
          <a:lstStyle/>
          <a:p>
            <a:pPr>
              <a:defRPr sz="1650" b="0">
                <a:solidFill>
                  <a:srgbClr val="587080"/>
                </a:solidFill>
                <a:latin typeface="Arial" panose="020B0604020202020204"/>
                <a:ea typeface="Arial" panose="020B0604020202020204"/>
                <a:cs typeface="Arial" panose="020B0604020202020204"/>
              </a:defRPr>
            </a:pPr>
            <a:r>
              <a:rPr sz="1650" b="0">
                <a:solidFill>
                  <a:srgbClr val="587080"/>
                </a:solidFill>
                <a:latin typeface="Arial" panose="020B0604020202020204"/>
                <a:ea typeface="Arial" panose="020B0604020202020204"/>
                <a:cs typeface="Arial" panose="020B0604020202020204"/>
              </a:rPr>
              <a:t>Rework protects approval; timers monitor delays</a:t>
            </a:r>
            <a:endParaRPr sz="1650" b="0">
              <a:solidFill>
                <a:srgbClr val="587080"/>
              </a:solidFill>
              <a:latin typeface="Arial" panose="020B0604020202020204"/>
              <a:ea typeface="Arial" panose="020B0604020202020204"/>
              <a:cs typeface="Arial" panose="020B0604020202020204"/>
            </a:endParaRPr>
          </a:p>
        </p:txBody>
      </p:sp>
      <p:sp>
        <p:nvSpPr>
          <p:cNvPr id="3" name="矩形 2"/>
          <p:cNvSpPr>
            <a:spLocks noGrp="1"/>
          </p:cNvSpPr>
          <p:nvPr/>
        </p:nvSpPr>
        <p:spPr>
          <a:xfrm>
            <a:off x="590550" y="1543050"/>
            <a:ext cx="11010900" cy="19050"/>
          </a:xfrm>
          <a:prstGeom prst="rect">
            <a:avLst/>
          </a:prstGeom>
          <a:solidFill>
            <a:srgbClr val="CCD9E0"/>
          </a:solidFill>
          <a:ln w="9525">
            <a:solidFill>
              <a:srgbClr val="CCD9E0"/>
            </a:solidFill>
          </a:ln>
        </p:spPr>
      </p:sp>
      <p:sp>
        <p:nvSpPr>
          <p:cNvPr id="4" name="矩形 3"/>
          <p:cNvSpPr>
            <a:spLocks noGrp="1"/>
          </p:cNvSpPr>
          <p:nvPr/>
        </p:nvSpPr>
        <p:spPr>
          <a:xfrm>
            <a:off x="11125200" y="6372225"/>
            <a:ext cx="476250" cy="238125"/>
          </a:xfrm>
          <a:prstGeom prst="rect">
            <a:avLst/>
          </a:prstGeom>
          <a:noFill/>
          <a:ln w="0">
            <a:noFill/>
          </a:ln>
        </p:spPr>
        <p:txBody>
          <a:bodyPr>
            <a:noAutofit/>
          </a:bodyPr>
          <a:lstStyle/>
          <a:p>
            <a:pPr>
              <a:defRPr sz="1200" b="0">
                <a:solidFill>
                  <a:srgbClr val="587080"/>
                </a:solidFill>
                <a:latin typeface="Arial" panose="020B0604020202020204"/>
                <a:ea typeface="Arial" panose="020B0604020202020204"/>
                <a:cs typeface="Arial" panose="020B0604020202020204"/>
              </a:defRPr>
            </a:pPr>
            <a:r>
              <a:rPr sz="1200" b="0">
                <a:solidFill>
                  <a:srgbClr val="587080"/>
                </a:solidFill>
                <a:latin typeface="Arial" panose="020B0604020202020204"/>
                <a:ea typeface="Arial" panose="020B0604020202020204"/>
                <a:cs typeface="Arial" panose="020B0604020202020204"/>
              </a:rPr>
              <a:t>02</a:t>
            </a:r>
            <a:endParaRPr sz="1200" b="0">
              <a:solidFill>
                <a:srgbClr val="587080"/>
              </a:solidFill>
              <a:latin typeface="Arial" panose="020B0604020202020204"/>
              <a:ea typeface="Arial" panose="020B0604020202020204"/>
              <a:cs typeface="Arial" panose="020B0604020202020204"/>
            </a:endParaRPr>
          </a:p>
        </p:txBody>
      </p:sp>
      <p:sp>
        <p:nvSpPr>
          <p:cNvPr id="5" name="矩形 4"/>
          <p:cNvSpPr>
            <a:spLocks noGrp="1"/>
          </p:cNvSpPr>
          <p:nvPr/>
        </p:nvSpPr>
        <p:spPr>
          <a:xfrm>
            <a:off x="590550" y="1857375"/>
            <a:ext cx="5143500" cy="285750"/>
          </a:xfrm>
          <a:prstGeom prst="rect">
            <a:avLst/>
          </a:prstGeom>
          <a:noFill/>
          <a:ln w="0">
            <a:noFill/>
          </a:ln>
        </p:spPr>
        <p:txBody>
          <a:bodyPr>
            <a:noAutofit/>
          </a:bodyPr>
          <a:lstStyle/>
          <a:p>
            <a:pPr>
              <a:defRPr sz="1500" b="1">
                <a:solidFill>
                  <a:srgbClr val="00868B"/>
                </a:solidFill>
                <a:latin typeface="Arial" panose="020B0604020202020204"/>
                <a:ea typeface="Arial" panose="020B0604020202020204"/>
                <a:cs typeface="Arial" panose="020B0604020202020204"/>
              </a:defRPr>
            </a:pPr>
            <a:r>
              <a:rPr sz="1500" b="1">
                <a:solidFill>
                  <a:srgbClr val="00868B"/>
                </a:solidFill>
                <a:latin typeface="Arial" panose="020B0604020202020204"/>
                <a:ea typeface="Arial" panose="020B0604020202020204"/>
                <a:cs typeface="Arial" panose="020B0604020202020204"/>
              </a:rPr>
              <a:t>EXCEPTION CONTROLS</a:t>
            </a:r>
            <a:endParaRPr sz="1500" b="1">
              <a:solidFill>
                <a:srgbClr val="00868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590550" y="2314575"/>
            <a:ext cx="5019675" cy="333375"/>
          </a:xfrm>
          <a:prstGeom prst="rect">
            <a:avLst/>
          </a:prstGeom>
          <a:noFill/>
          <a:ln w="0">
            <a:noFill/>
          </a:ln>
        </p:spPr>
        <p:txBody>
          <a:bodyPr>
            <a:noAutofit/>
          </a:bodyPr>
          <a:lstStyle/>
          <a:p>
            <a:pPr>
              <a:defRPr sz="1875" b="1">
                <a:solidFill>
                  <a:srgbClr val="19364B"/>
                </a:solidFill>
                <a:latin typeface="Arial" panose="020B0604020202020204"/>
                <a:ea typeface="Arial" panose="020B0604020202020204"/>
                <a:cs typeface="Arial" panose="020B0604020202020204"/>
              </a:defRPr>
            </a:pPr>
            <a:r>
              <a:rPr sz="1875" b="1">
                <a:solidFill>
                  <a:srgbClr val="19364B"/>
                </a:solidFill>
                <a:latin typeface="Arial" panose="020B0604020202020204"/>
                <a:ea typeface="Arial" panose="020B0604020202020204"/>
                <a:cs typeface="Arial" panose="020B0604020202020204"/>
              </a:rPr>
              <a:t>Clinical rejection or concern</a:t>
            </a:r>
            <a:endParaRPr sz="1875" b="1">
              <a:solidFill>
                <a:srgbClr val="19364B"/>
              </a:solidFill>
              <a:latin typeface="Arial" panose="020B0604020202020204"/>
              <a:ea typeface="Arial" panose="020B0604020202020204"/>
              <a:cs typeface="Arial" panose="020B0604020202020204"/>
            </a:endParaRPr>
          </a:p>
        </p:txBody>
      </p:sp>
      <p:sp>
        <p:nvSpPr>
          <p:cNvPr id="7" name="矩形 6"/>
          <p:cNvSpPr>
            <a:spLocks noGrp="1"/>
          </p:cNvSpPr>
          <p:nvPr/>
        </p:nvSpPr>
        <p:spPr>
          <a:xfrm>
            <a:off x="590550" y="2714625"/>
            <a:ext cx="5019675" cy="619125"/>
          </a:xfrm>
          <a:prstGeom prst="rect">
            <a:avLst/>
          </a:prstGeom>
          <a:noFill/>
          <a:ln w="0">
            <a:noFill/>
          </a:ln>
        </p:spPr>
        <p:txBody>
          <a:bodyPr>
            <a:noAutofit/>
          </a:bodyPr>
          <a:lstStyle/>
          <a:p>
            <a:pPr>
              <a:defRPr sz="1725" b="0">
                <a:solidFill>
                  <a:srgbClr val="587080"/>
                </a:solidFill>
                <a:latin typeface="Arial" panose="020B0604020202020204"/>
                <a:ea typeface="Arial" panose="020B0604020202020204"/>
                <a:cs typeface="Arial" panose="020B0604020202020204"/>
              </a:defRPr>
            </a:pPr>
            <a:r>
              <a:rPr sz="1725" b="0">
                <a:solidFill>
                  <a:srgbClr val="587080"/>
                </a:solidFill>
                <a:latin typeface="Arial" panose="020B0604020202020204"/>
                <a:ea typeface="Arial" panose="020B0604020202020204"/>
                <a:cs typeface="Arial" panose="020B0604020202020204"/>
              </a:rPr>
              <a:t>Return to the Consultant.</a:t>
            </a:r>
            <a:endParaRPr sz="1725" b="0">
              <a:solidFill>
                <a:srgbClr val="587080"/>
              </a:solidFill>
              <a:latin typeface="Arial" panose="020B0604020202020204"/>
              <a:ea typeface="Arial" panose="020B0604020202020204"/>
              <a:cs typeface="Arial" panose="020B0604020202020204"/>
            </a:endParaRPr>
          </a:p>
        </p:txBody>
      </p:sp>
      <p:sp>
        <p:nvSpPr>
          <p:cNvPr id="8" name="矩形 7"/>
          <p:cNvSpPr>
            <a:spLocks noGrp="1"/>
          </p:cNvSpPr>
          <p:nvPr/>
        </p:nvSpPr>
        <p:spPr>
          <a:xfrm>
            <a:off x="590550" y="3390900"/>
            <a:ext cx="5019675" cy="333375"/>
          </a:xfrm>
          <a:prstGeom prst="rect">
            <a:avLst/>
          </a:prstGeom>
          <a:noFill/>
          <a:ln w="0">
            <a:noFill/>
          </a:ln>
        </p:spPr>
        <p:txBody>
          <a:bodyPr>
            <a:noAutofit/>
          </a:bodyPr>
          <a:lstStyle/>
          <a:p>
            <a:pPr>
              <a:defRPr sz="1875" b="1">
                <a:solidFill>
                  <a:srgbClr val="19364B"/>
                </a:solidFill>
                <a:latin typeface="Arial" panose="020B0604020202020204"/>
                <a:ea typeface="Arial" panose="020B0604020202020204"/>
                <a:cs typeface="Arial" panose="020B0604020202020204"/>
              </a:defRPr>
            </a:pPr>
            <a:r>
              <a:rPr sz="1875" b="1">
                <a:solidFill>
                  <a:srgbClr val="19364B"/>
                </a:solidFill>
                <a:latin typeface="Arial" panose="020B0604020202020204"/>
                <a:ea typeface="Arial" panose="020B0604020202020204"/>
                <a:cs typeface="Arial" panose="020B0604020202020204"/>
              </a:rPr>
              <a:t>Incomplete admin checks</a:t>
            </a:r>
            <a:endParaRPr sz="1875" b="1">
              <a:solidFill>
                <a:srgbClr val="19364B"/>
              </a:solidFill>
              <a:latin typeface="Arial" panose="020B0604020202020204"/>
              <a:ea typeface="Arial" panose="020B0604020202020204"/>
              <a:cs typeface="Arial" panose="020B0604020202020204"/>
            </a:endParaRPr>
          </a:p>
        </p:txBody>
      </p:sp>
      <p:sp>
        <p:nvSpPr>
          <p:cNvPr id="9" name="矩形 8"/>
          <p:cNvSpPr>
            <a:spLocks noGrp="1"/>
          </p:cNvSpPr>
          <p:nvPr/>
        </p:nvSpPr>
        <p:spPr>
          <a:xfrm>
            <a:off x="590550" y="3790950"/>
            <a:ext cx="5019675" cy="619125"/>
          </a:xfrm>
          <a:prstGeom prst="rect">
            <a:avLst/>
          </a:prstGeom>
          <a:noFill/>
          <a:ln w="0">
            <a:noFill/>
          </a:ln>
        </p:spPr>
        <p:txBody>
          <a:bodyPr>
            <a:noAutofit/>
          </a:bodyPr>
          <a:lstStyle/>
          <a:p>
            <a:pPr>
              <a:defRPr sz="1725" b="0">
                <a:solidFill>
                  <a:srgbClr val="587080"/>
                </a:solidFill>
                <a:latin typeface="Arial" panose="020B0604020202020204"/>
                <a:ea typeface="Arial" panose="020B0604020202020204"/>
                <a:cs typeface="Arial" panose="020B0604020202020204"/>
              </a:defRPr>
            </a:pPr>
            <a:r>
              <a:rPr sz="1725" b="0">
                <a:solidFill>
                  <a:srgbClr val="587080"/>
                </a:solidFill>
                <a:latin typeface="Arial" panose="020B0604020202020204"/>
                <a:ea typeface="Arial" panose="020B0604020202020204"/>
                <a:cs typeface="Arial" panose="020B0604020202020204"/>
              </a:rPr>
              <a:t>Return to the Secretary.</a:t>
            </a:r>
            <a:endParaRPr sz="1725" b="0">
              <a:solidFill>
                <a:srgbClr val="587080"/>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590550" y="4467225"/>
            <a:ext cx="5019675" cy="333375"/>
          </a:xfrm>
          <a:prstGeom prst="rect">
            <a:avLst/>
          </a:prstGeom>
          <a:noFill/>
          <a:ln w="0">
            <a:noFill/>
          </a:ln>
        </p:spPr>
        <p:txBody>
          <a:bodyPr>
            <a:noAutofit/>
          </a:bodyPr>
          <a:lstStyle/>
          <a:p>
            <a:pPr>
              <a:defRPr sz="1875" b="1">
                <a:solidFill>
                  <a:srgbClr val="19364B"/>
                </a:solidFill>
                <a:latin typeface="Arial" panose="020B0604020202020204"/>
                <a:ea typeface="Arial" panose="020B0604020202020204"/>
                <a:cs typeface="Arial" panose="020B0604020202020204"/>
              </a:defRPr>
            </a:pPr>
            <a:r>
              <a:rPr sz="1875" b="1">
                <a:solidFill>
                  <a:srgbClr val="19364B"/>
                </a:solidFill>
                <a:latin typeface="Arial" panose="020B0604020202020204"/>
                <a:ea typeface="Arial" panose="020B0604020202020204"/>
                <a:cs typeface="Arial" panose="020B0604020202020204"/>
              </a:rPr>
              <a:t>Dispatch rejected</a:t>
            </a:r>
            <a:endParaRPr sz="1875" b="1">
              <a:solidFill>
                <a:srgbClr val="19364B"/>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590550" y="4867275"/>
            <a:ext cx="5019675" cy="619125"/>
          </a:xfrm>
          <a:prstGeom prst="rect">
            <a:avLst/>
          </a:prstGeom>
          <a:noFill/>
          <a:ln w="0">
            <a:noFill/>
          </a:ln>
        </p:spPr>
        <p:txBody>
          <a:bodyPr>
            <a:noAutofit/>
          </a:bodyPr>
          <a:lstStyle/>
          <a:p>
            <a:pPr>
              <a:defRPr sz="1725" b="0">
                <a:solidFill>
                  <a:srgbClr val="587080"/>
                </a:solidFill>
                <a:latin typeface="Arial" panose="020B0604020202020204"/>
                <a:ea typeface="Arial" panose="020B0604020202020204"/>
                <a:cs typeface="Arial" panose="020B0604020202020204"/>
              </a:defRPr>
            </a:pPr>
            <a:r>
              <a:rPr sz="1725" b="0">
                <a:solidFill>
                  <a:srgbClr val="587080"/>
                </a:solidFill>
                <a:latin typeface="Arial" panose="020B0604020202020204"/>
                <a:ea typeface="Arial" panose="020B0604020202020204"/>
                <a:cs typeface="Arial" panose="020B0604020202020204"/>
              </a:rPr>
              <a:t>Human resolution; authorised retry only.</a:t>
            </a:r>
            <a:endParaRPr sz="1725" b="0">
              <a:solidFill>
                <a:srgbClr val="587080"/>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6200775" y="1857375"/>
            <a:ext cx="5381625" cy="285750"/>
          </a:xfrm>
          <a:prstGeom prst="rect">
            <a:avLst/>
          </a:prstGeom>
          <a:noFill/>
          <a:ln w="0">
            <a:noFill/>
          </a:ln>
        </p:spPr>
        <p:txBody>
          <a:bodyPr>
            <a:noAutofit/>
          </a:bodyPr>
          <a:lstStyle/>
          <a:p>
            <a:pPr>
              <a:defRPr sz="1500" b="1">
                <a:solidFill>
                  <a:srgbClr val="00868B"/>
                </a:solidFill>
                <a:latin typeface="Arial" panose="020B0604020202020204"/>
                <a:ea typeface="Arial" panose="020B0604020202020204"/>
                <a:cs typeface="Arial" panose="020B0604020202020204"/>
              </a:defRPr>
            </a:pPr>
            <a:r>
              <a:rPr sz="1500" b="1">
                <a:solidFill>
                  <a:srgbClr val="00868B"/>
                </a:solidFill>
                <a:latin typeface="Arial" panose="020B0604020202020204"/>
                <a:ea typeface="Arial" panose="020B0604020202020204"/>
                <a:cs typeface="Arial" panose="020B0604020202020204"/>
              </a:rPr>
              <a:t>PARALLEL TIMER ROUTES</a:t>
            </a:r>
            <a:endParaRPr sz="1500" b="1">
              <a:solidFill>
                <a:srgbClr val="00868B"/>
              </a:solidFill>
              <a:latin typeface="Arial" panose="020B0604020202020204"/>
              <a:ea typeface="Arial" panose="020B0604020202020204"/>
              <a:cs typeface="Arial" panose="020B0604020202020204"/>
            </a:endParaRPr>
          </a:p>
        </p:txBody>
      </p:sp>
      <p:graphicFrame>
        <p:nvGraphicFramePr>
          <p:cNvPr id="28" name="表格 27"/>
          <p:cNvGraphicFramePr/>
          <p:nvPr/>
        </p:nvGraphicFramePr>
        <p:xfrm>
          <a:off x="6191250" y="2314575"/>
          <a:ext cx="5400675" cy="2390775"/>
        </p:xfrm>
        <a:graphic>
          <a:graphicData uri="http://schemas.openxmlformats.org/drawingml/2006/table">
            <a:tbl>
              <a:tblPr/>
              <a:tblGrid>
                <a:gridCol w="2038350"/>
                <a:gridCol w="2276475"/>
                <a:gridCol w="1085850"/>
              </a:tblGrid>
              <a:tr h="466725">
                <a:tc>
                  <a:txBody>
                    <a:bodyPr/>
                    <a:lstStyle/>
                    <a:p>
                      <a:r>
                        <a:rPr sz="1500" b="1">
                          <a:solidFill>
                            <a:srgbClr val="FFFFFF"/>
                          </a:solidFill>
                          <a:latin typeface="Arial" panose="020B0604020202020204"/>
                          <a:ea typeface="Arial" panose="020B0604020202020204"/>
                          <a:cs typeface="Arial" panose="020B0604020202020204"/>
                        </a:rPr>
                        <a:t>Milestone</a:t>
                      </a:r>
                      <a:endParaRPr sz="1500" b="1">
                        <a:solidFill>
                          <a:srgbClr val="FFFFFF"/>
                        </a:solidFill>
                        <a:latin typeface="Arial" panose="020B0604020202020204"/>
                        <a:ea typeface="Arial" panose="020B0604020202020204"/>
                        <a:cs typeface="Arial" panose="020B0604020202020204"/>
                      </a:endParaRPr>
                    </a:p>
                  </a:txBody>
                  <a:tcPr>
                    <a:solidFill>
                      <a:srgbClr val="19364B"/>
                    </a:solidFill>
                  </a:tcPr>
                </a:tc>
                <a:tc>
                  <a:txBody>
                    <a:bodyPr/>
                    <a:lstStyle/>
                    <a:p>
                      <a:r>
                        <a:rPr sz="1500" b="1">
                          <a:solidFill>
                            <a:srgbClr val="FFFFFF"/>
                          </a:solidFill>
                          <a:latin typeface="Arial" panose="020B0604020202020204"/>
                          <a:ea typeface="Arial" panose="020B0604020202020204"/>
                          <a:cs typeface="Arial" panose="020B0604020202020204"/>
                        </a:rPr>
                        <a:t>Business timing</a:t>
                      </a:r>
                      <a:endParaRPr sz="1500" b="1">
                        <a:solidFill>
                          <a:srgbClr val="FFFFFF"/>
                        </a:solidFill>
                        <a:latin typeface="Arial" panose="020B0604020202020204"/>
                        <a:ea typeface="Arial" panose="020B0604020202020204"/>
                        <a:cs typeface="Arial" panose="020B0604020202020204"/>
                      </a:endParaRPr>
                    </a:p>
                  </a:txBody>
                  <a:tcPr>
                    <a:solidFill>
                      <a:srgbClr val="19364B"/>
                    </a:solidFill>
                  </a:tcPr>
                </a:tc>
                <a:tc>
                  <a:txBody>
                    <a:bodyPr/>
                    <a:lstStyle/>
                    <a:p>
                      <a:r>
                        <a:rPr sz="1500" b="1">
                          <a:solidFill>
                            <a:srgbClr val="FFFFFF"/>
                          </a:solidFill>
                          <a:latin typeface="Arial" panose="020B0604020202020204"/>
                          <a:ea typeface="Arial" panose="020B0604020202020204"/>
                          <a:cs typeface="Arial" panose="020B0604020202020204"/>
                        </a:rPr>
                        <a:t>Demo</a:t>
                      </a:r>
                      <a:endParaRPr sz="1500" b="1">
                        <a:solidFill>
                          <a:srgbClr val="FFFFFF"/>
                        </a:solidFill>
                        <a:latin typeface="Arial" panose="020B0604020202020204"/>
                        <a:ea typeface="Arial" panose="020B0604020202020204"/>
                        <a:cs typeface="Arial" panose="020B0604020202020204"/>
                      </a:endParaRPr>
                    </a:p>
                  </a:txBody>
                  <a:tcPr>
                    <a:solidFill>
                      <a:srgbClr val="19364B"/>
                    </a:solidFill>
                  </a:tcPr>
                </a:tc>
              </a:tr>
              <a:tr h="638175">
                <a:tc>
                  <a:txBody>
                    <a:bodyPr/>
                    <a:lstStyle/>
                    <a:p>
                      <a:r>
                        <a:rPr sz="1425" b="0">
                          <a:solidFill>
                            <a:srgbClr val="19364B"/>
                          </a:solidFill>
                          <a:latin typeface="Arial" panose="020B0604020202020204"/>
                          <a:ea typeface="Arial" panose="020B0604020202020204"/>
                          <a:cs typeface="Arial" panose="020B0604020202020204"/>
                        </a:rPr>
                        <a:t>Weekly reminder</a:t>
                      </a:r>
                      <a:endParaRPr sz="1425" b="0">
                        <a:solidFill>
                          <a:srgbClr val="19364B"/>
                        </a:solidFill>
                        <a:latin typeface="Arial" panose="020B0604020202020204"/>
                        <a:ea typeface="Arial" panose="020B0604020202020204"/>
                        <a:cs typeface="Arial" panose="020B0604020202020204"/>
                      </a:endParaRPr>
                    </a:p>
                  </a:txBody>
                  <a:tcPr>
                    <a:solidFill>
                      <a:srgbClr val="FFFFFF"/>
                    </a:solidFill>
                  </a:tcPr>
                </a:tc>
                <a:tc>
                  <a:txBody>
                    <a:bodyPr/>
                    <a:lstStyle/>
                    <a:p>
                      <a:r>
                        <a:rPr sz="1425" b="0">
                          <a:solidFill>
                            <a:srgbClr val="19364B"/>
                          </a:solidFill>
                          <a:latin typeface="Arial" panose="020B0604020202020204"/>
                          <a:ea typeface="Arial" panose="020B0604020202020204"/>
                          <a:cs typeface="Arial" panose="020B0604020202020204"/>
                        </a:rPr>
                        <a:t>7 days; repeat weekly</a:t>
                      </a:r>
                      <a:endParaRPr sz="1425" b="0">
                        <a:solidFill>
                          <a:srgbClr val="19364B"/>
                        </a:solidFill>
                        <a:latin typeface="Arial" panose="020B0604020202020204"/>
                        <a:ea typeface="Arial" panose="020B0604020202020204"/>
                        <a:cs typeface="Arial" panose="020B0604020202020204"/>
                      </a:endParaRPr>
                    </a:p>
                  </a:txBody>
                  <a:tcPr>
                    <a:solidFill>
                      <a:srgbClr val="FFFFFF"/>
                    </a:solidFill>
                  </a:tcPr>
                </a:tc>
                <a:tc>
                  <a:txBody>
                    <a:bodyPr/>
                    <a:lstStyle/>
                    <a:p>
                      <a:r>
                        <a:rPr sz="1425" b="0">
                          <a:solidFill>
                            <a:srgbClr val="19364B"/>
                          </a:solidFill>
                          <a:latin typeface="Arial" panose="020B0604020202020204"/>
                          <a:ea typeface="Arial" panose="020B0604020202020204"/>
                          <a:cs typeface="Arial" panose="020B0604020202020204"/>
                        </a:rPr>
                        <a:t>10 s; repeat</a:t>
                      </a:r>
                      <a:endParaRPr sz="1425" b="0">
                        <a:solidFill>
                          <a:srgbClr val="19364B"/>
                        </a:solidFill>
                        <a:latin typeface="Arial" panose="020B0604020202020204"/>
                        <a:ea typeface="Arial" panose="020B0604020202020204"/>
                        <a:cs typeface="Arial" panose="020B0604020202020204"/>
                      </a:endParaRPr>
                    </a:p>
                  </a:txBody>
                  <a:tcPr>
                    <a:solidFill>
                      <a:srgbClr val="FFFFFF"/>
                    </a:solidFill>
                  </a:tcPr>
                </a:tc>
              </a:tr>
              <a:tr h="638175">
                <a:tc>
                  <a:txBody>
                    <a:bodyPr/>
                    <a:lstStyle/>
                    <a:p>
                      <a:r>
                        <a:rPr sz="1425" b="0">
                          <a:solidFill>
                            <a:srgbClr val="19364B"/>
                          </a:solidFill>
                          <a:latin typeface="Arial" panose="020B0604020202020204"/>
                          <a:ea typeface="Arial" panose="020B0604020202020204"/>
                          <a:cs typeface="Arial" panose="020B0604020202020204"/>
                        </a:rPr>
                        <a:t>Admin Manager</a:t>
                      </a:r>
                      <a:endParaRPr sz="1425" b="0">
                        <a:solidFill>
                          <a:srgbClr val="19364B"/>
                        </a:solidFill>
                        <a:latin typeface="Arial" panose="020B0604020202020204"/>
                        <a:ea typeface="Arial" panose="020B0604020202020204"/>
                        <a:cs typeface="Arial" panose="020B0604020202020204"/>
                      </a:endParaRPr>
                    </a:p>
                  </a:txBody>
                  <a:tcPr>
                    <a:solidFill>
                      <a:srgbClr val="EEF4F6"/>
                    </a:solidFill>
                  </a:tcPr>
                </a:tc>
                <a:tc>
                  <a:txBody>
                    <a:bodyPr/>
                    <a:lstStyle/>
                    <a:p>
                      <a:r>
                        <a:rPr sz="1425" b="0">
                          <a:solidFill>
                            <a:srgbClr val="19364B"/>
                          </a:solidFill>
                          <a:latin typeface="Arial" panose="020B0604020202020204"/>
                          <a:ea typeface="Arial" panose="020B0604020202020204"/>
                          <a:cs typeface="Arial" panose="020B0604020202020204"/>
                        </a:rPr>
                        <a:t>1 calendar month</a:t>
                      </a:r>
                      <a:endParaRPr sz="1425" b="0">
                        <a:solidFill>
                          <a:srgbClr val="19364B"/>
                        </a:solidFill>
                        <a:latin typeface="Arial" panose="020B0604020202020204"/>
                        <a:ea typeface="Arial" panose="020B0604020202020204"/>
                        <a:cs typeface="Arial" panose="020B0604020202020204"/>
                      </a:endParaRPr>
                    </a:p>
                  </a:txBody>
                  <a:tcPr>
                    <a:solidFill>
                      <a:srgbClr val="EEF4F6"/>
                    </a:solidFill>
                  </a:tcPr>
                </a:tc>
                <a:tc>
                  <a:txBody>
                    <a:bodyPr/>
                    <a:lstStyle/>
                    <a:p>
                      <a:r>
                        <a:rPr sz="1425" b="0">
                          <a:solidFill>
                            <a:srgbClr val="19364B"/>
                          </a:solidFill>
                          <a:latin typeface="Arial" panose="020B0604020202020204"/>
                          <a:ea typeface="Arial" panose="020B0604020202020204"/>
                          <a:cs typeface="Arial" panose="020B0604020202020204"/>
                        </a:rPr>
                        <a:t>20 s</a:t>
                      </a:r>
                      <a:endParaRPr sz="1425" b="0">
                        <a:solidFill>
                          <a:srgbClr val="19364B"/>
                        </a:solidFill>
                        <a:latin typeface="Arial" panose="020B0604020202020204"/>
                        <a:ea typeface="Arial" panose="020B0604020202020204"/>
                        <a:cs typeface="Arial" panose="020B0604020202020204"/>
                      </a:endParaRPr>
                    </a:p>
                  </a:txBody>
                  <a:tcPr>
                    <a:solidFill>
                      <a:srgbClr val="EEF4F6"/>
                    </a:solidFill>
                  </a:tcPr>
                </a:tc>
              </a:tr>
              <a:tr h="638175">
                <a:tc>
                  <a:txBody>
                    <a:bodyPr/>
                    <a:lstStyle/>
                    <a:p>
                      <a:r>
                        <a:rPr sz="1425" b="0">
                          <a:solidFill>
                            <a:srgbClr val="19364B"/>
                          </a:solidFill>
                          <a:latin typeface="Arial" panose="020B0604020202020204"/>
                          <a:ea typeface="Arial" panose="020B0604020202020204"/>
                          <a:cs typeface="Arial" panose="020B0604020202020204"/>
                        </a:rPr>
                        <a:t>Higher Management</a:t>
                      </a:r>
                      <a:endParaRPr sz="1425" b="0">
                        <a:solidFill>
                          <a:srgbClr val="19364B"/>
                        </a:solidFill>
                        <a:latin typeface="Arial" panose="020B0604020202020204"/>
                        <a:ea typeface="Arial" panose="020B0604020202020204"/>
                        <a:cs typeface="Arial" panose="020B0604020202020204"/>
                      </a:endParaRPr>
                    </a:p>
                  </a:txBody>
                  <a:tcPr>
                    <a:solidFill>
                      <a:srgbClr val="FFFFFF"/>
                    </a:solidFill>
                  </a:tcPr>
                </a:tc>
                <a:tc>
                  <a:txBody>
                    <a:bodyPr/>
                    <a:lstStyle/>
                    <a:p>
                      <a:r>
                        <a:rPr sz="1425" b="0">
                          <a:solidFill>
                            <a:srgbClr val="19364B"/>
                          </a:solidFill>
                          <a:latin typeface="Arial" panose="020B0604020202020204"/>
                          <a:ea typeface="Arial" panose="020B0604020202020204"/>
                          <a:cs typeface="Arial" panose="020B0604020202020204"/>
                        </a:rPr>
                        <a:t>3 calendar months</a:t>
                      </a:r>
                      <a:endParaRPr sz="1425" b="0">
                        <a:solidFill>
                          <a:srgbClr val="19364B"/>
                        </a:solidFill>
                        <a:latin typeface="Arial" panose="020B0604020202020204"/>
                        <a:ea typeface="Arial" panose="020B0604020202020204"/>
                        <a:cs typeface="Arial" panose="020B0604020202020204"/>
                      </a:endParaRPr>
                    </a:p>
                  </a:txBody>
                  <a:tcPr>
                    <a:solidFill>
                      <a:srgbClr val="FFFFFF"/>
                    </a:solidFill>
                  </a:tcPr>
                </a:tc>
                <a:tc>
                  <a:txBody>
                    <a:bodyPr/>
                    <a:lstStyle/>
                    <a:p>
                      <a:r>
                        <a:rPr sz="1425" b="0">
                          <a:solidFill>
                            <a:srgbClr val="19364B"/>
                          </a:solidFill>
                          <a:latin typeface="Arial" panose="020B0604020202020204"/>
                          <a:ea typeface="Arial" panose="020B0604020202020204"/>
                          <a:cs typeface="Arial" panose="020B0604020202020204"/>
                        </a:rPr>
                        <a:t>30 s</a:t>
                      </a:r>
                      <a:endParaRPr sz="1425" b="0">
                        <a:solidFill>
                          <a:srgbClr val="19364B"/>
                        </a:solidFill>
                        <a:latin typeface="Arial" panose="020B0604020202020204"/>
                        <a:ea typeface="Arial" panose="020B0604020202020204"/>
                        <a:cs typeface="Arial" panose="020B0604020202020204"/>
                      </a:endParaRPr>
                    </a:p>
                  </a:txBody>
                  <a:tcPr>
                    <a:solidFill>
                      <a:srgbClr val="FFFFFF"/>
                    </a:solidFill>
                  </a:tcPr>
                </a:tc>
              </a:tr>
            </a:tbl>
          </a:graphicData>
        </a:graphic>
      </p:graphicFrame>
      <p:sp>
        <p:nvSpPr>
          <p:cNvPr id="14" name="矩形 13"/>
          <p:cNvSpPr>
            <a:spLocks noGrp="1"/>
          </p:cNvSpPr>
          <p:nvPr/>
        </p:nvSpPr>
        <p:spPr>
          <a:xfrm>
            <a:off x="6200775" y="5000625"/>
            <a:ext cx="5381625" cy="666750"/>
          </a:xfrm>
          <a:prstGeom prst="rect">
            <a:avLst/>
          </a:prstGeom>
          <a:noFill/>
          <a:ln w="0">
            <a:noFill/>
          </a:ln>
        </p:spPr>
        <p:txBody>
          <a:bodyPr>
            <a:noAutofit/>
          </a:bodyPr>
          <a:lstStyle/>
          <a:p>
            <a:pPr>
              <a:defRPr sz="1725" b="0">
                <a:solidFill>
                  <a:srgbClr val="587080"/>
                </a:solidFill>
                <a:latin typeface="Arial" panose="020B0604020202020204"/>
                <a:ea typeface="Arial" panose="020B0604020202020204"/>
                <a:cs typeface="Arial" panose="020B0604020202020204"/>
              </a:defRPr>
            </a:pPr>
            <a:r>
              <a:rPr sz="1725" b="0">
                <a:solidFill>
                  <a:srgbClr val="587080"/>
                </a:solidFill>
                <a:latin typeface="Arial" panose="020B0604020202020204"/>
                <a:ea typeface="Arial" panose="020B0604020202020204"/>
                <a:cs typeface="Arial" panose="020B0604020202020204"/>
              </a:rPr>
              <a:t>Timers run in the Camunda engine.</a:t>
            </a:r>
            <a:endParaRPr sz="1725" b="0">
              <a:solidFill>
                <a:srgbClr val="587080"/>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590550" y="6115050"/>
            <a:ext cx="10287000" cy="476250"/>
          </a:xfrm>
          <a:prstGeom prst="rect">
            <a:avLst/>
          </a:prstGeom>
          <a:noFill/>
          <a:ln w="0">
            <a:noFill/>
          </a:ln>
        </p:spPr>
        <p:txBody>
          <a:bodyPr>
            <a:noAutofit/>
          </a:bodyPr>
          <a:lstStyle/>
          <a:p>
            <a:pPr>
              <a:defRPr sz="1500" b="0">
                <a:solidFill>
                  <a:srgbClr val="587080"/>
                </a:solidFill>
                <a:latin typeface="Arial" panose="020B0604020202020204"/>
                <a:ea typeface="Arial" panose="020B0604020202020204"/>
                <a:cs typeface="Arial" panose="020B0604020202020204"/>
              </a:defRPr>
            </a:pPr>
            <a:r>
              <a:rPr sz="1500" b="0">
                <a:solidFill>
                  <a:srgbClr val="587080"/>
                </a:solidFill>
                <a:latin typeface="Arial" panose="020B0604020202020204"/>
                <a:ea typeface="Arial" panose="020B0604020202020204"/>
                <a:cs typeface="Arial" panose="020B0604020202020204"/>
              </a:rPr>
              <a:t>Business timing is shortened for the demo.</a:t>
            </a:r>
            <a:endParaRPr sz="1500" b="0">
              <a:solidFill>
                <a:srgbClr val="587080"/>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a:spLocks noGrp="1"/>
          </p:cNvSpPr>
          <p:nvPr/>
        </p:nvSpPr>
        <p:spPr>
          <a:xfrm>
            <a:off x="571500" y="381000"/>
            <a:ext cx="11049000" cy="552450"/>
          </a:xfrm>
          <a:prstGeom prst="rect">
            <a:avLst/>
          </a:prstGeom>
          <a:noFill/>
          <a:ln w="0">
            <a:noFill/>
          </a:ln>
        </p:spPr>
        <p:txBody>
          <a:bodyPr>
            <a:noAutofit/>
          </a:bodyPr>
          <a:lstStyle/>
          <a:p>
            <a:pPr>
              <a:defRPr sz="3150" b="1">
                <a:solidFill>
                  <a:srgbClr val="19364B"/>
                </a:solidFill>
                <a:latin typeface="Arial" panose="020B0604020202020204"/>
                <a:ea typeface="Arial" panose="020B0604020202020204"/>
                <a:cs typeface="Arial" panose="020B0604020202020204"/>
              </a:defRPr>
            </a:pPr>
            <a:r>
              <a:rPr sz="3150" b="1">
                <a:solidFill>
                  <a:srgbClr val="19364B"/>
                </a:solidFill>
                <a:latin typeface="Arial" panose="020B0604020202020204"/>
                <a:ea typeface="Arial" panose="020B0604020202020204"/>
                <a:cs typeface="Arial" panose="020B0604020202020204"/>
              </a:rPr>
              <a:t>What I verified</a:t>
            </a:r>
            <a:endParaRPr sz="3150" b="1">
              <a:solidFill>
                <a:srgbClr val="1936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590550" y="1000125"/>
            <a:ext cx="11049000" cy="381000"/>
          </a:xfrm>
          <a:prstGeom prst="rect">
            <a:avLst/>
          </a:prstGeom>
          <a:noFill/>
          <a:ln w="0">
            <a:noFill/>
          </a:ln>
        </p:spPr>
        <p:txBody>
          <a:bodyPr>
            <a:noAutofit/>
          </a:bodyPr>
          <a:lstStyle/>
          <a:p>
            <a:pPr>
              <a:defRPr sz="1650" b="0">
                <a:solidFill>
                  <a:srgbClr val="587080"/>
                </a:solidFill>
                <a:latin typeface="Arial" panose="020B0604020202020204"/>
                <a:ea typeface="Arial" panose="020B0604020202020204"/>
                <a:cs typeface="Arial" panose="020B0604020202020204"/>
              </a:defRPr>
            </a:pPr>
            <a:r>
              <a:rPr sz="1650" b="0">
                <a:solidFill>
                  <a:srgbClr val="587080"/>
                </a:solidFill>
                <a:latin typeface="Arial" panose="020B0604020202020204"/>
                <a:ea typeface="Arial" panose="020B0604020202020204"/>
                <a:cs typeface="Arial" panose="020B0604020202020204"/>
              </a:rPr>
              <a:t>Local Camunda demonstration | 28 September 2026</a:t>
            </a:r>
            <a:endParaRPr sz="1650" b="0">
              <a:solidFill>
                <a:srgbClr val="587080"/>
              </a:solidFill>
              <a:latin typeface="Arial" panose="020B0604020202020204"/>
              <a:ea typeface="Arial" panose="020B0604020202020204"/>
              <a:cs typeface="Arial" panose="020B0604020202020204"/>
            </a:endParaRPr>
          </a:p>
        </p:txBody>
      </p:sp>
      <p:sp>
        <p:nvSpPr>
          <p:cNvPr id="3" name="矩形 2"/>
          <p:cNvSpPr>
            <a:spLocks noGrp="1"/>
          </p:cNvSpPr>
          <p:nvPr/>
        </p:nvSpPr>
        <p:spPr>
          <a:xfrm>
            <a:off x="590550" y="1543050"/>
            <a:ext cx="11010900" cy="19050"/>
          </a:xfrm>
          <a:prstGeom prst="rect">
            <a:avLst/>
          </a:prstGeom>
          <a:solidFill>
            <a:srgbClr val="CCD9E0"/>
          </a:solidFill>
          <a:ln w="9525">
            <a:solidFill>
              <a:srgbClr val="CCD9E0"/>
            </a:solidFill>
          </a:ln>
        </p:spPr>
      </p:sp>
      <p:sp>
        <p:nvSpPr>
          <p:cNvPr id="4" name="矩形 3"/>
          <p:cNvSpPr>
            <a:spLocks noGrp="1"/>
          </p:cNvSpPr>
          <p:nvPr/>
        </p:nvSpPr>
        <p:spPr>
          <a:xfrm>
            <a:off x="11125200" y="6372225"/>
            <a:ext cx="476250" cy="238125"/>
          </a:xfrm>
          <a:prstGeom prst="rect">
            <a:avLst/>
          </a:prstGeom>
          <a:noFill/>
          <a:ln w="0">
            <a:noFill/>
          </a:ln>
        </p:spPr>
        <p:txBody>
          <a:bodyPr>
            <a:noAutofit/>
          </a:bodyPr>
          <a:lstStyle/>
          <a:p>
            <a:pPr>
              <a:defRPr sz="1200" b="0">
                <a:solidFill>
                  <a:srgbClr val="587080"/>
                </a:solidFill>
                <a:latin typeface="Arial" panose="020B0604020202020204"/>
                <a:ea typeface="Arial" panose="020B0604020202020204"/>
                <a:cs typeface="Arial" panose="020B0604020202020204"/>
              </a:defRPr>
            </a:pPr>
            <a:r>
              <a:rPr sz="1200" b="0">
                <a:solidFill>
                  <a:srgbClr val="587080"/>
                </a:solidFill>
                <a:latin typeface="Arial" panose="020B0604020202020204"/>
                <a:ea typeface="Arial" panose="020B0604020202020204"/>
                <a:cs typeface="Arial" panose="020B0604020202020204"/>
              </a:rPr>
              <a:t>03</a:t>
            </a:r>
            <a:endParaRPr sz="1200" b="0">
              <a:solidFill>
                <a:srgbClr val="587080"/>
              </a:solidFill>
              <a:latin typeface="Arial" panose="020B0604020202020204"/>
              <a:ea typeface="Arial" panose="020B0604020202020204"/>
              <a:cs typeface="Arial" panose="020B0604020202020204"/>
            </a:endParaRPr>
          </a:p>
        </p:txBody>
      </p:sp>
      <p:sp>
        <p:nvSpPr>
          <p:cNvPr id="5" name="矩形 4"/>
          <p:cNvSpPr>
            <a:spLocks noGrp="1"/>
          </p:cNvSpPr>
          <p:nvPr/>
        </p:nvSpPr>
        <p:spPr>
          <a:xfrm>
            <a:off x="590550" y="1952625"/>
            <a:ext cx="1333500" cy="819150"/>
          </a:xfrm>
          <a:prstGeom prst="rect">
            <a:avLst/>
          </a:prstGeom>
          <a:noFill/>
          <a:ln w="0">
            <a:noFill/>
          </a:ln>
        </p:spPr>
        <p:txBody>
          <a:bodyPr>
            <a:noAutofit/>
          </a:bodyPr>
          <a:lstStyle/>
          <a:p>
            <a:pPr>
              <a:defRPr sz="4950" b="1">
                <a:solidFill>
                  <a:srgbClr val="00868B"/>
                </a:solidFill>
                <a:latin typeface="Arial" panose="020B0604020202020204"/>
                <a:ea typeface="Arial" panose="020B0604020202020204"/>
                <a:cs typeface="Arial" panose="020B0604020202020204"/>
              </a:defRPr>
            </a:pPr>
            <a:r>
              <a:rPr sz="4950" b="1">
                <a:solidFill>
                  <a:srgbClr val="00868B"/>
                </a:solidFill>
                <a:latin typeface="Arial" panose="020B0604020202020204"/>
                <a:ea typeface="Arial" panose="020B0604020202020204"/>
                <a:cs typeface="Arial" panose="020B0604020202020204"/>
              </a:rPr>
              <a:t>6</a:t>
            </a:r>
            <a:endParaRPr sz="4950" b="1">
              <a:solidFill>
                <a:srgbClr val="00868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1943100" y="2190750"/>
            <a:ext cx="3762375" cy="523875"/>
          </a:xfrm>
          <a:prstGeom prst="rect">
            <a:avLst/>
          </a:prstGeom>
          <a:noFill/>
          <a:ln w="0">
            <a:noFill/>
          </a:ln>
        </p:spPr>
        <p:txBody>
          <a:bodyPr>
            <a:noAutofit/>
          </a:bodyPr>
          <a:lstStyle/>
          <a:p>
            <a:pPr>
              <a:defRPr sz="1875" b="1">
                <a:solidFill>
                  <a:srgbClr val="19364B"/>
                </a:solidFill>
                <a:latin typeface="Arial" panose="020B0604020202020204"/>
                <a:ea typeface="Arial" panose="020B0604020202020204"/>
                <a:cs typeface="Arial" panose="020B0604020202020204"/>
              </a:defRPr>
            </a:pPr>
            <a:r>
              <a:rPr sz="1875" b="1">
                <a:solidFill>
                  <a:srgbClr val="19364B"/>
                </a:solidFill>
                <a:latin typeface="Arial" panose="020B0604020202020204"/>
                <a:ea typeface="Arial" panose="020B0604020202020204"/>
                <a:cs typeface="Arial" panose="020B0604020202020204"/>
              </a:rPr>
              <a:t>Java test groups passed</a:t>
            </a:r>
            <a:endParaRPr sz="1875" b="1">
              <a:solidFill>
                <a:srgbClr val="19364B"/>
              </a:solidFill>
              <a:latin typeface="Arial" panose="020B0604020202020204"/>
              <a:ea typeface="Arial" panose="020B0604020202020204"/>
              <a:cs typeface="Arial" panose="020B0604020202020204"/>
            </a:endParaRPr>
          </a:p>
        </p:txBody>
      </p:sp>
      <p:sp>
        <p:nvSpPr>
          <p:cNvPr id="7" name="矩形 6"/>
          <p:cNvSpPr>
            <a:spLocks noGrp="1"/>
          </p:cNvSpPr>
          <p:nvPr/>
        </p:nvSpPr>
        <p:spPr>
          <a:xfrm>
            <a:off x="590550" y="2952750"/>
            <a:ext cx="1333500" cy="819150"/>
          </a:xfrm>
          <a:prstGeom prst="rect">
            <a:avLst/>
          </a:prstGeom>
          <a:noFill/>
          <a:ln w="0">
            <a:noFill/>
          </a:ln>
        </p:spPr>
        <p:txBody>
          <a:bodyPr>
            <a:noAutofit/>
          </a:bodyPr>
          <a:lstStyle/>
          <a:p>
            <a:pPr>
              <a:defRPr sz="4950" b="1">
                <a:solidFill>
                  <a:srgbClr val="00868B"/>
                </a:solidFill>
                <a:latin typeface="Arial" panose="020B0604020202020204"/>
                <a:ea typeface="Arial" panose="020B0604020202020204"/>
                <a:cs typeface="Arial" panose="020B0604020202020204"/>
              </a:defRPr>
            </a:pPr>
            <a:r>
              <a:rPr sz="4950" b="1">
                <a:solidFill>
                  <a:srgbClr val="00868B"/>
                </a:solidFill>
                <a:latin typeface="Arial" panose="020B0604020202020204"/>
                <a:ea typeface="Arial" panose="020B0604020202020204"/>
                <a:cs typeface="Arial" panose="020B0604020202020204"/>
              </a:rPr>
              <a:t>8</a:t>
            </a:r>
            <a:endParaRPr sz="4950" b="1">
              <a:solidFill>
                <a:srgbClr val="00868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1943100" y="3190875"/>
            <a:ext cx="3762375" cy="685800"/>
          </a:xfrm>
          <a:prstGeom prst="rect">
            <a:avLst/>
          </a:prstGeom>
          <a:noFill/>
          <a:ln w="0">
            <a:noFill/>
          </a:ln>
        </p:spPr>
        <p:txBody>
          <a:bodyPr>
            <a:noAutofit/>
          </a:bodyPr>
          <a:lstStyle/>
          <a:p>
            <a:pPr>
              <a:defRPr sz="1875" b="1">
                <a:solidFill>
                  <a:srgbClr val="19364B"/>
                </a:solidFill>
                <a:latin typeface="Arial" panose="020B0604020202020204"/>
                <a:ea typeface="Arial" panose="020B0604020202020204"/>
                <a:cs typeface="Arial" panose="020B0604020202020204"/>
              </a:defRPr>
            </a:pPr>
            <a:r>
              <a:rPr sz="1875" b="1">
                <a:solidFill>
                  <a:srgbClr val="19364B"/>
                </a:solidFill>
                <a:latin typeface="Arial" panose="020B0604020202020204"/>
                <a:ea typeface="Arial" panose="020B0604020202020204"/>
                <a:cs typeface="Arial" panose="020B0604020202020204"/>
              </a:rPr>
              <a:t>Isolated engine scenarios passed</a:t>
            </a:r>
            <a:endParaRPr sz="1875" b="1">
              <a:solidFill>
                <a:srgbClr val="19364B"/>
              </a:solidFill>
              <a:latin typeface="Arial" panose="020B0604020202020204"/>
              <a:ea typeface="Arial" panose="020B0604020202020204"/>
              <a:cs typeface="Arial" panose="020B0604020202020204"/>
            </a:endParaRPr>
          </a:p>
        </p:txBody>
      </p:sp>
      <p:sp>
        <p:nvSpPr>
          <p:cNvPr id="9" name="矩形 8"/>
          <p:cNvSpPr>
            <a:spLocks noGrp="1"/>
          </p:cNvSpPr>
          <p:nvPr/>
        </p:nvSpPr>
        <p:spPr>
          <a:xfrm>
            <a:off x="590550" y="4095750"/>
            <a:ext cx="1333500" cy="819150"/>
          </a:xfrm>
          <a:prstGeom prst="rect">
            <a:avLst/>
          </a:prstGeom>
          <a:noFill/>
          <a:ln w="0">
            <a:noFill/>
          </a:ln>
        </p:spPr>
        <p:txBody>
          <a:bodyPr>
            <a:noAutofit/>
          </a:bodyPr>
          <a:lstStyle/>
          <a:p>
            <a:pPr>
              <a:defRPr sz="4950" b="1">
                <a:solidFill>
                  <a:srgbClr val="00868B"/>
                </a:solidFill>
                <a:latin typeface="Arial" panose="020B0604020202020204"/>
                <a:ea typeface="Arial" panose="020B0604020202020204"/>
                <a:cs typeface="Arial" panose="020B0604020202020204"/>
              </a:defRPr>
            </a:pPr>
            <a:r>
              <a:rPr sz="4950" b="1">
                <a:solidFill>
                  <a:srgbClr val="00868B"/>
                </a:solidFill>
                <a:latin typeface="Arial" panose="020B0604020202020204"/>
                <a:ea typeface="Arial" panose="020B0604020202020204"/>
                <a:cs typeface="Arial" panose="020B0604020202020204"/>
              </a:rPr>
              <a:t>1</a:t>
            </a:r>
            <a:endParaRPr sz="4950" b="1">
              <a:solidFill>
                <a:srgbClr val="00868B"/>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1943100" y="4286250"/>
            <a:ext cx="3905250" cy="685800"/>
          </a:xfrm>
          <a:prstGeom prst="rect">
            <a:avLst/>
          </a:prstGeom>
          <a:noFill/>
          <a:ln w="0">
            <a:noFill/>
          </a:ln>
        </p:spPr>
        <p:txBody>
          <a:bodyPr>
            <a:noAutofit/>
          </a:bodyPr>
          <a:lstStyle/>
          <a:p>
            <a:pPr>
              <a:defRPr sz="1875" b="1">
                <a:solidFill>
                  <a:srgbClr val="19364B"/>
                </a:solidFill>
                <a:latin typeface="Arial" panose="020B0604020202020204"/>
                <a:ea typeface="Arial" panose="020B0604020202020204"/>
                <a:cs typeface="Arial" panose="020B0604020202020204"/>
              </a:defRPr>
            </a:pPr>
            <a:r>
              <a:rPr sz="1875" b="1">
                <a:solidFill>
                  <a:srgbClr val="19364B"/>
                </a:solidFill>
                <a:latin typeface="Arial" panose="020B0604020202020204"/>
                <a:ea typeface="Arial" panose="020B0604020202020204"/>
                <a:cs typeface="Arial" panose="020B0604020202020204"/>
              </a:rPr>
              <a:t>Manual Tasklist walkthrough</a:t>
            </a:r>
            <a:endParaRPr sz="1875" b="1">
              <a:solidFill>
                <a:srgbClr val="19364B"/>
              </a:solidFill>
              <a:latin typeface="Arial" panose="020B0604020202020204"/>
              <a:ea typeface="Arial" panose="020B0604020202020204"/>
              <a:cs typeface="Arial" panose="020B0604020202020204"/>
            </a:endParaRPr>
          </a:p>
          <a:p>
            <a:pPr>
              <a:defRPr sz="1875" b="1">
                <a:solidFill>
                  <a:srgbClr val="19364B"/>
                </a:solidFill>
                <a:latin typeface="Arial" panose="020B0604020202020204"/>
                <a:ea typeface="Arial" panose="020B0604020202020204"/>
                <a:cs typeface="Arial" panose="020B0604020202020204"/>
              </a:defRPr>
            </a:pPr>
            <a:r>
              <a:rPr sz="1875" b="1">
                <a:solidFill>
                  <a:srgbClr val="19364B"/>
                </a:solidFill>
                <a:latin typeface="Arial" panose="020B0604020202020204"/>
                <a:ea typeface="Arial" panose="020B0604020202020204"/>
                <a:cs typeface="Arial" panose="020B0604020202020204"/>
              </a:rPr>
              <a:t>completed: DEMO-CL-002</a:t>
            </a:r>
            <a:endParaRPr sz="1875" b="1">
              <a:solidFill>
                <a:srgbClr val="19364B"/>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590550" y="5286375"/>
            <a:ext cx="5238750" cy="904875"/>
          </a:xfrm>
          <a:prstGeom prst="rect">
            <a:avLst/>
          </a:prstGeom>
          <a:noFill/>
          <a:ln w="0">
            <a:noFill/>
          </a:ln>
        </p:spPr>
        <p:txBody>
          <a:bodyPr>
            <a:noAutofit/>
          </a:bodyPr>
          <a:lstStyle/>
          <a:p>
            <a:pPr>
              <a:defRPr sz="1500" b="0">
                <a:solidFill>
                  <a:srgbClr val="587080"/>
                </a:solidFill>
                <a:latin typeface="Arial" panose="020B0604020202020204"/>
                <a:ea typeface="Arial" panose="020B0604020202020204"/>
                <a:cs typeface="Arial" panose="020B0604020202020204"/>
              </a:defRPr>
            </a:pPr>
            <a:r>
              <a:rPr sz="1500" b="0">
                <a:solidFill>
                  <a:srgbClr val="587080"/>
                </a:solidFill>
                <a:latin typeface="Arial" panose="020B0604020202020204"/>
                <a:ea typeface="Arial" panose="020B0604020202020204"/>
                <a:cs typeface="Arial" panose="020B0604020202020204"/>
              </a:rPr>
              <a:t>Coverage: normal flow, rework, retries and timers.</a:t>
            </a:r>
            <a:endParaRPr sz="1500" b="0">
              <a:solidFill>
                <a:srgbClr val="587080"/>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6191250" y="1857375"/>
            <a:ext cx="5429250" cy="285750"/>
          </a:xfrm>
          <a:prstGeom prst="rect">
            <a:avLst/>
          </a:prstGeom>
          <a:noFill/>
          <a:ln w="0">
            <a:noFill/>
          </a:ln>
        </p:spPr>
        <p:txBody>
          <a:bodyPr>
            <a:noAutofit/>
          </a:bodyPr>
          <a:lstStyle/>
          <a:p>
            <a:pPr>
              <a:defRPr sz="1500" b="1">
                <a:solidFill>
                  <a:srgbClr val="00868B"/>
                </a:solidFill>
                <a:latin typeface="Arial" panose="020B0604020202020204"/>
                <a:ea typeface="Arial" panose="020B0604020202020204"/>
                <a:cs typeface="Arial" panose="020B0604020202020204"/>
              </a:defRPr>
            </a:pPr>
            <a:r>
              <a:rPr sz="1500" b="1">
                <a:solidFill>
                  <a:srgbClr val="00868B"/>
                </a:solidFill>
                <a:latin typeface="Arial" panose="020B0604020202020204"/>
                <a:ea typeface="Arial" panose="020B0604020202020204"/>
                <a:cs typeface="Arial" panose="020B0604020202020204"/>
              </a:rPr>
              <a:t>OPERATE: COMPLETED INSTANCE</a:t>
            </a:r>
            <a:endParaRPr sz="1500" b="1">
              <a:solidFill>
                <a:srgbClr val="00868B"/>
              </a:solidFill>
              <a:latin typeface="Arial" panose="020B0604020202020204"/>
              <a:ea typeface="Arial" panose="020B0604020202020204"/>
              <a:cs typeface="Arial" panose="020B0604020202020204"/>
            </a:endParaRPr>
          </a:p>
        </p:txBody>
      </p:sp>
      <p:pic>
        <p:nvPicPr>
          <p:cNvPr id="28" name="图片 27"/>
          <p:cNvPicPr>
            <a:picLocks noChangeAspect="1"/>
          </p:cNvPicPr>
          <p:nvPr/>
        </p:nvPicPr>
        <p:blipFill>
          <a:blip r:embed="rId1"/>
          <a:stretch>
            <a:fillRect/>
          </a:stretch>
        </p:blipFill>
        <p:spPr>
          <a:xfrm>
            <a:off x="6469087" y="2247900"/>
            <a:ext cx="4816426" cy="3143250"/>
          </a:xfrm>
          <a:prstGeom prst="rect">
            <a:avLst/>
          </a:prstGeom>
        </p:spPr>
      </p:pic>
      <p:pic>
        <p:nvPicPr>
          <p:cNvPr id="29" name="图片 28"/>
          <p:cNvPicPr>
            <a:picLocks noChangeAspect="1"/>
          </p:cNvPicPr>
          <p:nvPr/>
        </p:nvPicPr>
        <p:blipFill>
          <a:blip r:embed="rId2"/>
          <a:stretch>
            <a:fillRect/>
          </a:stretch>
        </p:blipFill>
        <p:spPr>
          <a:xfrm>
            <a:off x="6747739" y="5610225"/>
            <a:ext cx="4259122" cy="714375"/>
          </a:xfrm>
          <a:prstGeom prst="rect">
            <a:avLst/>
          </a:prstGeom>
        </p:spPr>
      </p:pic>
      <p:sp>
        <p:nvSpPr>
          <p:cNvPr id="15" name="矩形 14"/>
          <p:cNvSpPr>
            <a:spLocks noGrp="1"/>
          </p:cNvSpPr>
          <p:nvPr/>
        </p:nvSpPr>
        <p:spPr>
          <a:xfrm>
            <a:off x="590550" y="6419850"/>
            <a:ext cx="10191750" cy="266700"/>
          </a:xfrm>
          <a:prstGeom prst="rect">
            <a:avLst/>
          </a:prstGeom>
          <a:noFill/>
          <a:ln w="0">
            <a:noFill/>
          </a:ln>
        </p:spPr>
        <p:txBody>
          <a:bodyPr>
            <a:noAutofit/>
          </a:bodyPr>
          <a:lstStyle/>
          <a:p>
            <a:pPr>
              <a:defRPr sz="1350" b="0">
                <a:solidFill>
                  <a:srgbClr val="587080"/>
                </a:solidFill>
                <a:latin typeface="Arial" panose="020B0604020202020204"/>
                <a:ea typeface="Arial" panose="020B0604020202020204"/>
                <a:cs typeface="Arial" panose="020B0604020202020204"/>
              </a:defRPr>
            </a:pPr>
            <a:r>
              <a:rPr sz="1350" b="0">
                <a:solidFill>
                  <a:srgbClr val="587080"/>
                </a:solidFill>
                <a:latin typeface="Arial" panose="020B0604020202020204"/>
                <a:ea typeface="Arial" panose="020B0604020202020204"/>
                <a:cs typeface="Arial" panose="020B0604020202020204"/>
              </a:rPr>
              <a:t>Synthetic data and simulated dispatch only.</a:t>
            </a:r>
            <a:endParaRPr sz="1350" b="0">
              <a:solidFill>
                <a:srgbClr val="587080"/>
              </a:solidFill>
              <a:latin typeface="Arial" panose="020B0604020202020204"/>
              <a:ea typeface="Arial" panose="020B0604020202020204"/>
              <a:cs typeface="Arial" panose="020B0604020202020204"/>
            </a:endParaRPr>
          </a:p>
        </p:txBody>
      </p:sp>
    </p:spTree>
  </p:cSld>
  <p:clrMapOvr>
    <a:masterClrMapping/>
  </p:clrMapOvr>
</p:sld>
</file>

<file path=ppt/tags/tag1.xml><?xml version="1.0" encoding="utf-8"?>
<p:tagLst xmlns:p="http://schemas.openxmlformats.org/presentationml/2006/main">
  <p:tag name="KSO_WM_DIAGRAM_VIRTUALLY_FRAME" val="{&quot;height&quot;:329.76,&quot;left&quot;:43.2,&quot;top&quot;:120.24000000000001,&quot;width&quot;:878.15}"/>
</p:tagLst>
</file>

<file path=ppt/tags/tag2.xml><?xml version="1.0" encoding="utf-8"?>
<p:tagLst xmlns:p="http://schemas.openxmlformats.org/presentationml/2006/main">
  <p:tag name="KSO_WM_DIAGRAM_VIRTUALLY_FRAME" val="{&quot;height&quot;:329.76,&quot;left&quot;:43.2,&quot;top&quot;:120.24000000000001,&quot;width&quot;:878.15}"/>
</p:tagLst>
</file>

<file path=ppt/tags/tag3.xml><?xml version="1.0" encoding="utf-8"?>
<p:tagLst xmlns:p="http://schemas.openxmlformats.org/presentationml/2006/main">
  <p:tag name="KSO_WM_DIAGRAM_VIRTUALLY_FRAME" val="{&quot;height&quot;:329.76,&quot;left&quot;:43.2,&quot;top&quot;:120.24000000000001,&quot;width&quot;:878.15}"/>
</p:tagLst>
</file>

<file path=ppt/tags/tag4.xml><?xml version="1.0" encoding="utf-8"?>
<p:tagLst xmlns:p="http://schemas.openxmlformats.org/presentationml/2006/main">
  <p:tag name="KSO_WM_DIAGRAM_VIRTUALLY_FRAME" val="{&quot;height&quot;:329.76,&quot;left&quot;:43.2,&quot;top&quot;:120.24000000000001,&quot;width&quot;:878.15}"/>
</p:tagLst>
</file>

<file path=ppt/tags/tag5.xml><?xml version="1.0" encoding="utf-8"?>
<p:tagLst xmlns:p="http://schemas.openxmlformats.org/presentationml/2006/main">
  <p:tag name="KSO_WM_DIAGRAM_VIRTUALLY_FRAME" val="{&quot;height&quot;:329.76,&quot;left&quot;:43.2,&quot;top&quot;:120.24000000000001,&quot;width&quot;:878.15}"/>
</p:tagLst>
</file>

<file path=ppt/tags/tag6.xml><?xml version="1.0" encoding="utf-8"?>
<p:tagLst xmlns:p="http://schemas.openxmlformats.org/presentationml/2006/main">
  <p:tag name="KSO_WM_DIAGRAM_VIRTUALLY_FRAME" val="{&quot;height&quot;:329.76,&quot;left&quot;:43.2,&quot;top&quot;:120.24000000000001,&quot;width&quot;:878.15}"/>
</p:tagLst>
</file>

<file path=ppt/tags/tag7.xml><?xml version="1.0" encoding="utf-8"?>
<p:tagLst xmlns:p="http://schemas.openxmlformats.org/presentationml/2006/main">
  <p:tag name="KSO_WM_DIAGRAM_VIRTUALLY_FRAME" val="{&quot;height&quot;:329.76,&quot;left&quot;:43.2,&quot;top&quot;:120.24000000000001,&quot;width&quot;:878.15}"/>
</p:tagLst>
</file>

<file path=ppt/tags/tag8.xml><?xml version="1.0" encoding="utf-8"?>
<p:tagLst xmlns:p="http://schemas.openxmlformats.org/presentationml/2006/main">
  <p:tag name="KSO_WM_DIAGRAM_VIRTUALLY_FRAME" val="{&quot;height&quot;:329.76,&quot;left&quot;:43.2,&quot;top&quot;:120.24000000000001,&quot;width&quot;:878.15}"/>
</p:tagLst>
</file>

<file path=ppt/tags/tag9.xml><?xml version="1.0" encoding="utf-8"?>
<p:tagLst xmlns:p="http://schemas.openxmlformats.org/presentationml/2006/main">
  <p:tag name="KSO_WM_DIAGRAM_VIRTUALLY_FRAME" val="{&quot;height&quot;:329.76,&quot;left&quot;:43.2,&quot;top&quot;:120.24000000000001,&quot;width&quot;:878.15}"/>
</p:tagLst>
</file>

<file path=ppt/tags/tag10.xml><?xml version="1.0" encoding="utf-8"?>
<p:tagLst xmlns:p="http://schemas.openxmlformats.org/presentationml/2006/main">
  <p:tag name="KSO_WM_DIAGRAM_VIRTUALLY_FRAME" val="{&quot;height&quot;:329.76,&quot;left&quot;:43.2,&quot;top&quot;:120.24000000000001,&quot;width&quot;:878.15}"/>
</p:tagLst>
</file>

<file path=ppt/tags/tag11.xml><?xml version="1.0" encoding="utf-8"?>
<p:tagLst xmlns:p="http://schemas.openxmlformats.org/presentationml/2006/main">
  <p:tag name="KSO_WM_DIAGRAM_VIRTUALLY_FRAME" val="{&quot;height&quot;:329.76,&quot;left&quot;:43.2,&quot;top&quot;:120.24000000000001,&quot;width&quot;:878.15}"/>
</p:tagLst>
</file>

<file path=ppt/tags/tag12.xml><?xml version="1.0" encoding="utf-8"?>
<p:tagLst xmlns:p="http://schemas.openxmlformats.org/presentationml/2006/main">
  <p:tag name="KSO_WM_DIAGRAM_VIRTUALLY_FRAME" val="{&quot;height&quot;:329.76,&quot;left&quot;:43.2,&quot;top&quot;:120.24000000000001,&quot;width&quot;:878.15}"/>
</p:tagLst>
</file>

<file path=ppt/tags/tag13.xml><?xml version="1.0" encoding="utf-8"?>
<p:tagLst xmlns:p="http://schemas.openxmlformats.org/presentationml/2006/main">
  <p:tag name="KSO_WM_DIAGRAM_VIRTUALLY_FRAME" val="{&quot;height&quot;:329.76,&quot;left&quot;:43.2,&quot;top&quot;:120.24000000000001,&quot;width&quot;:878.15}"/>
</p:tagLst>
</file>

<file path=ppt/tags/tag14.xml><?xml version="1.0" encoding="utf-8"?>
<p:tagLst xmlns:p="http://schemas.openxmlformats.org/presentationml/2006/main">
  <p:tag name="KSO_WM_DIAGRAM_VIRTUALLY_FRAME" val="{&quot;height&quot;:329.76,&quot;left&quot;:43.2,&quot;top&quot;:120.24000000000001,&quot;width&quot;:878.15}"/>
</p:tagLst>
</file>

<file path=ppt/tags/tag15.xml><?xml version="1.0" encoding="utf-8"?>
<p:tagLst xmlns:p="http://schemas.openxmlformats.org/presentationml/2006/main">
  <p:tag name="KSO_WM_DIAGRAM_VIRTUALLY_FRAME" val="{&quot;height&quot;:329.76,&quot;left&quot;:43.2,&quot;top&quot;:120.24000000000001,&quot;width&quot;:878.15}"/>
</p:tagLst>
</file>

<file path=ppt/tags/tag16.xml><?xml version="1.0" encoding="utf-8"?>
<p:tagLst xmlns:p="http://schemas.openxmlformats.org/presentationml/2006/main">
  <p:tag name="KSO_WM_DIAGRAM_VIRTUALLY_FRAME" val="{&quot;height&quot;:329.76,&quot;left&quot;:43.2,&quot;top&quot;:120.24000000000001,&quot;width&quot;:878.15}"/>
</p:tagLst>
</file>

<file path=ppt/tags/tag17.xml><?xml version="1.0" encoding="utf-8"?>
<p:tagLst xmlns:p="http://schemas.openxmlformats.org/presentationml/2006/main">
  <p:tag name="KSO_WM_DIAGRAM_VIRTUALLY_FRAME" val="{&quot;height&quot;:329.76,&quot;left&quot;:43.2,&quot;top&quot;:120.24000000000001,&quot;width&quot;:878.15}"/>
</p:tagLst>
</file>

<file path=ppt/tags/tag18.xml><?xml version="1.0" encoding="utf-8"?>
<p:tagLst xmlns:p="http://schemas.openxmlformats.org/presentationml/2006/main">
  <p:tag name="KSO_WM_DIAGRAM_VIRTUALLY_FRAME" val="{&quot;height&quot;:329.76,&quot;left&quot;:43.2,&quot;top&quot;:120.24000000000001,&quot;width&quot;:878.15}"/>
</p:tagLst>
</file>

<file path=ppt/tags/tag19.xml><?xml version="1.0" encoding="utf-8"?>
<p:tagLst xmlns:p="http://schemas.openxmlformats.org/presentationml/2006/main">
  <p:tag name="KSO_WM_DIAGRAM_VIRTUALLY_FRAME" val="{&quot;height&quot;:329.76,&quot;left&quot;:43.2,&quot;top&quot;:120.24000000000001,&quot;width&quot;:878.15}"/>
</p:tagLst>
</file>

<file path=ppt/tags/tag20.xml><?xml version="1.0" encoding="utf-8"?>
<p:tagLst xmlns:p="http://schemas.openxmlformats.org/presentationml/2006/main">
  <p:tag name="KSO_WM_DIAGRAM_VIRTUALLY_FRAME" val="{&quot;height&quot;:329.76,&quot;left&quot;:43.2,&quot;top&quot;:120.24000000000001,&quot;width&quot;:878.15}"/>
</p:tagLst>
</file>

<file path=ppt/tags/tag21.xml><?xml version="1.0" encoding="utf-8"?>
<p:tagLst xmlns:p="http://schemas.openxmlformats.org/presentationml/2006/main">
  <p:tag name="KSO_WM_DIAGRAM_VIRTUALLY_FRAME" val="{&quot;height&quot;:329.76,&quot;left&quot;:43.2,&quot;top&quot;:120.24000000000001,&quot;width&quot;:878.15}"/>
</p:tagLst>
</file>

<file path=ppt/tags/tag22.xml><?xml version="1.0" encoding="utf-8"?>
<p:tagLst xmlns:p="http://schemas.openxmlformats.org/presentationml/2006/main">
  <p:tag name="KSO_WM_DIAGRAM_VIRTUALLY_FRAME" val="{&quot;height&quot;:329.76,&quot;left&quot;:43.2,&quot;top&quot;:120.24000000000001,&quot;width&quot;:878.15}"/>
</p:tagLst>
</file>

<file path=ppt/tags/tag23.xml><?xml version="1.0" encoding="utf-8"?>
<p:tagLst xmlns:p="http://schemas.openxmlformats.org/presentationml/2006/main">
  <p:tag name="KSO_WM_DIAGRAM_VIRTUALLY_FRAME" val="{&quot;height&quot;:329.76,&quot;left&quot;:43.2,&quot;top&quot;:120.24000000000001,&quot;width&quot;:878.15}"/>
</p:tagLst>
</file>

<file path=ppt/tags/tag24.xml><?xml version="1.0" encoding="utf-8"?>
<p:tagLst xmlns:p="http://schemas.openxmlformats.org/presentationml/2006/main">
  <p:tag name="KSO_WM_DIAGRAM_VIRTUALLY_FRAME" val="{&quot;height&quot;:329.76,&quot;left&quot;:43.2,&quot;top&quot;:120.24000000000001,&quot;width&quot;:878.15}"/>
</p:tagLst>
</file>

<file path=ppt/tags/tag25.xml><?xml version="1.0" encoding="utf-8"?>
<p:tagLst xmlns:p="http://schemas.openxmlformats.org/presentationml/2006/main">
  <p:tag name="KSO_WM_DIAGRAM_VIRTUALLY_FRAME" val="{&quot;height&quot;:329.76,&quot;left&quot;:43.2,&quot;top&quot;:120.24000000000001,&quot;width&quot;:878.15}"/>
</p:tagLst>
</file>

<file path=ppt/tags/tag26.xml><?xml version="1.0" encoding="utf-8"?>
<p:tagLst xmlns:p="http://schemas.openxmlformats.org/presentationml/2006/main">
  <p:tag name="KSO_WM_DIAGRAM_VIRTUALLY_FRAME" val="{&quot;height&quot;:329.76,&quot;left&quot;:43.2,&quot;top&quot;:120.24000000000001,&quot;width&quot;:878.15}"/>
</p:tagLst>
</file>

<file path=ppt/tags/tag27.xml><?xml version="1.0" encoding="utf-8"?>
<p:tagLst xmlns:p="http://schemas.openxmlformats.org/presentationml/2006/main">
  <p:tag name="KSO_WM_DIAGRAM_VIRTUALLY_FRAME" val="{&quot;height&quot;:329.76,&quot;left&quot;:43.2,&quot;top&quot;:120.24000000000001,&quot;width&quot;:878.15}"/>
</p:tagLst>
</file>

<file path=ppt/tags/tag28.xml><?xml version="1.0" encoding="utf-8"?>
<p:tagLst xmlns:p="http://schemas.openxmlformats.org/presentationml/2006/main">
  <p:tag name="KSO_WM_DIAGRAM_VIRTUALLY_FRAME" val="{&quot;height&quot;:329.76,&quot;left&quot;:43.2,&quot;top&quot;:120.24000000000001,&quot;width&quot;:878.15}"/>
</p:tagLst>
</file>

<file path=ppt/tags/tag29.xml><?xml version="1.0" encoding="utf-8"?>
<p:tagLst xmlns:p="http://schemas.openxmlformats.org/presentationml/2006/main">
  <p:tag name="KSO_WM_DIAGRAM_VIRTUALLY_FRAME" val="{&quot;height&quot;:329.76,&quot;left&quot;:43.2,&quot;top&quot;:120.24000000000001,&quot;width&quot;:878.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7908</Words>
  <Application>WPS 演示</Application>
  <PresentationFormat>On-screen Show (16:9)</PresentationFormat>
  <Paragraphs>517</Paragraphs>
  <Slides>11</Slides>
  <Notes>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11</vt:i4>
      </vt:variant>
    </vt:vector>
  </HeadingPairs>
  <TitlesOfParts>
    <vt:vector size="26" baseType="lpstr">
      <vt:lpstr>Arial</vt:lpstr>
      <vt:lpstr>宋体</vt:lpstr>
      <vt:lpstr>Wingdings</vt:lpstr>
      <vt:lpstr>Aptos</vt:lpstr>
      <vt:lpstr>Segoe UI</vt:lpstr>
      <vt:lpstr>Aptos</vt:lpstr>
      <vt:lpstr>Aptos</vt:lpstr>
      <vt:lpstr>Aptos</vt:lpstr>
      <vt:lpstr>微软雅黑</vt:lpstr>
      <vt:lpstr>Arial Unicode MS</vt:lpstr>
      <vt:lpstr>等线</vt:lpstr>
      <vt:lpstr>Segoe UI</vt:lpstr>
      <vt:lpstr>Arial</vt:lpstr>
      <vt:lpstr>Office Theme</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BPM-EA-and-AISD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Operational Diagram and Measurable Acceptance Criteria</dc:title>
  <dc:creator>Li Ye</dc:creator>
  <dc:subject>Integrated hospital patient administration</dc:subject>
  <cp:lastModifiedBy>我的名字</cp:lastModifiedBy>
  <cp:revision>10</cp:revision>
  <dcterms:created xsi:type="dcterms:W3CDTF">2026-09-28T10:43:00Z</dcterms:created>
  <dcterms:modified xsi:type="dcterms:W3CDTF">2026-09-28T16:09:28Z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0A2528DBCB06403DBCDCF6CDB9939DF4_12</vt:lpwstr>
  </property>
</Properties>
</file>